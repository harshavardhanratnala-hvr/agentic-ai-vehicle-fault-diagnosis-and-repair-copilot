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1C4A"/>
                </a:solidFill>
                <a:latin typeface="Arial"/>
              </a:defRPr>
            </a:pPr>
            <a:r>
              <a:rPr sz="1400" b="0" i="0" u="none" strike="noStrike">
                <a:solidFill>
                  <a:srgbClr val="161C4A"/>
                </a:solidFill>
                <a:latin typeface="Arial"/>
              </a:rPr>
              <a:t>Macro F1 — instant classification vs. forecasting</a:t>
            </a:r>
          </a:p>
        </c:rich>
      </c:tx>
      <c:layout/>
      <c:overlay val="0"/>
    </c:title>
    <c:autoTitleDeleted val="0"/>
    <c:plotArea>
      <c:layout/>
      <c:barChart>
        <c:barDir val="col"/>
        <c:grouping val="clustered"/>
        <c:varyColors val="0"/>
        <c:ser>
          <c:idx val="0"/>
          <c:order val="0"/>
          <c:tx>
            <c:strRef>
              <c:f>Sheet1!$B$1</c:f>
              <c:strCache>
                <c:ptCount val="1"/>
                <c:pt idx="0">
                  <c:v>Macro F1</c:v>
                </c:pt>
              </c:strCache>
            </c:strRef>
          </c:tx>
          <c:spPr>
            <a:solidFill>
              <a:srgbClr val="1E2761"/>
            </a:solidFill>
            <a:effectLst/>
          </c:spPr>
          <c:invertIfNegative val="0"/>
          <c:dLbls>
            <c:numFmt formatCode="0.00" sourceLinked="0"/>
            <c:txPr>
              <a:bodyPr/>
              <a:lstStyle/>
              <a:p>
                <a:pPr>
                  <a:defRPr b="0" i="0" strike="noStrike" sz="1200" u="none">
                    <a:solidFill>
                      <a:srgbClr val="161C4A"/>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F2A93B"/>
              </a:solidFill>
              <a:effectLst/>
            </c:spPr>
          </c:dPt>
          <c:dPt>
            <c:idx val="3"/>
            <c:invertIfNegative val="0"/>
            <c:bubble3D val="0"/>
            <c:spPr>
              <a:solidFill>
                <a:srgbClr val="F2A93B"/>
              </a:solidFill>
              <a:effectLst/>
            </c:spPr>
          </c:dPt>
          <c:cat>
            <c:multiLvlStrRef>
              <c:f>Sheet1!$A$2:$A$5</c:f>
              <c:multiLvlStrCache>
                <c:ptCount val="4"/>
                <c:lvl>
                  <c:pt idx="0">
                    <c:v>Random Forest
(instant)</c:v>
                  </c:pt>
                  <c:pt idx="1">
                    <c:v>XGBoost
(instant)</c:v>
                  </c:pt>
                  <c:pt idx="2">
                    <c:v>Random Forest
(forecast 6h)</c:v>
                  </c:pt>
                  <c:pt idx="3">
                    <c:v>XGBoost
(forecast 6h)</c:v>
                  </c:pt>
                </c:lvl>
              </c:multiLvlStrCache>
            </c:multiLvlStrRef>
          </c:cat>
          <c:val>
            <c:numRef>
              <c:f>Sheet1!$B$2:$B$5</c:f>
              <c:numCache>
                <c:formatCode>General</c:formatCode>
                <c:ptCount val="4"/>
                <c:pt idx="0">
                  <c:v>1</c:v>
                </c:pt>
                <c:pt idx="1">
                  <c:v>0.985</c:v>
                </c:pt>
                <c:pt idx="2">
                  <c:v>0.599</c:v>
                </c:pt>
                <c:pt idx="3">
                  <c:v>0.594</c:v>
                </c:pt>
              </c:numCache>
            </c:numRef>
          </c:val>
        </c:ser>
        <c:dLbls>
          <c:numFmt formatCode="0.00" sourceLinked="0"/>
          <c:txPr>
            <a:bodyPr/>
            <a:lstStyle/>
            <a:p>
              <a:pPr>
                <a:defRPr b="0" i="0" strike="noStrike" sz="1200" u="none">
                  <a:solidFill>
                    <a:srgbClr val="161C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8"/>
                </a:solidFill>
                <a:latin typeface="Arial"/>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12700" cap="flat">
              <a:solidFill>
                <a:srgbClr val="E4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 quick walkthrough of a change we made to the classifier this week, based on feedback from our coach. Short version: our original results looked suspiciously perfect, our coach caught the actual reason why, and we fixed it properly instead of arguing around it. I'll walk through what we had, what he said, what we changed, and where that leaves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where we were. We had a 175,000-row dataset, 4 simulated EVs over 5 years of hourly telemetry, and we trained Random Forest and XGBoost to classify each individual hour as Normal, Warning, or Fault. Random Forest came back with a perfect 1.000 macro F1 — it caught every single Warning row in the test set too. That number should make anyone suspicious, and it made us suspicious too — which is exactly what we brought to our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exactly what he said. In plain terms: he's pointing out that we have 4 vehicles logged hourly for 5 years — that's 4 continuous time series, not 175,000 unrelated data points. Treating each hour as its own independent sample throws away the fact that an hour is related to the hours around it. That's a real methodological gap, not a nitpick.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just take his word for it — we checked. The dataset's own README lists its intended use cases, and forecasting and anomaly detection are explicitly on that list; row-level classification isn't. We also checked if anyone else had published a notebook on this dataset — zero. So there was no existing approach to lean on, we had to reason this through ourselves. And it lines up with our own fleet-manager persona too — 'is it safe to keep driving' is a forward-looking question by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exactly what changed, concretely. First, we added rolling and lag features — instead of just the current hour's reading, the model now sees the recent trend, computed separately per vehicle so we never mix one vehicle's history into another's. Second, we changed the target itself — instead of labeling 'is this hour a fault,' we now ask 'will a fault happen in the next 6 hours.' That's the actual forecasting reframe. Everything else — the dataset, the split, the class weighting — stayed exactly the same. This is a fix to the framing, not a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comparison. Macro F1 dropped from around 1.000 and 0.985 down to about 0.60 and 0.59. On paper that looks like a worse result — but it's actually the correct outcome. The original perfect score wasn't measuring anything hard; it was just recognizing a code using the exact same instant of data that generated it. This new 0.60 is a real, honest number on a genuinely difficult forecasting problem — recall on catching an upcoming fault dropped from about 99% to somewhere between 46 and 59%, which tells us there's real room to improve, and that's a much more trustworthy starting point to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worth mentioning, because it shows how we're approaching rigor generally, not just on this one issue. When we reframed the task, two features suddenly looked important that hadn't before — Brake_Pad_Wear and SOH. Our first guess was that this was a fake signal, just a stand-in for which vehicle it is. So we tested that guess directly with permutation importance and per-vehicle mutual information. And the test disagreed with us — the signal turned out to be real, not a confound. We're bringing this up because we think it's important to show we test our own assumptions, not just assume our first read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this leave us. This 0.60 macro F1 is a real, honest baseline, not a finished result — we've got clear next steps: try a longer forecast window since it gives us more positive examples, try a small neural net on the same features, and dig into why the model actually leans on tire pressure and charging voltage instead of the features we expected. And importantly — this was a fix contained entirely to the classifier. RAG, the agent, and the dashboard all proceed exactly as planned, nobody's timeline was affected. That's it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965960"/>
            <a:ext cx="10515600" cy="457200"/>
          </a:xfrm>
          <a:prstGeom prst="rect">
            <a:avLst/>
          </a:prstGeom>
          <a:noFill/>
          <a:ln/>
        </p:spPr>
        <p:txBody>
          <a:bodyPr wrap="square" rtlCol="0" anchor="ctr"/>
          <a:lstStyle/>
          <a:p>
            <a:pPr indent="0" marL="0">
              <a:buNone/>
            </a:pPr>
            <a:r>
              <a:rPr lang="en-US" sz="1500" b="1" spc="200" kern="0" dirty="0">
                <a:solidFill>
                  <a:srgbClr val="F2A93B"/>
                </a:solidFill>
              </a:rPr>
              <a:t>RESPONDING TO COACH FEEDBACK</a:t>
            </a:r>
            <a:endParaRPr lang="en-US" sz="1500" dirty="0"/>
          </a:p>
        </p:txBody>
      </p:sp>
      <p:sp>
        <p:nvSpPr>
          <p:cNvPr id="3" name="Text 1"/>
          <p:cNvSpPr/>
          <p:nvPr/>
        </p:nvSpPr>
        <p:spPr>
          <a:xfrm>
            <a:off x="822960" y="2423160"/>
            <a:ext cx="10515600" cy="17373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Reframing the Fault Classifier:</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From Instant Recognition to Forecasting</a:t>
            </a:r>
            <a:endParaRPr lang="en-US" sz="3400" dirty="0"/>
          </a:p>
        </p:txBody>
      </p:sp>
      <p:sp>
        <p:nvSpPr>
          <p:cNvPr id="4" name="Text 2"/>
          <p:cNvSpPr/>
          <p:nvPr/>
        </p:nvSpPr>
        <p:spPr>
          <a:xfrm>
            <a:off x="822960" y="4343400"/>
            <a:ext cx="10515600" cy="365760"/>
          </a:xfrm>
          <a:prstGeom prst="rect">
            <a:avLst/>
          </a:prstGeom>
          <a:noFill/>
          <a:ln/>
        </p:spPr>
        <p:txBody>
          <a:bodyPr wrap="square" rtlCol="0" anchor="ctr"/>
          <a:lstStyle/>
          <a:p>
            <a:pPr indent="0" marL="0">
              <a:buNone/>
            </a:pPr>
            <a:r>
              <a:rPr lang="en-US" sz="1400" dirty="0">
                <a:solidFill>
                  <a:srgbClr val="CADCFC"/>
                </a:solidFill>
              </a:rPr>
              <a:t>Bolt — Vehicle Fault Diagnosis &amp; Repair Copilot  ·  Harsha, Ghada &amp; Hüseyin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100" kern="0" dirty="0">
                <a:solidFill>
                  <a:srgbClr val="F2A93B"/>
                </a:solidFill>
              </a:rPr>
              <a:t>WEEK 1-2 RECAP</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indent="0" marL="0">
              <a:buNone/>
            </a:pPr>
            <a:r>
              <a:rPr lang="en-US" sz="3000" b="1" dirty="0">
                <a:solidFill>
                  <a:srgbClr val="161C4A"/>
                </a:solidFill>
                <a:latin typeface="Cambria" pitchFamily="34" charset="0"/>
                <a:ea typeface="Cambria" pitchFamily="34" charset="-122"/>
                <a:cs typeface="Cambria" pitchFamily="34" charset="-120"/>
              </a:rPr>
              <a:t>Where we started</a:t>
            </a:r>
            <a:endParaRPr lang="en-US" sz="3000" dirty="0"/>
          </a:p>
        </p:txBody>
      </p:sp>
      <p:sp>
        <p:nvSpPr>
          <p:cNvPr id="4" name="Text 2"/>
          <p:cNvSpPr/>
          <p:nvPr/>
        </p:nvSpPr>
        <p:spPr>
          <a:xfrm>
            <a:off x="548640" y="1691640"/>
            <a:ext cx="10789920" cy="822960"/>
          </a:xfrm>
          <a:prstGeom prst="rect">
            <a:avLst/>
          </a:prstGeom>
          <a:noFill/>
          <a:ln/>
        </p:spPr>
        <p:txBody>
          <a:bodyPr wrap="square" rtlCol="0" anchor="ctr"/>
          <a:lstStyle/>
          <a:p>
            <a:pPr indent="0" marL="0">
              <a:buNone/>
            </a:pPr>
            <a:r>
              <a:rPr lang="en-US" sz="1500" dirty="0">
                <a:solidFill>
                  <a:srgbClr val="5B6478"/>
                </a:solidFill>
              </a:rPr>
              <a:t>We trained a classifier on hourly EV sensor data to predict a Fault_Label</a:t>
            </a:r>
            <a:endParaRPr lang="en-US" sz="1500" dirty="0"/>
          </a:p>
          <a:p>
            <a:pPr indent="0" marL="0">
              <a:buNone/>
            </a:pPr>
            <a:r>
              <a:rPr lang="en-US" sz="1500" dirty="0">
                <a:solidFill>
                  <a:srgbClr val="5B6478"/>
                </a:solidFill>
              </a:rPr>
              <a:t>(Normal / Warning / Fault) for each row — treating every hour as its own, independent sample.</a:t>
            </a:r>
            <a:endParaRPr lang="en-US" sz="1500" dirty="0"/>
          </a:p>
        </p:txBody>
      </p:sp>
      <p:sp>
        <p:nvSpPr>
          <p:cNvPr id="5" name="Shape 3"/>
          <p:cNvSpPr/>
          <p:nvPr/>
        </p:nvSpPr>
        <p:spPr>
          <a:xfrm>
            <a:off x="548640" y="2743200"/>
            <a:ext cx="5120640" cy="2651760"/>
          </a:xfrm>
          <a:prstGeom prst="roundRect">
            <a:avLst>
              <a:gd name="adj" fmla="val 2759"/>
            </a:avLst>
          </a:prstGeom>
          <a:solidFill>
            <a:srgbClr val="FFFFFF"/>
          </a:solidFill>
          <a:ln w="12700">
            <a:solidFill>
              <a:srgbClr val="E4E8F0"/>
            </a:solidFill>
            <a:prstDash val="solid"/>
          </a:ln>
        </p:spPr>
      </p:sp>
      <p:sp>
        <p:nvSpPr>
          <p:cNvPr id="6" name="Text 4"/>
          <p:cNvSpPr/>
          <p:nvPr/>
        </p:nvSpPr>
        <p:spPr>
          <a:xfrm>
            <a:off x="868680" y="3017520"/>
            <a:ext cx="4480560" cy="365760"/>
          </a:xfrm>
          <a:prstGeom prst="rect">
            <a:avLst/>
          </a:prstGeom>
          <a:noFill/>
          <a:ln/>
        </p:spPr>
        <p:txBody>
          <a:bodyPr wrap="square" rtlCol="0" anchor="ctr"/>
          <a:lstStyle/>
          <a:p>
            <a:pPr indent="0" marL="0">
              <a:buNone/>
            </a:pPr>
            <a:r>
              <a:rPr lang="en-US" sz="1600" b="1" dirty="0">
                <a:solidFill>
                  <a:srgbClr val="161C4A"/>
                </a:solidFill>
              </a:rPr>
              <a:t>The setup</a:t>
            </a:r>
            <a:endParaRPr lang="en-US" sz="1600" dirty="0"/>
          </a:p>
        </p:txBody>
      </p:sp>
      <p:sp>
        <p:nvSpPr>
          <p:cNvPr id="7" name="Text 5"/>
          <p:cNvSpPr/>
          <p:nvPr/>
        </p:nvSpPr>
        <p:spPr>
          <a:xfrm>
            <a:off x="868680" y="3474720"/>
            <a:ext cx="4480560" cy="1645920"/>
          </a:xfrm>
          <a:prstGeom prst="rect">
            <a:avLst/>
          </a:prstGeom>
          <a:noFill/>
          <a:ln/>
        </p:spPr>
        <p:txBody>
          <a:bodyPr wrap="square" rtlCol="0" anchor="ctr"/>
          <a:lstStyle/>
          <a:p>
            <a:pPr marL="342900" indent="-342900">
              <a:spcAft>
                <a:spcPts val="800"/>
              </a:spcAft>
              <a:buSzPct val="100000"/>
              <a:buChar char="•"/>
            </a:pPr>
            <a:r>
              <a:rPr lang="en-US" sz="1350" dirty="0">
                <a:solidFill>
                  <a:srgbClr val="5B6478"/>
                </a:solidFill>
              </a:rPr>
              <a:t>175,200 rows · 4 EVs × 5 years, hourly</a:t>
            </a:r>
            <a:endParaRPr lang="en-US" sz="1350" dirty="0"/>
          </a:p>
          <a:p>
            <a:pPr marL="342900" indent="-342900">
              <a:spcAft>
                <a:spcPts val="800"/>
              </a:spcAft>
              <a:buSzPct val="100000"/>
              <a:buChar char="•"/>
            </a:pPr>
            <a:r>
              <a:rPr lang="en-US" sz="1350" dirty="0">
                <a:solidFill>
                  <a:srgbClr val="5B6478"/>
                </a:solidFill>
              </a:rPr>
              <a:t>Severe imbalance: Normal 98.37% / Fault 1.51% / Warning 0.12%</a:t>
            </a:r>
            <a:endParaRPr lang="en-US" sz="1350" dirty="0"/>
          </a:p>
          <a:p>
            <a:pPr marL="342900" indent="-342900">
              <a:spcAft>
                <a:spcPts val="800"/>
              </a:spcAft>
              <a:buSzPct val="100000"/>
              <a:buChar char="•"/>
            </a:pPr>
            <a:r>
              <a:rPr lang="en-US" sz="1350" dirty="0">
                <a:solidFill>
                  <a:srgbClr val="5B6478"/>
                </a:solidFill>
              </a:rPr>
              <a:t>Chronological, per-vehicle train/test split</a:t>
            </a:r>
            <a:endParaRPr lang="en-US" sz="1350" dirty="0"/>
          </a:p>
          <a:p>
            <a:pPr marL="342900" indent="-342900">
              <a:spcAft>
                <a:spcPts val="800"/>
              </a:spcAft>
              <a:buSzPct val="100000"/>
              <a:buChar char="•"/>
            </a:pPr>
            <a:r>
              <a:rPr lang="en-US" sz="1350" dirty="0">
                <a:solidFill>
                  <a:srgbClr val="5B6478"/>
                </a:solidFill>
              </a:rPr>
              <a:t>Random Forest + XGBoost, class-weighted</a:t>
            </a:r>
            <a:endParaRPr lang="en-US" sz="1350" dirty="0"/>
          </a:p>
        </p:txBody>
      </p:sp>
      <p:sp>
        <p:nvSpPr>
          <p:cNvPr id="8" name="Shape 6"/>
          <p:cNvSpPr/>
          <p:nvPr/>
        </p:nvSpPr>
        <p:spPr>
          <a:xfrm>
            <a:off x="6126480" y="2743200"/>
            <a:ext cx="5120640" cy="2651760"/>
          </a:xfrm>
          <a:prstGeom prst="roundRect">
            <a:avLst>
              <a:gd name="adj" fmla="val 2759"/>
            </a:avLst>
          </a:prstGeom>
          <a:solidFill>
            <a:srgbClr val="1E2761"/>
          </a:solidFill>
          <a:ln w="12700">
            <a:solidFill>
              <a:srgbClr val="1E2761"/>
            </a:solidFill>
            <a:prstDash val="solid"/>
          </a:ln>
        </p:spPr>
      </p:sp>
      <p:sp>
        <p:nvSpPr>
          <p:cNvPr id="9" name="Text 7"/>
          <p:cNvSpPr/>
          <p:nvPr/>
        </p:nvSpPr>
        <p:spPr>
          <a:xfrm>
            <a:off x="6446520" y="3017520"/>
            <a:ext cx="4480560" cy="365760"/>
          </a:xfrm>
          <a:prstGeom prst="rect">
            <a:avLst/>
          </a:prstGeom>
          <a:noFill/>
          <a:ln/>
        </p:spPr>
        <p:txBody>
          <a:bodyPr wrap="square" rtlCol="0" anchor="ctr"/>
          <a:lstStyle/>
          <a:p>
            <a:pPr indent="0" marL="0">
              <a:buNone/>
            </a:pPr>
            <a:r>
              <a:rPr lang="en-US" sz="1600" b="1" dirty="0">
                <a:solidFill>
                  <a:srgbClr val="FFFFFF"/>
                </a:solidFill>
              </a:rPr>
              <a:t>The result</a:t>
            </a:r>
            <a:endParaRPr lang="en-US" sz="1600" dirty="0"/>
          </a:p>
        </p:txBody>
      </p:sp>
      <p:sp>
        <p:nvSpPr>
          <p:cNvPr id="10" name="Text 8"/>
          <p:cNvSpPr/>
          <p:nvPr/>
        </p:nvSpPr>
        <p:spPr>
          <a:xfrm>
            <a:off x="6446520" y="3429000"/>
            <a:ext cx="4480560" cy="777240"/>
          </a:xfrm>
          <a:prstGeom prst="rect">
            <a:avLst/>
          </a:prstGeom>
          <a:noFill/>
          <a:ln/>
        </p:spPr>
        <p:txBody>
          <a:bodyPr wrap="square" rtlCol="0" anchor="ctr"/>
          <a:lstStyle/>
          <a:p>
            <a:pPr indent="0" marL="0">
              <a:buNone/>
            </a:pPr>
            <a:r>
              <a:rPr lang="en-US" sz="4600" b="1" dirty="0">
                <a:solidFill>
                  <a:srgbClr val="F2A93B"/>
                </a:solidFill>
              </a:rPr>
              <a:t>1.000</a:t>
            </a:r>
            <a:endParaRPr lang="en-US" sz="4600" dirty="0"/>
          </a:p>
        </p:txBody>
      </p:sp>
      <p:sp>
        <p:nvSpPr>
          <p:cNvPr id="11" name="Text 9"/>
          <p:cNvSpPr/>
          <p:nvPr/>
        </p:nvSpPr>
        <p:spPr>
          <a:xfrm>
            <a:off x="6446520" y="4206240"/>
            <a:ext cx="4480560" cy="502920"/>
          </a:xfrm>
          <a:prstGeom prst="rect">
            <a:avLst/>
          </a:prstGeom>
          <a:noFill/>
          <a:ln/>
        </p:spPr>
        <p:txBody>
          <a:bodyPr wrap="square" rtlCol="0" anchor="ctr"/>
          <a:lstStyle/>
          <a:p>
            <a:pPr indent="0" marL="0">
              <a:buNone/>
            </a:pPr>
            <a:r>
              <a:rPr lang="en-US" sz="1300" dirty="0">
                <a:solidFill>
                  <a:srgbClr val="CADCFC"/>
                </a:solidFill>
              </a:rPr>
              <a:t>macro F1 — Random Forest, including every single Warning-class row</a:t>
            </a:r>
            <a:endParaRPr lang="en-US" sz="1300" dirty="0"/>
          </a:p>
        </p:txBody>
      </p:sp>
      <p:sp>
        <p:nvSpPr>
          <p:cNvPr id="12" name="Text 10"/>
          <p:cNvSpPr/>
          <p:nvPr/>
        </p:nvSpPr>
        <p:spPr>
          <a:xfrm>
            <a:off x="6446520" y="4800600"/>
            <a:ext cx="4480560" cy="411480"/>
          </a:xfrm>
          <a:prstGeom prst="rect">
            <a:avLst/>
          </a:prstGeom>
          <a:noFill/>
          <a:ln/>
        </p:spPr>
        <p:txBody>
          <a:bodyPr wrap="square" rtlCol="0" anchor="ctr"/>
          <a:lstStyle/>
          <a:p>
            <a:pPr indent="0" marL="0">
              <a:buNone/>
            </a:pPr>
            <a:r>
              <a:rPr lang="en-US" sz="1300" i="1" dirty="0">
                <a:solidFill>
                  <a:srgbClr val="CADCFC"/>
                </a:solidFill>
              </a:rPr>
              <a:t>XGBoost: 0.985 — close, but not perfect</a:t>
            </a:r>
            <a:endParaRPr lang="en-US" sz="1300" dirty="0"/>
          </a:p>
        </p:txBody>
      </p:sp>
      <p:sp>
        <p:nvSpPr>
          <p:cNvPr id="13" name="Text 11"/>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C4A"/>
        </a:solidFill>
      </p:bgPr>
    </p:bg>
    <p:spTree>
      <p:nvGrpSpPr>
        <p:cNvPr id="1" name=""/>
        <p:cNvGrpSpPr/>
        <p:nvPr/>
      </p:nvGrpSpPr>
      <p:grpSpPr>
        <a:xfrm>
          <a:off x="0" y="0"/>
          <a:ext cx="0" cy="0"/>
          <a:chOff x="0" y="0"/>
          <a:chExt cx="0" cy="0"/>
        </a:xfrm>
      </p:grpSpPr>
      <p:sp>
        <p:nvSpPr>
          <p:cNvPr id="2" name="Text 0"/>
          <p:cNvSpPr/>
          <p:nvPr/>
        </p:nvSpPr>
        <p:spPr>
          <a:xfrm>
            <a:off x="822960" y="548640"/>
            <a:ext cx="10058400" cy="365760"/>
          </a:xfrm>
          <a:prstGeom prst="rect">
            <a:avLst/>
          </a:prstGeom>
          <a:noFill/>
          <a:ln/>
        </p:spPr>
        <p:txBody>
          <a:bodyPr wrap="square" rtlCol="0" anchor="ctr"/>
          <a:lstStyle/>
          <a:p>
            <a:pPr indent="0" marL="0">
              <a:buNone/>
            </a:pPr>
            <a:r>
              <a:rPr lang="en-US" sz="1300" b="1" spc="200" kern="0" dirty="0">
                <a:solidFill>
                  <a:srgbClr val="F2A93B"/>
                </a:solidFill>
              </a:rPr>
              <a:t>THE COACH'S FEEDBACK</a:t>
            </a:r>
            <a:endParaRPr lang="en-US" sz="1300" dirty="0"/>
          </a:p>
        </p:txBody>
      </p:sp>
      <p:sp>
        <p:nvSpPr>
          <p:cNvPr id="3" name="Shape 1"/>
          <p:cNvSpPr/>
          <p:nvPr/>
        </p:nvSpPr>
        <p:spPr>
          <a:xfrm>
            <a:off x="822960" y="1188720"/>
            <a:ext cx="10515600" cy="2926080"/>
          </a:xfrm>
          <a:prstGeom prst="roundRect">
            <a:avLst>
              <a:gd name="adj" fmla="val 2500"/>
            </a:avLst>
          </a:prstGeom>
          <a:solidFill>
            <a:srgbClr val="1E2761"/>
          </a:solidFill>
          <a:ln w="12700">
            <a:solidFill>
              <a:srgbClr val="1E2761"/>
            </a:solidFill>
            <a:prstDash val="solid"/>
          </a:ln>
        </p:spPr>
      </p:sp>
      <p:sp>
        <p:nvSpPr>
          <p:cNvPr id="4" name="Text 2"/>
          <p:cNvSpPr/>
          <p:nvPr/>
        </p:nvSpPr>
        <p:spPr>
          <a:xfrm>
            <a:off x="1188720" y="1508760"/>
            <a:ext cx="9784080" cy="1920240"/>
          </a:xfrm>
          <a:prstGeom prst="rect">
            <a:avLst/>
          </a:prstGeom>
          <a:noFill/>
          <a:ln/>
        </p:spPr>
        <p:txBody>
          <a:bodyPr wrap="square"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“The data description suggests the end user installs measurement devices for hourly readings. This seems like 4 separate time-series problems, not a classification task... Please realign your business goal and metric accordingly.”</a:t>
            </a:r>
            <a:endParaRPr lang="en-US" sz="2000" dirty="0"/>
          </a:p>
        </p:txBody>
      </p:sp>
      <p:sp>
        <p:nvSpPr>
          <p:cNvPr id="5" name="Text 3"/>
          <p:cNvSpPr/>
          <p:nvPr/>
        </p:nvSpPr>
        <p:spPr>
          <a:xfrm>
            <a:off x="1188720" y="3520440"/>
            <a:ext cx="9784080" cy="365760"/>
          </a:xfrm>
          <a:prstGeom prst="rect">
            <a:avLst/>
          </a:prstGeom>
          <a:noFill/>
          <a:ln/>
        </p:spPr>
        <p:txBody>
          <a:bodyPr wrap="square" rtlCol="0" anchor="ctr"/>
          <a:lstStyle/>
          <a:p>
            <a:pPr indent="0" marL="0">
              <a:buNone/>
            </a:pPr>
            <a:r>
              <a:rPr lang="en-US" sz="1300" dirty="0">
                <a:solidFill>
                  <a:srgbClr val="CADCFC"/>
                </a:solidFill>
              </a:rPr>
              <a:t>— Coach review, Week 2</a:t>
            </a:r>
            <a:endParaRPr lang="en-US" sz="1300" dirty="0"/>
          </a:p>
        </p:txBody>
      </p:sp>
      <p:sp>
        <p:nvSpPr>
          <p:cNvPr id="6" name="Text 4"/>
          <p:cNvSpPr/>
          <p:nvPr/>
        </p:nvSpPr>
        <p:spPr>
          <a:xfrm>
            <a:off x="822960" y="4434840"/>
            <a:ext cx="10515600" cy="1188720"/>
          </a:xfrm>
          <a:prstGeom prst="rect">
            <a:avLst/>
          </a:prstGeom>
          <a:noFill/>
          <a:ln/>
        </p:spPr>
        <p:txBody>
          <a:bodyPr wrap="square" rtlCol="0" anchor="ctr"/>
          <a:lstStyle/>
          <a:p>
            <a:pPr indent="0" marL="0">
              <a:buNone/>
            </a:pPr>
            <a:r>
              <a:rPr lang="en-US" sz="1500" dirty="0">
                <a:solidFill>
                  <a:srgbClr val="CADCFC"/>
                </a:solidFill>
              </a:rPr>
              <a:t>In plain terms: we had been treating each hour as an independent sample. But 4 vehicles logged hourly over 5 years is 4 continuous time series — adjacent hours are related, and a model that only looks at one instant is solving an easier, less realistic problem.</a:t>
            </a:r>
            <a:endParaRPr lang="en-US" sz="1500" dirty="0"/>
          </a:p>
        </p:txBody>
      </p:sp>
      <p:sp>
        <p:nvSpPr>
          <p:cNvPr id="7" name="Text 5"/>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100" kern="0" dirty="0">
                <a:solidFill>
                  <a:srgbClr val="F2A93B"/>
                </a:solidFill>
              </a:rPr>
              <a:t>CHECKING THE CLAIM</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indent="0" marL="0">
              <a:buNone/>
            </a:pPr>
            <a:r>
              <a:rPr lang="en-US" sz="3000" b="1" dirty="0">
                <a:solidFill>
                  <a:srgbClr val="161C4A"/>
                </a:solidFill>
                <a:latin typeface="Cambria" pitchFamily="34" charset="0"/>
                <a:ea typeface="Cambria" pitchFamily="34" charset="-122"/>
                <a:cs typeface="Cambria" pitchFamily="34" charset="-120"/>
              </a:rPr>
              <a:t>Why he was right</a:t>
            </a:r>
            <a:endParaRPr lang="en-US" sz="3000" dirty="0"/>
          </a:p>
        </p:txBody>
      </p:sp>
      <p:sp>
        <p:nvSpPr>
          <p:cNvPr id="4" name="Shape 2"/>
          <p:cNvSpPr/>
          <p:nvPr/>
        </p:nvSpPr>
        <p:spPr>
          <a:xfrm>
            <a:off x="548640" y="1691640"/>
            <a:ext cx="10789920" cy="1737360"/>
          </a:xfrm>
          <a:prstGeom prst="roundRect">
            <a:avLst>
              <a:gd name="adj" fmla="val 4211"/>
            </a:avLst>
          </a:prstGeom>
          <a:solidFill>
            <a:srgbClr val="EEF3FD"/>
          </a:solidFill>
          <a:ln w="12700">
            <a:solidFill>
              <a:srgbClr val="CADCFC"/>
            </a:solidFill>
            <a:prstDash val="solid"/>
          </a:ln>
        </p:spPr>
      </p:sp>
      <p:sp>
        <p:nvSpPr>
          <p:cNvPr id="5" name="Text 3"/>
          <p:cNvSpPr/>
          <p:nvPr/>
        </p:nvSpPr>
        <p:spPr>
          <a:xfrm>
            <a:off x="868680" y="1874520"/>
            <a:ext cx="10149840" cy="365760"/>
          </a:xfrm>
          <a:prstGeom prst="rect">
            <a:avLst/>
          </a:prstGeom>
          <a:noFill/>
          <a:ln/>
        </p:spPr>
        <p:txBody>
          <a:bodyPr wrap="square" rtlCol="0" anchor="ctr"/>
          <a:lstStyle/>
          <a:p>
            <a:pPr indent="0" marL="0">
              <a:buNone/>
            </a:pPr>
            <a:r>
              <a:rPr lang="en-US" sz="1400" b="1" dirty="0">
                <a:solidFill>
                  <a:srgbClr val="161C4A"/>
                </a:solidFill>
              </a:rPr>
              <a:t>Straight from the dataset's own Kaggle page — its stated intended use cases:</a:t>
            </a:r>
            <a:endParaRPr lang="en-US" sz="1400" dirty="0"/>
          </a:p>
        </p:txBody>
      </p:sp>
      <p:sp>
        <p:nvSpPr>
          <p:cNvPr id="6" name="Text 4"/>
          <p:cNvSpPr/>
          <p:nvPr/>
        </p:nvSpPr>
        <p:spPr>
          <a:xfrm>
            <a:off x="868680" y="2286000"/>
            <a:ext cx="10149840" cy="1051560"/>
          </a:xfrm>
          <a:prstGeom prst="rect">
            <a:avLst/>
          </a:prstGeom>
          <a:noFill/>
          <a:ln/>
        </p:spPr>
        <p:txBody>
          <a:bodyPr wrap="square" rtlCol="0" anchor="ctr"/>
          <a:lstStyle/>
          <a:p>
            <a:pPr marL="342900" indent="-342900">
              <a:spcAft>
                <a:spcPts val="400"/>
              </a:spcAft>
              <a:buSzPct val="100000"/>
              <a:buChar char="•"/>
            </a:pPr>
            <a:r>
              <a:rPr lang="en-US" sz="1400" i="1" dirty="0">
                <a:solidFill>
                  <a:srgbClr val="5B6478"/>
                </a:solidFill>
              </a:rPr>
              <a:t>“Multivariate time-series forecasting (e.g., CNN + LSTM models)”</a:t>
            </a:r>
            <a:endParaRPr lang="en-US" sz="1400" dirty="0"/>
          </a:p>
          <a:p>
            <a:pPr marL="342900" indent="-342900">
              <a:spcAft>
                <a:spcPts val="400"/>
              </a:spcAft>
              <a:buSzPct val="100000"/>
              <a:buChar char="•"/>
            </a:pPr>
            <a:r>
              <a:rPr lang="en-US" sz="1400" i="1" dirty="0">
                <a:solidFill>
                  <a:srgbClr val="5B6478"/>
                </a:solidFill>
              </a:rPr>
              <a:t>“DTC forecasting and anomaly detection”</a:t>
            </a:r>
            <a:endParaRPr lang="en-US" sz="1400" dirty="0"/>
          </a:p>
          <a:p>
            <a:pPr marL="342900" indent="-342900">
              <a:spcAft>
                <a:spcPts val="400"/>
              </a:spcAft>
              <a:buSzPct val="100000"/>
              <a:buChar char="•"/>
            </a:pPr>
            <a:r>
              <a:rPr lang="en-US" sz="1400" i="1" dirty="0">
                <a:solidFill>
                  <a:srgbClr val="5B6478"/>
                </a:solidFill>
              </a:rPr>
              <a:t>“Predictive maintenance modeling”</a:t>
            </a:r>
            <a:endParaRPr lang="en-US" sz="1400" dirty="0"/>
          </a:p>
        </p:txBody>
      </p:sp>
      <p:sp>
        <p:nvSpPr>
          <p:cNvPr id="7" name="Text 5"/>
          <p:cNvSpPr/>
          <p:nvPr/>
        </p:nvSpPr>
        <p:spPr>
          <a:xfrm>
            <a:off x="548640" y="3657600"/>
            <a:ext cx="10789920" cy="457200"/>
          </a:xfrm>
          <a:prstGeom prst="rect">
            <a:avLst/>
          </a:prstGeom>
          <a:noFill/>
          <a:ln/>
        </p:spPr>
        <p:txBody>
          <a:bodyPr wrap="square" rtlCol="0" anchor="ctr"/>
          <a:lstStyle/>
          <a:p>
            <a:pPr indent="0" marL="0">
              <a:buNone/>
            </a:pPr>
            <a:r>
              <a:rPr lang="en-US" sz="1600" b="1" dirty="0">
                <a:solidFill>
                  <a:srgbClr val="B23A2E"/>
                </a:solidFill>
              </a:rPr>
              <a:t>Row-level classification is not on that list.</a:t>
            </a:r>
            <a:endParaRPr lang="en-US" sz="1600" dirty="0"/>
          </a:p>
        </p:txBody>
      </p:sp>
      <p:sp>
        <p:nvSpPr>
          <p:cNvPr id="8" name="Text 6"/>
          <p:cNvSpPr/>
          <p:nvPr/>
        </p:nvSpPr>
        <p:spPr>
          <a:xfrm>
            <a:off x="548640" y="4206240"/>
            <a:ext cx="10789920" cy="731520"/>
          </a:xfrm>
          <a:prstGeom prst="rect">
            <a:avLst/>
          </a:prstGeom>
          <a:noFill/>
          <a:ln/>
        </p:spPr>
        <p:txBody>
          <a:bodyPr wrap="square" rtlCol="0" anchor="ctr"/>
          <a:lstStyle/>
          <a:p>
            <a:pPr indent="0" marL="0">
              <a:buNone/>
            </a:pPr>
            <a:r>
              <a:rPr lang="en-US" sz="1400" dirty="0">
                <a:solidFill>
                  <a:srgbClr val="5B6478"/>
                </a:solidFill>
              </a:rPr>
              <a:t>We also checked the dataset's Kaggle Code and Discussion tabs directly — both show 0. No one has published an approach to compare against; this reframe had to be worked out from first principles.</a:t>
            </a:r>
            <a:endParaRPr lang="en-US" sz="1400" dirty="0"/>
          </a:p>
        </p:txBody>
      </p:sp>
      <p:sp>
        <p:nvSpPr>
          <p:cNvPr id="9" name="Text 7"/>
          <p:cNvSpPr/>
          <p:nvPr/>
        </p:nvSpPr>
        <p:spPr>
          <a:xfrm>
            <a:off x="548640" y="5074920"/>
            <a:ext cx="10789920" cy="731520"/>
          </a:xfrm>
          <a:prstGeom prst="rect">
            <a:avLst/>
          </a:prstGeom>
          <a:noFill/>
          <a:ln/>
        </p:spPr>
        <p:txBody>
          <a:bodyPr wrap="square" rtlCol="0" anchor="ctr"/>
          <a:lstStyle/>
          <a:p>
            <a:pPr indent="0" marL="0">
              <a:buNone/>
            </a:pPr>
            <a:r>
              <a:rPr lang="en-US" sz="1400" dirty="0">
                <a:solidFill>
                  <a:srgbClr val="5B6478"/>
                </a:solidFill>
              </a:rPr>
              <a:t>It also fits our fleet-manager persona better: “is it safe to keep driving?” is inherently a question about what's about to happen — not what already happened.</a:t>
            </a:r>
            <a:endParaRPr lang="en-US" sz="1400" dirty="0"/>
          </a:p>
        </p:txBody>
      </p:sp>
      <p:sp>
        <p:nvSpPr>
          <p:cNvPr id="10" name="Text 8"/>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100" kern="0" dirty="0">
                <a:solidFill>
                  <a:srgbClr val="F2A93B"/>
                </a:solidFill>
              </a:rPr>
              <a:t>THE FIX</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indent="0" marL="0">
              <a:buNone/>
            </a:pPr>
            <a:r>
              <a:rPr lang="en-US" sz="3000" b="1" dirty="0">
                <a:solidFill>
                  <a:srgbClr val="161C4A"/>
                </a:solidFill>
                <a:latin typeface="Cambria" pitchFamily="34" charset="0"/>
                <a:ea typeface="Cambria" pitchFamily="34" charset="-122"/>
                <a:cs typeface="Cambria" pitchFamily="34" charset="-120"/>
              </a:rPr>
              <a:t>What we changed</a:t>
            </a:r>
            <a:endParaRPr lang="en-US" sz="3000" dirty="0"/>
          </a:p>
        </p:txBody>
      </p:sp>
      <p:sp>
        <p:nvSpPr>
          <p:cNvPr id="4" name="Shape 2"/>
          <p:cNvSpPr/>
          <p:nvPr/>
        </p:nvSpPr>
        <p:spPr>
          <a:xfrm>
            <a:off x="548640" y="1737360"/>
            <a:ext cx="502920" cy="502920"/>
          </a:xfrm>
          <a:prstGeom prst="ellipse">
            <a:avLst/>
          </a:prstGeom>
          <a:solidFill>
            <a:srgbClr val="1E2761"/>
          </a:solidFill>
          <a:ln w="12700">
            <a:solidFill>
              <a:srgbClr val="1E2761"/>
            </a:solidFill>
            <a:prstDash val="solid"/>
          </a:ln>
        </p:spPr>
      </p:sp>
      <p:sp>
        <p:nvSpPr>
          <p:cNvPr id="5" name="Text 3"/>
          <p:cNvSpPr/>
          <p:nvPr/>
        </p:nvSpPr>
        <p:spPr>
          <a:xfrm>
            <a:off x="548640" y="1737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p:nvPr/>
        </p:nvSpPr>
        <p:spPr>
          <a:xfrm>
            <a:off x="1234440" y="1691640"/>
            <a:ext cx="10058400" cy="365760"/>
          </a:xfrm>
          <a:prstGeom prst="rect">
            <a:avLst/>
          </a:prstGeom>
          <a:noFill/>
          <a:ln/>
        </p:spPr>
        <p:txBody>
          <a:bodyPr wrap="square" rtlCol="0" anchor="ctr"/>
          <a:lstStyle/>
          <a:p>
            <a:pPr indent="0" marL="0">
              <a:buNone/>
            </a:pPr>
            <a:r>
              <a:rPr lang="en-US" sz="1550" b="1" dirty="0">
                <a:solidFill>
                  <a:srgbClr val="161C4A"/>
                </a:solidFill>
              </a:rPr>
              <a:t>New features: recent history, not just the current instant</a:t>
            </a:r>
            <a:endParaRPr lang="en-US" sz="1550" dirty="0"/>
          </a:p>
        </p:txBody>
      </p:sp>
      <p:sp>
        <p:nvSpPr>
          <p:cNvPr id="7" name="Text 5"/>
          <p:cNvSpPr/>
          <p:nvPr/>
        </p:nvSpPr>
        <p:spPr>
          <a:xfrm>
            <a:off x="1234440" y="2075688"/>
            <a:ext cx="10058400" cy="868680"/>
          </a:xfrm>
          <a:prstGeom prst="rect">
            <a:avLst/>
          </a:prstGeom>
          <a:noFill/>
          <a:ln/>
        </p:spPr>
        <p:txBody>
          <a:bodyPr wrap="square" rtlCol="0" anchor="ctr"/>
          <a:lstStyle/>
          <a:p>
            <a:pPr indent="0" marL="0">
              <a:buNone/>
            </a:pPr>
            <a:r>
              <a:rPr lang="en-US" sz="1300" dirty="0">
                <a:solidFill>
                  <a:srgbClr val="5B6478"/>
                </a:solidFill>
              </a:rPr>
              <a:t>Rolling mean/std (6h/12h/24h), lags (1h/3h/6h), and trend deltas on Motor_RPM, Motor_Torque, Motor_Temp, Battery_Temp — computed strictly within each vehicle's own timeline.</a:t>
            </a:r>
            <a:endParaRPr lang="en-US" sz="1300" dirty="0"/>
          </a:p>
        </p:txBody>
      </p:sp>
      <p:sp>
        <p:nvSpPr>
          <p:cNvPr id="8" name="Shape 6"/>
          <p:cNvSpPr/>
          <p:nvPr/>
        </p:nvSpPr>
        <p:spPr>
          <a:xfrm>
            <a:off x="548640" y="3154680"/>
            <a:ext cx="502920" cy="502920"/>
          </a:xfrm>
          <a:prstGeom prst="ellipse">
            <a:avLst/>
          </a:prstGeom>
          <a:solidFill>
            <a:srgbClr val="1E2761"/>
          </a:solidFill>
          <a:ln w="12700">
            <a:solidFill>
              <a:srgbClr val="1E2761"/>
            </a:solidFill>
            <a:prstDash val="solid"/>
          </a:ln>
        </p:spPr>
      </p:sp>
      <p:sp>
        <p:nvSpPr>
          <p:cNvPr id="9" name="Text 7"/>
          <p:cNvSpPr/>
          <p:nvPr/>
        </p:nvSpPr>
        <p:spPr>
          <a:xfrm>
            <a:off x="548640" y="31546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p:nvPr/>
        </p:nvSpPr>
        <p:spPr>
          <a:xfrm>
            <a:off x="1234440" y="3108960"/>
            <a:ext cx="10058400" cy="365760"/>
          </a:xfrm>
          <a:prstGeom prst="rect">
            <a:avLst/>
          </a:prstGeom>
          <a:noFill/>
          <a:ln/>
        </p:spPr>
        <p:txBody>
          <a:bodyPr wrap="square" rtlCol="0" anchor="ctr"/>
          <a:lstStyle/>
          <a:p>
            <a:pPr indent="0" marL="0">
              <a:buNone/>
            </a:pPr>
            <a:r>
              <a:rPr lang="en-US" sz="1550" b="1" dirty="0">
                <a:solidFill>
                  <a:srgbClr val="161C4A"/>
                </a:solidFill>
              </a:rPr>
              <a:t>New target: forecast ahead, not describe the present</a:t>
            </a:r>
            <a:endParaRPr lang="en-US" sz="1550" dirty="0"/>
          </a:p>
        </p:txBody>
      </p:sp>
      <p:sp>
        <p:nvSpPr>
          <p:cNvPr id="11" name="Text 9"/>
          <p:cNvSpPr/>
          <p:nvPr/>
        </p:nvSpPr>
        <p:spPr>
          <a:xfrm>
            <a:off x="1234440" y="3493008"/>
            <a:ext cx="10058400" cy="868680"/>
          </a:xfrm>
          <a:prstGeom prst="rect">
            <a:avLst/>
          </a:prstGeom>
          <a:noFill/>
          <a:ln/>
        </p:spPr>
        <p:txBody>
          <a:bodyPr wrap="square" rtlCol="0" anchor="ctr"/>
          <a:lstStyle/>
          <a:p>
            <a:pPr indent="0" marL="0">
              <a:buNone/>
            </a:pPr>
            <a:r>
              <a:rPr lang="en-US" sz="1300" dirty="0">
                <a:solidFill>
                  <a:srgbClr val="5B6478"/>
                </a:solidFill>
              </a:rPr>
              <a:t>Fault_Within_6h — will a fault occur in the next 6 hours? — instead of “is a fault happening right now?” Hand-verified against a brute-force check before trusting it on the full dataset.</a:t>
            </a:r>
            <a:endParaRPr lang="en-US" sz="1300" dirty="0"/>
          </a:p>
        </p:txBody>
      </p:sp>
      <p:sp>
        <p:nvSpPr>
          <p:cNvPr id="12" name="Shape 10"/>
          <p:cNvSpPr/>
          <p:nvPr/>
        </p:nvSpPr>
        <p:spPr>
          <a:xfrm>
            <a:off x="548640" y="4572000"/>
            <a:ext cx="502920" cy="502920"/>
          </a:xfrm>
          <a:prstGeom prst="ellipse">
            <a:avLst/>
          </a:prstGeom>
          <a:solidFill>
            <a:srgbClr val="1E2761"/>
          </a:solidFill>
          <a:ln w="12700">
            <a:solidFill>
              <a:srgbClr val="1E2761"/>
            </a:solidFill>
            <a:prstDash val="solid"/>
          </a:ln>
        </p:spPr>
      </p:sp>
      <p:sp>
        <p:nvSpPr>
          <p:cNvPr id="13" name="Text 11"/>
          <p:cNvSpPr/>
          <p:nvPr/>
        </p:nvSpPr>
        <p:spPr>
          <a:xfrm>
            <a:off x="548640" y="45720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p:nvPr/>
        </p:nvSpPr>
        <p:spPr>
          <a:xfrm>
            <a:off x="1234440" y="4526280"/>
            <a:ext cx="10058400" cy="365760"/>
          </a:xfrm>
          <a:prstGeom prst="rect">
            <a:avLst/>
          </a:prstGeom>
          <a:noFill/>
          <a:ln/>
        </p:spPr>
        <p:txBody>
          <a:bodyPr wrap="square" rtlCol="0" anchor="ctr"/>
          <a:lstStyle/>
          <a:p>
            <a:pPr indent="0" marL="0">
              <a:buNone/>
            </a:pPr>
            <a:r>
              <a:rPr lang="en-US" sz="1550" b="1" dirty="0">
                <a:solidFill>
                  <a:srgbClr val="161C4A"/>
                </a:solidFill>
              </a:rPr>
              <a:t>Same discipline as before, carried forward</a:t>
            </a:r>
            <a:endParaRPr lang="en-US" sz="1550" dirty="0"/>
          </a:p>
        </p:txBody>
      </p:sp>
      <p:sp>
        <p:nvSpPr>
          <p:cNvPr id="15" name="Text 13"/>
          <p:cNvSpPr/>
          <p:nvPr/>
        </p:nvSpPr>
        <p:spPr>
          <a:xfrm>
            <a:off x="1234440" y="4910328"/>
            <a:ext cx="10058400" cy="868680"/>
          </a:xfrm>
          <a:prstGeom prst="rect">
            <a:avLst/>
          </a:prstGeom>
          <a:noFill/>
          <a:ln/>
        </p:spPr>
        <p:txBody>
          <a:bodyPr wrap="square" rtlCol="0" anchor="ctr"/>
          <a:lstStyle/>
          <a:p>
            <a:pPr indent="0" marL="0">
              <a:buNone/>
            </a:pPr>
            <a:r>
              <a:rPr lang="en-US" sz="1300" dirty="0">
                <a:solidFill>
                  <a:srgbClr val="5B6478"/>
                </a:solidFill>
              </a:rPr>
              <a:t>Same dataset, same chronological per-vehicle split, same class-weighting-from-training-fold-only rule. No SMOTE, no shortcuts — just a fairer task.</a:t>
            </a:r>
            <a:endParaRPr lang="en-US" sz="1300" dirty="0"/>
          </a:p>
        </p:txBody>
      </p:sp>
      <p:sp>
        <p:nvSpPr>
          <p:cNvPr id="16" name="Text 14"/>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100" kern="0" dirty="0">
                <a:solidFill>
                  <a:srgbClr val="F2A93B"/>
                </a:solidFill>
              </a:rPr>
              <a:t>THE HONEST NUMBER</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indent="0" marL="0">
              <a:buNone/>
            </a:pPr>
            <a:r>
              <a:rPr lang="en-US" sz="3000" b="1" dirty="0">
                <a:solidFill>
                  <a:srgbClr val="161C4A"/>
                </a:solidFill>
                <a:latin typeface="Cambria" pitchFamily="34" charset="0"/>
                <a:ea typeface="Cambria" pitchFamily="34" charset="-122"/>
                <a:cs typeface="Cambria" pitchFamily="34" charset="-120"/>
              </a:rPr>
              <a:t>Results: before vs. after</a:t>
            </a:r>
            <a:endParaRPr lang="en-US" sz="3000" dirty="0"/>
          </a:p>
        </p:txBody>
      </p:sp>
      <p:graphicFrame>
        <p:nvGraphicFramePr>
          <p:cNvPr id="4" name="Chart 0" descr=""/>
          <p:cNvGraphicFramePr/>
          <p:nvPr/>
        </p:nvGraphicFramePr>
        <p:xfrm>
          <a:off x="548640" y="169164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223760" y="1691640"/>
            <a:ext cx="4114800" cy="4206240"/>
          </a:xfrm>
          <a:prstGeom prst="roundRect">
            <a:avLst>
              <a:gd name="adj" fmla="val 1778"/>
            </a:avLst>
          </a:prstGeom>
          <a:solidFill>
            <a:srgbClr val="1E2761"/>
          </a:solidFill>
          <a:ln w="12700">
            <a:solidFill>
              <a:srgbClr val="1E2761"/>
            </a:solidFill>
            <a:prstDash val="solid"/>
          </a:ln>
        </p:spPr>
      </p:sp>
      <p:sp>
        <p:nvSpPr>
          <p:cNvPr id="6" name="Text 3"/>
          <p:cNvSpPr/>
          <p:nvPr/>
        </p:nvSpPr>
        <p:spPr>
          <a:xfrm>
            <a:off x="7543800" y="1920240"/>
            <a:ext cx="3474720" cy="73152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Why a worse score</a:t>
            </a:r>
            <a:endParaRPr lang="en-US" sz="1700" dirty="0"/>
          </a:p>
          <a:p>
            <a:pPr indent="0" marL="0">
              <a:buNone/>
            </a:pPr>
            <a:r>
              <a:rPr lang="en-US" sz="1700" b="1" dirty="0">
                <a:solidFill>
                  <a:srgbClr val="FFFFFF"/>
                </a:solidFill>
                <a:latin typeface="Cambria" pitchFamily="34" charset="0"/>
                <a:ea typeface="Cambria" pitchFamily="34" charset="-122"/>
                <a:cs typeface="Cambria" pitchFamily="34" charset="-120"/>
              </a:rPr>
              <a:t>is the right outcome</a:t>
            </a:r>
            <a:endParaRPr lang="en-US" sz="1700" dirty="0"/>
          </a:p>
        </p:txBody>
      </p:sp>
      <p:sp>
        <p:nvSpPr>
          <p:cNvPr id="7" name="Text 4"/>
          <p:cNvSpPr/>
          <p:nvPr/>
        </p:nvSpPr>
        <p:spPr>
          <a:xfrm>
            <a:off x="7543800" y="2743200"/>
            <a:ext cx="3474720" cy="2926080"/>
          </a:xfrm>
          <a:prstGeom prst="rect">
            <a:avLst/>
          </a:prstGeom>
          <a:noFill/>
          <a:ln/>
        </p:spPr>
        <p:txBody>
          <a:bodyPr wrap="square" rtlCol="0" anchor="ctr"/>
          <a:lstStyle/>
          <a:p>
            <a:pPr marL="342900" indent="-342900">
              <a:spcAft>
                <a:spcPts val="1000"/>
              </a:spcAft>
              <a:buSzPct val="100000"/>
              <a:buChar char="•"/>
            </a:pPr>
            <a:r>
              <a:rPr lang="en-US" sz="1250" dirty="0">
                <a:solidFill>
                  <a:srgbClr val="CADCFC"/>
                </a:solidFill>
              </a:rPr>
              <a:t>The 1.000 score wasn't measuring a hard problem — it was recognizing a code using the same instant's readings that generated it.</a:t>
            </a:r>
            <a:endParaRPr lang="en-US" sz="1250" dirty="0"/>
          </a:p>
          <a:p>
            <a:pPr marL="342900" indent="-342900">
              <a:spcAft>
                <a:spcPts val="1000"/>
              </a:spcAft>
              <a:buSzPct val="100000"/>
              <a:buChar char="•"/>
            </a:pPr>
            <a:r>
              <a:rPr lang="en-US" sz="1250" dirty="0">
                <a:solidFill>
                  <a:srgbClr val="CADCFC"/>
                </a:solidFill>
              </a:rPr>
              <a:t>~0.60 is a real, honest baseline for a genuinely hard forecasting task.</a:t>
            </a:r>
            <a:endParaRPr lang="en-US" sz="1250" dirty="0"/>
          </a:p>
          <a:p>
            <a:pPr marL="342900" indent="-342900">
              <a:spcAft>
                <a:spcPts val="1000"/>
              </a:spcAft>
              <a:buSzPct val="100000"/>
              <a:buChar char="•"/>
            </a:pPr>
            <a:r>
              <a:rPr lang="en-US" sz="1250" dirty="0">
                <a:solidFill>
                  <a:srgbClr val="CADCFC"/>
                </a:solidFill>
              </a:rPr>
              <a:t>Recall on catching an upcoming fault: ~99% → ~46-59% — a large, expected drop, not a bug.</a:t>
            </a:r>
            <a:endParaRPr lang="en-US" sz="1250" dirty="0"/>
          </a:p>
        </p:txBody>
      </p:sp>
      <p:sp>
        <p:nvSpPr>
          <p:cNvPr id="8" name="Text 5"/>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100" kern="0" dirty="0">
                <a:solidFill>
                  <a:srgbClr val="F2A93B"/>
                </a:solidFill>
              </a:rPr>
              <a:t>TESTING OUR OWN ASSUMPTIONS</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indent="0" marL="0">
              <a:buNone/>
            </a:pPr>
            <a:r>
              <a:rPr lang="en-US" sz="3000" b="1" dirty="0">
                <a:solidFill>
                  <a:srgbClr val="161C4A"/>
                </a:solidFill>
                <a:latin typeface="Cambria" pitchFamily="34" charset="0"/>
                <a:ea typeface="Cambria" pitchFamily="34" charset="-122"/>
                <a:cs typeface="Cambria" pitchFamily="34" charset="-120"/>
              </a:rPr>
              <a:t>One more check, just to be sure</a:t>
            </a:r>
            <a:endParaRPr lang="en-US" sz="3000" dirty="0"/>
          </a:p>
        </p:txBody>
      </p:sp>
      <p:sp>
        <p:nvSpPr>
          <p:cNvPr id="4" name="Shape 2"/>
          <p:cNvSpPr/>
          <p:nvPr/>
        </p:nvSpPr>
        <p:spPr>
          <a:xfrm>
            <a:off x="548640" y="1691640"/>
            <a:ext cx="5212080" cy="3931920"/>
          </a:xfrm>
          <a:prstGeom prst="roundRect">
            <a:avLst>
              <a:gd name="adj" fmla="val 1860"/>
            </a:avLst>
          </a:prstGeom>
          <a:solidFill>
            <a:srgbClr val="FFFFFF"/>
          </a:solidFill>
          <a:ln w="12700">
            <a:solidFill>
              <a:srgbClr val="E4E8F0"/>
            </a:solidFill>
            <a:prstDash val="solid"/>
          </a:ln>
        </p:spPr>
      </p:sp>
      <p:sp>
        <p:nvSpPr>
          <p:cNvPr id="5" name="Text 3"/>
          <p:cNvSpPr/>
          <p:nvPr/>
        </p:nvSpPr>
        <p:spPr>
          <a:xfrm>
            <a:off x="868680" y="1965960"/>
            <a:ext cx="4572000" cy="365760"/>
          </a:xfrm>
          <a:prstGeom prst="rect">
            <a:avLst/>
          </a:prstGeom>
          <a:noFill/>
          <a:ln/>
        </p:spPr>
        <p:txBody>
          <a:bodyPr wrap="square" rtlCol="0" anchor="ctr"/>
          <a:lstStyle/>
          <a:p>
            <a:pPr indent="0" marL="0">
              <a:buNone/>
            </a:pPr>
            <a:r>
              <a:rPr lang="en-US" sz="1550" b="1" dirty="0">
                <a:solidFill>
                  <a:srgbClr val="161C4A"/>
                </a:solidFill>
              </a:rPr>
              <a:t>The hypothesis</a:t>
            </a:r>
            <a:endParaRPr lang="en-US" sz="1550" dirty="0"/>
          </a:p>
        </p:txBody>
      </p:sp>
      <p:sp>
        <p:nvSpPr>
          <p:cNvPr id="6" name="Text 4"/>
          <p:cNvSpPr/>
          <p:nvPr/>
        </p:nvSpPr>
        <p:spPr>
          <a:xfrm>
            <a:off x="868680" y="2423160"/>
            <a:ext cx="4572000" cy="1371600"/>
          </a:xfrm>
          <a:prstGeom prst="rect">
            <a:avLst/>
          </a:prstGeom>
          <a:noFill/>
          <a:ln/>
        </p:spPr>
        <p:txBody>
          <a:bodyPr wrap="square" rtlCol="0" anchor="ctr"/>
          <a:lstStyle/>
          <a:p>
            <a:pPr indent="0" marL="0">
              <a:buNone/>
            </a:pPr>
            <a:r>
              <a:rPr lang="en-US" sz="1350" dirty="0">
                <a:solidFill>
                  <a:srgbClr val="5B6478"/>
                </a:solidFill>
              </a:rPr>
              <a:t>Two features (Brake_Pad_Wear, SOH) suddenly looked important for the new target. We suspected this was a fake signal — a proxy for “which vehicle is this” rather than real predictive value.</a:t>
            </a:r>
            <a:endParaRPr lang="en-US" sz="1350" dirty="0"/>
          </a:p>
        </p:txBody>
      </p:sp>
      <p:sp>
        <p:nvSpPr>
          <p:cNvPr id="7" name="Text 5"/>
          <p:cNvSpPr/>
          <p:nvPr/>
        </p:nvSpPr>
        <p:spPr>
          <a:xfrm>
            <a:off x="868680" y="3794760"/>
            <a:ext cx="4572000" cy="320040"/>
          </a:xfrm>
          <a:prstGeom prst="rect">
            <a:avLst/>
          </a:prstGeom>
          <a:noFill/>
          <a:ln/>
        </p:spPr>
        <p:txBody>
          <a:bodyPr wrap="square" rtlCol="0" anchor="ctr"/>
          <a:lstStyle/>
          <a:p>
            <a:pPr indent="0" marL="0">
              <a:buNone/>
            </a:pPr>
            <a:r>
              <a:rPr lang="en-US" sz="1300" b="1" dirty="0">
                <a:solidFill>
                  <a:srgbClr val="161C4A"/>
                </a:solidFill>
              </a:rPr>
              <a:t>Tested with:</a:t>
            </a:r>
            <a:endParaRPr lang="en-US" sz="1300" dirty="0"/>
          </a:p>
        </p:txBody>
      </p:sp>
      <p:sp>
        <p:nvSpPr>
          <p:cNvPr id="8" name="Text 6"/>
          <p:cNvSpPr/>
          <p:nvPr/>
        </p:nvSpPr>
        <p:spPr>
          <a:xfrm>
            <a:off x="868680" y="4114800"/>
            <a:ext cx="4572000" cy="1280160"/>
          </a:xfrm>
          <a:prstGeom prst="rect">
            <a:avLst/>
          </a:prstGeom>
          <a:noFill/>
          <a:ln/>
        </p:spPr>
        <p:txBody>
          <a:bodyPr wrap="square" rtlCol="0" anchor="ctr"/>
          <a:lstStyle/>
          <a:p>
            <a:pPr marL="342900" indent="-342900">
              <a:spcAft>
                <a:spcPts val="600"/>
              </a:spcAft>
              <a:buSzPct val="100000"/>
              <a:buChar char="•"/>
            </a:pPr>
            <a:r>
              <a:rPr lang="en-US" sz="1300" dirty="0">
                <a:solidFill>
                  <a:srgbClr val="5B6478"/>
                </a:solidFill>
              </a:rPr>
              <a:t>Permutation importance on the trained model</a:t>
            </a:r>
            <a:endParaRPr lang="en-US" sz="1300" dirty="0"/>
          </a:p>
          <a:p>
            <a:pPr marL="342900" indent="-342900">
              <a:spcAft>
                <a:spcPts val="600"/>
              </a:spcAft>
              <a:buSzPct val="100000"/>
              <a:buChar char="•"/>
            </a:pPr>
            <a:r>
              <a:rPr lang="en-US" sz="1300" dirty="0">
                <a:solidFill>
                  <a:srgbClr val="5B6478"/>
                </a:solidFill>
              </a:rPr>
              <a:t>Per-vehicle mutual information (removes “which vehicle” as a factor entirely)</a:t>
            </a:r>
            <a:endParaRPr lang="en-US" sz="1300" dirty="0"/>
          </a:p>
        </p:txBody>
      </p:sp>
      <p:sp>
        <p:nvSpPr>
          <p:cNvPr id="9" name="Shape 7"/>
          <p:cNvSpPr/>
          <p:nvPr/>
        </p:nvSpPr>
        <p:spPr>
          <a:xfrm>
            <a:off x="6126480" y="1691640"/>
            <a:ext cx="5212080" cy="3931920"/>
          </a:xfrm>
          <a:prstGeom prst="roundRect">
            <a:avLst>
              <a:gd name="adj" fmla="val 1860"/>
            </a:avLst>
          </a:prstGeom>
          <a:solidFill>
            <a:srgbClr val="1E2761"/>
          </a:solidFill>
          <a:ln w="12700">
            <a:solidFill>
              <a:srgbClr val="1E2761"/>
            </a:solidFill>
            <a:prstDash val="solid"/>
          </a:ln>
        </p:spPr>
      </p:sp>
      <p:sp>
        <p:nvSpPr>
          <p:cNvPr id="10" name="Text 8"/>
          <p:cNvSpPr/>
          <p:nvPr/>
        </p:nvSpPr>
        <p:spPr>
          <a:xfrm>
            <a:off x="6446520" y="1965960"/>
            <a:ext cx="4572000" cy="365760"/>
          </a:xfrm>
          <a:prstGeom prst="rect">
            <a:avLst/>
          </a:prstGeom>
          <a:noFill/>
          <a:ln/>
        </p:spPr>
        <p:txBody>
          <a:bodyPr wrap="square" rtlCol="0" anchor="ctr"/>
          <a:lstStyle/>
          <a:p>
            <a:pPr indent="0" marL="0">
              <a:buNone/>
            </a:pPr>
            <a:r>
              <a:rPr lang="en-US" sz="1550" b="1" dirty="0">
                <a:solidFill>
                  <a:srgbClr val="FFFFFF"/>
                </a:solidFill>
              </a:rPr>
              <a:t>The result</a:t>
            </a:r>
            <a:endParaRPr lang="en-US" sz="1550" dirty="0"/>
          </a:p>
        </p:txBody>
      </p:sp>
      <p:sp>
        <p:nvSpPr>
          <p:cNvPr id="11" name="Text 9"/>
          <p:cNvSpPr/>
          <p:nvPr/>
        </p:nvSpPr>
        <p:spPr>
          <a:xfrm>
            <a:off x="6446520" y="2423160"/>
            <a:ext cx="4572000" cy="1280160"/>
          </a:xfrm>
          <a:prstGeom prst="rect">
            <a:avLst/>
          </a:prstGeom>
          <a:noFill/>
          <a:ln/>
        </p:spPr>
        <p:txBody>
          <a:bodyPr wrap="square" rtlCol="0" anchor="ctr"/>
          <a:lstStyle/>
          <a:p>
            <a:pPr indent="0" marL="0">
              <a:buNone/>
            </a:pPr>
            <a:r>
              <a:rPr lang="en-US" sz="1350" dirty="0">
                <a:solidFill>
                  <a:srgbClr val="CADCFC"/>
                </a:solidFill>
              </a:rPr>
              <a:t>We were wrong — and we're saying so. Per-vehicle relevance came back higher than the pooled value, for every vehicle. That means it's real, genuine signal, not a confound.</a:t>
            </a:r>
            <a:endParaRPr lang="en-US" sz="1350" dirty="0"/>
          </a:p>
        </p:txBody>
      </p:sp>
      <p:sp>
        <p:nvSpPr>
          <p:cNvPr id="12" name="Text 10"/>
          <p:cNvSpPr/>
          <p:nvPr/>
        </p:nvSpPr>
        <p:spPr>
          <a:xfrm>
            <a:off x="6446520" y="3840480"/>
            <a:ext cx="4572000" cy="1463040"/>
          </a:xfrm>
          <a:prstGeom prst="rect">
            <a:avLst/>
          </a:prstGeom>
          <a:noFill/>
          <a:ln/>
        </p:spPr>
        <p:txBody>
          <a:bodyPr wrap="square" rtlCol="0" anchor="ctr"/>
          <a:lstStyle/>
          <a:p>
            <a:pPr indent="0" marL="0">
              <a:buNone/>
            </a:pPr>
            <a:r>
              <a:rPr lang="en-US" sz="1350" i="1" dirty="0">
                <a:solidFill>
                  <a:srgbClr val="F2A93B"/>
                </a:solidFill>
              </a:rPr>
              <a:t>The takeaway we're carrying forward: test a hypothesis with the same rigor as the original finding — don't just assume your first guess was right.</a:t>
            </a:r>
            <a:endParaRPr lang="en-US" sz="1350" dirty="0"/>
          </a:p>
        </p:txBody>
      </p:sp>
      <p:sp>
        <p:nvSpPr>
          <p:cNvPr id="13" name="Text 11"/>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548640"/>
            <a:ext cx="10058400" cy="365760"/>
          </a:xfrm>
          <a:prstGeom prst="rect">
            <a:avLst/>
          </a:prstGeom>
          <a:noFill/>
          <a:ln/>
        </p:spPr>
        <p:txBody>
          <a:bodyPr wrap="square" rtlCol="0" anchor="ctr"/>
          <a:lstStyle/>
          <a:p>
            <a:pPr indent="0" marL="0">
              <a:buNone/>
            </a:pPr>
            <a:r>
              <a:rPr lang="en-US" sz="1300" b="1" spc="200" kern="0" dirty="0">
                <a:solidFill>
                  <a:srgbClr val="F2A93B"/>
                </a:solidFill>
              </a:rPr>
              <a:t>WHAT'S NEXT</a:t>
            </a:r>
            <a:endParaRPr lang="en-US" sz="1300" dirty="0"/>
          </a:p>
        </p:txBody>
      </p:sp>
      <p:sp>
        <p:nvSpPr>
          <p:cNvPr id="3" name="Text 1"/>
          <p:cNvSpPr/>
          <p:nvPr/>
        </p:nvSpPr>
        <p:spPr>
          <a:xfrm>
            <a:off x="822960" y="914400"/>
            <a:ext cx="10515600" cy="8229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This is a real starting point, not a finished result</a:t>
            </a:r>
            <a:endParaRPr lang="en-US" sz="2800" dirty="0"/>
          </a:p>
        </p:txBody>
      </p:sp>
      <p:sp>
        <p:nvSpPr>
          <p:cNvPr id="4" name="Shape 2"/>
          <p:cNvSpPr/>
          <p:nvPr/>
        </p:nvSpPr>
        <p:spPr>
          <a:xfrm>
            <a:off x="822960" y="2194560"/>
            <a:ext cx="164592" cy="164592"/>
          </a:xfrm>
          <a:prstGeom prst="roundRect">
            <a:avLst>
              <a:gd name="adj" fmla="val 16667"/>
            </a:avLst>
          </a:prstGeom>
          <a:solidFill>
            <a:srgbClr val="F2A93B"/>
          </a:solidFill>
          <a:ln w="12700">
            <a:solidFill>
              <a:srgbClr val="F2A93B"/>
            </a:solidFill>
            <a:prstDash val="solid"/>
          </a:ln>
        </p:spPr>
      </p:sp>
      <p:sp>
        <p:nvSpPr>
          <p:cNvPr id="5" name="Text 3"/>
          <p:cNvSpPr/>
          <p:nvPr/>
        </p:nvSpPr>
        <p:spPr>
          <a:xfrm>
            <a:off x="1234440" y="2075688"/>
            <a:ext cx="9875520" cy="457200"/>
          </a:xfrm>
          <a:prstGeom prst="rect">
            <a:avLst/>
          </a:prstGeom>
          <a:noFill/>
          <a:ln/>
        </p:spPr>
        <p:txBody>
          <a:bodyPr wrap="square" rtlCol="0" anchor="ctr"/>
          <a:lstStyle/>
          <a:p>
            <a:pPr indent="0" marL="0">
              <a:buNone/>
            </a:pPr>
            <a:r>
              <a:rPr lang="en-US" sz="1600" dirty="0">
                <a:solidFill>
                  <a:srgbClr val="CADCFC"/>
                </a:solidFill>
              </a:rPr>
              <a:t>Try the 12-hour forecast window — more positive examples to learn from</a:t>
            </a:r>
            <a:endParaRPr lang="en-US" sz="1600" dirty="0"/>
          </a:p>
        </p:txBody>
      </p:sp>
      <p:sp>
        <p:nvSpPr>
          <p:cNvPr id="6" name="Shape 4"/>
          <p:cNvSpPr/>
          <p:nvPr/>
        </p:nvSpPr>
        <p:spPr>
          <a:xfrm>
            <a:off x="822960" y="2880360"/>
            <a:ext cx="164592" cy="164592"/>
          </a:xfrm>
          <a:prstGeom prst="roundRect">
            <a:avLst>
              <a:gd name="adj" fmla="val 16667"/>
            </a:avLst>
          </a:prstGeom>
          <a:solidFill>
            <a:srgbClr val="F2A93B"/>
          </a:solidFill>
          <a:ln w="12700">
            <a:solidFill>
              <a:srgbClr val="F2A93B"/>
            </a:solidFill>
            <a:prstDash val="solid"/>
          </a:ln>
        </p:spPr>
      </p:sp>
      <p:sp>
        <p:nvSpPr>
          <p:cNvPr id="7" name="Text 5"/>
          <p:cNvSpPr/>
          <p:nvPr/>
        </p:nvSpPr>
        <p:spPr>
          <a:xfrm>
            <a:off x="1234440" y="2761488"/>
            <a:ext cx="9875520" cy="457200"/>
          </a:xfrm>
          <a:prstGeom prst="rect">
            <a:avLst/>
          </a:prstGeom>
          <a:noFill/>
          <a:ln/>
        </p:spPr>
        <p:txBody>
          <a:bodyPr wrap="square" rtlCol="0" anchor="ctr"/>
          <a:lstStyle/>
          <a:p>
            <a:pPr indent="0" marL="0">
              <a:buNone/>
            </a:pPr>
            <a:r>
              <a:rPr lang="en-US" sz="1600" dirty="0">
                <a:solidFill>
                  <a:srgbClr val="CADCFC"/>
                </a:solidFill>
              </a:rPr>
              <a:t>Try a small neural net on the same rolling/lag feature set</a:t>
            </a:r>
            <a:endParaRPr lang="en-US" sz="1600" dirty="0"/>
          </a:p>
        </p:txBody>
      </p:sp>
      <p:sp>
        <p:nvSpPr>
          <p:cNvPr id="8" name="Shape 6"/>
          <p:cNvSpPr/>
          <p:nvPr/>
        </p:nvSpPr>
        <p:spPr>
          <a:xfrm>
            <a:off x="822960" y="3566160"/>
            <a:ext cx="164592" cy="164592"/>
          </a:xfrm>
          <a:prstGeom prst="roundRect">
            <a:avLst>
              <a:gd name="adj" fmla="val 16667"/>
            </a:avLst>
          </a:prstGeom>
          <a:solidFill>
            <a:srgbClr val="F2A93B"/>
          </a:solidFill>
          <a:ln w="12700">
            <a:solidFill>
              <a:srgbClr val="F2A93B"/>
            </a:solidFill>
            <a:prstDash val="solid"/>
          </a:ln>
        </p:spPr>
      </p:sp>
      <p:sp>
        <p:nvSpPr>
          <p:cNvPr id="9" name="Text 7"/>
          <p:cNvSpPr/>
          <p:nvPr/>
        </p:nvSpPr>
        <p:spPr>
          <a:xfrm>
            <a:off x="1234440" y="3447288"/>
            <a:ext cx="9875520" cy="457200"/>
          </a:xfrm>
          <a:prstGeom prst="rect">
            <a:avLst/>
          </a:prstGeom>
          <a:noFill/>
          <a:ln/>
        </p:spPr>
        <p:txBody>
          <a:bodyPr wrap="square" rtlCol="0" anchor="ctr"/>
          <a:lstStyle/>
          <a:p>
            <a:pPr indent="0" marL="0">
              <a:buNone/>
            </a:pPr>
            <a:r>
              <a:rPr lang="en-US" sz="1600" dirty="0">
                <a:solidFill>
                  <a:srgbClr val="CADCFC"/>
                </a:solidFill>
              </a:rPr>
              <a:t>Follow up on Tire_Pressure / Charging_Voltage — the features the model actually leans on</a:t>
            </a:r>
            <a:endParaRPr lang="en-US" sz="1600" dirty="0"/>
          </a:p>
        </p:txBody>
      </p:sp>
      <p:sp>
        <p:nvSpPr>
          <p:cNvPr id="10" name="Shape 8"/>
          <p:cNvSpPr/>
          <p:nvPr/>
        </p:nvSpPr>
        <p:spPr>
          <a:xfrm>
            <a:off x="822960" y="4251960"/>
            <a:ext cx="164592" cy="164592"/>
          </a:xfrm>
          <a:prstGeom prst="roundRect">
            <a:avLst>
              <a:gd name="adj" fmla="val 16667"/>
            </a:avLst>
          </a:prstGeom>
          <a:solidFill>
            <a:srgbClr val="F2A93B"/>
          </a:solidFill>
          <a:ln w="12700">
            <a:solidFill>
              <a:srgbClr val="F2A93B"/>
            </a:solidFill>
            <a:prstDash val="solid"/>
          </a:ln>
        </p:spPr>
      </p:sp>
      <p:sp>
        <p:nvSpPr>
          <p:cNvPr id="11" name="Text 9"/>
          <p:cNvSpPr/>
          <p:nvPr/>
        </p:nvSpPr>
        <p:spPr>
          <a:xfrm>
            <a:off x="1234440" y="4133088"/>
            <a:ext cx="9875520" cy="457200"/>
          </a:xfrm>
          <a:prstGeom prst="rect">
            <a:avLst/>
          </a:prstGeom>
          <a:noFill/>
          <a:ln/>
        </p:spPr>
        <p:txBody>
          <a:bodyPr wrap="square" rtlCol="0" anchor="ctr"/>
          <a:lstStyle/>
          <a:p>
            <a:pPr indent="0" marL="0">
              <a:buNone/>
            </a:pPr>
            <a:r>
              <a:rPr lang="en-US" sz="1600" dirty="0">
                <a:solidFill>
                  <a:srgbClr val="CADCFC"/>
                </a:solidFill>
              </a:rPr>
              <a:t>Everything else (RAG, agent orchestration, dashboard) proceeds unaffected — this was a classifier-only fix</a:t>
            </a:r>
            <a:endParaRPr lang="en-US" sz="1600" dirty="0"/>
          </a:p>
        </p:txBody>
      </p:sp>
      <p:sp>
        <p:nvSpPr>
          <p:cNvPr id="12" name="Text 10"/>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Harsha, Ghada &amp; Hüseyin</dc:creator>
  <cp:lastModifiedBy>Harsha, Ghada &amp; Hüseyin</cp:lastModifiedBy>
  <cp:revision>1</cp:revision>
  <dcterms:created xsi:type="dcterms:W3CDTF">2026-07-28T06:41:32Z</dcterms:created>
  <dcterms:modified xsi:type="dcterms:W3CDTF">2026-07-28T06:41:32Z</dcterms:modified>
</cp:coreProperties>
</file>