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this is our PM standup update on the Vehicle Fault Diagnosis and Repair Copilot. I'm Harsha, working with Ghada and Hüseyin as team NodePair for the neue fische bootcamp capstone. Today we'll cover what we've built, an honest status check, a methodology issue we caught and fixed this week, and the model comparison decision we landed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on the agenda today. First, make sure everyone's aligned on what we're actually building and why, since it's easy to lose sight of that mid-sprint. Second, an honest checklist-level status, done, in progress, not started, no sugar-coating. Third, I want to walk through a real methodology issue we caught this week and how we fixed it, not just show the polished final number. Fourth, we'll go through the model comparison all three of us ran and the decision we're making on which model ships. And fifth, we'll confirm the plan for the remaining weeks so everyone knows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project exist. Today, when a fault code fires, someone has to manually cross-reference bulletins and recall databases by hand, that's slow and inconsistent. Separately, warning signs often show up in the sensor readings well before any code actually fires, but right now nobody's watching closely enough to catch that early. Both of these are manual today. What we're building does two things: catches trouble early from continuous telemetry before it becomes a real breakdown, and once a fault is known, classifies it, cites real NHTSA records, and writes an actual repair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end to end. There are two ways data comes in: continuous telemetry on the fleet manager side, which forecasts trouble before it happens, and a sensor or DTC trigger on the service center side, when a code has already fired. Both feed into the same Agent Orchestrator, an LLM that decides which tool to call next, it's not a fixed script. That agent calls three tools: classify the fault, retrieve relevant NHTSA records, and generate a cited repair ticket. Everything shows up on a dashboard that displays the agent's reasoning trace, not just a final answer, so you can see how it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personas here, but one is our headline demo. The primary user is a fleet maintenance manager, watching continuous telemetry across their whole fleet, asking 'these readings are trending toward a fault, do I bring this vehicle in proactively, or is it fine?' That's a scheduling decision, not a repair job. The secondary persona is an OEM or dealer diagnostic engineer, where the vehicle's already at the shop and a fault has already fired, they're asking what's the root cause, has this been seen before, what's the fix. Same underlying agent serves both, but we're leading the demo with the fleet manager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where Week 1 left things, data and foundations, before we move into what's happened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Week 1 stood. Subsystem locked to Battery and EV, classifier dataset cleaned and EDA'd at 175,200 rows, the NHTSA RAG corpus pulled and filtered, that's all done. Baseline classifier is marked reworked, not done, because we caught a methodology issue, next slide covers that in detail. RAG embeddings and retrieval, the agent loop, the dashboard, and deployment are all still ahead of us at this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honest story, not just the polished result. Our first classifier scored a suspicious 1.000 macro F1, which should always be a red flag, not a celebration. We caught the real issue: we were treating each hourly sensor reading as if it were an independent, unrelated row, but it's actually 4 vehicles logged hourly, meaning 4 continuous time series. The dataset's own documentation even confirms it was built for forecasting, not instant classification. So we fixed it properly, rebuilt with rolling and lag features plus a forward-looking target, and the score dropped to a real, honest ~0.60, which is what you'd expect for a genuinely hard forecasting task. Same dataset, same team, no timeline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how we've actually been working, since process matters as much as results here. Every dataset earns its spot, our original dataset vanished from Kaggle mid-prep, so every replacement candidate gets signal-tested before we commit, and one lookalike candidate actually failed that test and got rejected. Leakage gets checked, not assumed, chronological per-vehicle splits, feature derivation checks, no resampling before splitting. And hypotheses get tested, not just stated, we suspected two features were a fake vehicle-identity signal, tested it directly with permutation importance, and found we were wrong, and said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into Week 2, classifier and RAG. This is where most of the real work has happened since we last talked.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status for Week 2. Everything from Week 1 is still done. The big addition: model comparison and decision is now done too, five model families tested across all three of us, and we're shipping Random Forest, more on that in a couple slides. The real gap right now is RAG embeddings and retrieval, and the Supabase and Streamlit skeleton, both genuinely not started yet, chunking is the very next concrete task. The agent tool-calling loop is blocked behind both of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the baseline tree models on our locked metric, Fault Within 6 hours. Random Forest leads on fault recall at 0.594, which is what actually matters most for our business goal, since a missed fault costs more than a false alarm. The ensemble edges it slightly on macro F1, 0.600 versus 0.599, but Random Forest still wins where it counts. LightGBM and XGBoost trail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took the required deep-learning component seriously, four architectures total across the three of us: two LSTM variants from me, a 1D-CNN and another LSTM from Hüseyin, and an RNN from Ghada. At the default threshold, every single one of these skews toward high recall and low precision, that drags macro F1 down below the trees. Threshold tuning, which is free, no retraining needed, closes most of that gap. Ghada's tuned RNN actually posts the best macro F1 in the whole 6-hour comparison, 0.612. But look at the recall column, it drops to 0.316, less than half of Random Forest's 0.594. We also ran a rigor check, re-built the windows so train and test don't overlap at the boundary, to rule out leakage inflating these numbers. The LSTM barely moved, the RNN moved a bit more but the pattern held. Bottom line: neural nets can win on F1 once tuned, but they consistently trade away the recall that actually matters for our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our decision: we're shipping Random Forest, not a neural net, into the actual classify_fault tool. Three reasons. One, it has the best fault recall that actually fits our goal, 59.4% versus 34.1% for the tuned LSTM and 31.6% for the tuned RNN, and our own plan says a missed fault costs more than a false alarm. Two, it's independently reproduced, my Random Forest run and Ghada's landed within 0.001 macro F1 of each other on separate implementations, that's not a fluke. Three, it's simply simpler to ship, no architecture search, no threshold tuning needed to be competitive, no GPU or Keras dependency in the deployed app. To be clear, we didn't skip the deep-learning requirement, we tried it seriously, four architectures, threshold tuning, a leakage rigor check, and it just doesn't beat a well-tuned tree model on a dataset this size. That's a finding worth presenting, not something to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what's next, the RAG pipeline, in five concrete steps. Chunking splits the NHTSA corpus into retrievable units, recalls are short and structured, complaints are free text, so those get chunked differently. Embedding converts each chunk into a vector with a local model, cached to disk so we only embed once. Storing indexes those vectors in pgvector inside Supabase, we don't need a heavier hosted vector database at this corpus size. Retrieval takes a fault code or symptom and returns the top matching chunks with their source for citation. And testing quality is our gate, we run known fault codes against the index and confirm the right record comes back, that decides whether retrieval is trusted enough to actually reach the agent. Chunking is the very next concrete task, starting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update. Quick pointers if anyone wants to dig in: the team is Harsha on classifier and data, Ghada on RAG and agent work who also built the ensemble and RNN, and Hüseyin on frontend and deployment who also ran the CNN and LSTM comparison. Everything's in the repo, tracked on the GitHub board across four weekly milestones with about 28 issues, and the plan doc plus FAQ are in the docs folder as the source of truth.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C4A"/>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8A93B8"/>
                </a:solidFill>
                <a:latin typeface="Calibri" pitchFamily="34" charset="0"/>
                <a:ea typeface="Calibri" pitchFamily="34" charset="-122"/>
                <a:cs typeface="Calibri" pitchFamily="34" charset="-120"/>
              </a:rPr>
              <a:t>1</a:t>
            </a:r>
            <a:endParaRPr lang="en-US" sz="1000" dirty="0"/>
          </a:p>
        </p:txBody>
      </p:sp>
      <p:sp>
        <p:nvSpPr>
          <p:cNvPr id="3" name="Text 1"/>
          <p:cNvSpPr/>
          <p:nvPr/>
        </p:nvSpPr>
        <p:spPr>
          <a:xfrm>
            <a:off x="548640" y="2377440"/>
            <a:ext cx="9144000" cy="274320"/>
          </a:xfrm>
          <a:prstGeom prst="rect">
            <a:avLst/>
          </a:prstGeom>
          <a:noFill/>
          <a:ln/>
        </p:spPr>
        <p:txBody>
          <a:bodyPr wrap="square"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PM STANDUP  ·  PROJECT UPDATE</a:t>
            </a:r>
            <a:endParaRPr lang="en-US" sz="1200" dirty="0"/>
          </a:p>
        </p:txBody>
      </p:sp>
      <p:sp>
        <p:nvSpPr>
          <p:cNvPr id="4" name="Text 2"/>
          <p:cNvSpPr/>
          <p:nvPr/>
        </p:nvSpPr>
        <p:spPr>
          <a:xfrm>
            <a:off x="548640" y="2743200"/>
            <a:ext cx="10515600" cy="822960"/>
          </a:xfrm>
          <a:prstGeom prst="rect">
            <a:avLst/>
          </a:prstGeom>
          <a:noFill/>
          <a:ln/>
        </p:spPr>
        <p:txBody>
          <a:bodyPr wrap="square" rtlCol="0" anchor="ctr"/>
          <a:lstStyle/>
          <a:p>
            <a:pPr indent="0" marL="0">
              <a:buNone/>
            </a:pPr>
            <a:r>
              <a:rPr lang="en-US" sz="3400" dirty="0">
                <a:solidFill>
                  <a:srgbClr val="FFFFFF"/>
                </a:solidFill>
                <a:latin typeface="Cambria" pitchFamily="34" charset="0"/>
                <a:ea typeface="Cambria" pitchFamily="34" charset="-122"/>
                <a:cs typeface="Cambria" pitchFamily="34" charset="-120"/>
              </a:rPr>
              <a:t>Vehicle Fault Diagnosis &amp; Repair Copilot</a:t>
            </a:r>
            <a:endParaRPr lang="en-US" sz="3400" dirty="0"/>
          </a:p>
        </p:txBody>
      </p:sp>
      <p:sp>
        <p:nvSpPr>
          <p:cNvPr id="5" name="Text 3"/>
          <p:cNvSpPr/>
          <p:nvPr/>
        </p:nvSpPr>
        <p:spPr>
          <a:xfrm>
            <a:off x="548640" y="3749040"/>
            <a:ext cx="10058400" cy="365760"/>
          </a:xfrm>
          <a:prstGeom prst="rect">
            <a:avLst/>
          </a:prstGeom>
          <a:noFill/>
          <a:ln/>
        </p:spPr>
        <p:txBody>
          <a:bodyPr wrap="square" rtlCol="0" anchor="ctr"/>
          <a:lstStyle/>
          <a:p>
            <a:pPr indent="0" marL="0">
              <a:buNone/>
            </a:pPr>
            <a:r>
              <a:rPr lang="en-US" sz="1300" dirty="0">
                <a:solidFill>
                  <a:srgbClr val="EEF3FD"/>
                </a:solidFill>
                <a:latin typeface="Calibri" pitchFamily="34" charset="0"/>
                <a:ea typeface="Calibri" pitchFamily="34" charset="-122"/>
                <a:cs typeface="Calibri" pitchFamily="34" charset="-120"/>
              </a:rPr>
              <a:t>Team NodePair: Harsha, Ghada &amp; Hüseyin  ·  neue fische Data Science &amp; AI Bootcamp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9AA3B5"/>
                </a:solidFill>
                <a:latin typeface="Calibri" pitchFamily="34" charset="0"/>
                <a:ea typeface="Calibri" pitchFamily="34" charset="-122"/>
                <a:cs typeface="Calibri" pitchFamily="34" charset="-120"/>
              </a:rPr>
              <a:t>2</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OBJECTIVES</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1E2761"/>
                </a:solidFill>
                <a:latin typeface="Cambria" pitchFamily="34" charset="0"/>
                <a:ea typeface="Cambria" pitchFamily="34" charset="-122"/>
                <a:cs typeface="Cambria" pitchFamily="34" charset="-120"/>
              </a:rPr>
              <a:t>What this update covers</a:t>
            </a:r>
            <a:endParaRPr lang="en-US" sz="3000" dirty="0"/>
          </a:p>
        </p:txBody>
      </p:sp>
      <p:sp>
        <p:nvSpPr>
          <p:cNvPr id="5" name="Shape 3"/>
          <p:cNvSpPr/>
          <p:nvPr/>
        </p:nvSpPr>
        <p:spPr>
          <a:xfrm>
            <a:off x="548640" y="1783080"/>
            <a:ext cx="201168" cy="201168"/>
          </a:xfrm>
          <a:prstGeom prst="roundRect">
            <a:avLst>
              <a:gd name="adj" fmla="val 18182"/>
            </a:avLst>
          </a:prstGeom>
          <a:solidFill>
            <a:srgbClr val="F2A93B"/>
          </a:solidFill>
          <a:ln/>
        </p:spPr>
      </p:sp>
      <p:sp>
        <p:nvSpPr>
          <p:cNvPr id="6" name="Text 4"/>
          <p:cNvSpPr/>
          <p:nvPr/>
        </p:nvSpPr>
        <p:spPr>
          <a:xfrm>
            <a:off x="960120" y="1737360"/>
            <a:ext cx="10241280" cy="548640"/>
          </a:xfrm>
          <a:prstGeom prst="rect">
            <a:avLst/>
          </a:prstGeom>
          <a:noFill/>
          <a:ln/>
        </p:spPr>
        <p:txBody>
          <a:bodyPr wrap="square" rtlCol="0" anchor="t"/>
          <a:lstStyle/>
          <a:p>
            <a:pPr indent="0" marL="0">
              <a:buNone/>
            </a:pPr>
            <a:r>
              <a:rPr lang="en-US" sz="1500" dirty="0">
                <a:solidFill>
                  <a:srgbClr val="5B6478"/>
                </a:solidFill>
                <a:latin typeface="Calibri" pitchFamily="34" charset="0"/>
                <a:ea typeface="Calibri" pitchFamily="34" charset="-122"/>
                <a:cs typeface="Calibri" pitchFamily="34" charset="-120"/>
              </a:rPr>
              <a:t>Get everyone aligned on what we're actually building and why</a:t>
            </a:r>
            <a:endParaRPr lang="en-US" sz="1500" dirty="0"/>
          </a:p>
        </p:txBody>
      </p:sp>
      <p:sp>
        <p:nvSpPr>
          <p:cNvPr id="7" name="Shape 5"/>
          <p:cNvSpPr/>
          <p:nvPr/>
        </p:nvSpPr>
        <p:spPr>
          <a:xfrm>
            <a:off x="548640" y="2468880"/>
            <a:ext cx="201168" cy="201168"/>
          </a:xfrm>
          <a:prstGeom prst="roundRect">
            <a:avLst>
              <a:gd name="adj" fmla="val 18182"/>
            </a:avLst>
          </a:prstGeom>
          <a:solidFill>
            <a:srgbClr val="F2A93B"/>
          </a:solidFill>
          <a:ln/>
        </p:spPr>
      </p:sp>
      <p:sp>
        <p:nvSpPr>
          <p:cNvPr id="8" name="Text 6"/>
          <p:cNvSpPr/>
          <p:nvPr/>
        </p:nvSpPr>
        <p:spPr>
          <a:xfrm>
            <a:off x="960120" y="2423160"/>
            <a:ext cx="10241280" cy="548640"/>
          </a:xfrm>
          <a:prstGeom prst="rect">
            <a:avLst/>
          </a:prstGeom>
          <a:noFill/>
          <a:ln/>
        </p:spPr>
        <p:txBody>
          <a:bodyPr wrap="square" rtlCol="0" anchor="t"/>
          <a:lstStyle/>
          <a:p>
            <a:pPr indent="0" marL="0">
              <a:buNone/>
            </a:pPr>
            <a:r>
              <a:rPr lang="en-US" sz="1500" dirty="0">
                <a:solidFill>
                  <a:srgbClr val="5B6478"/>
                </a:solidFill>
                <a:latin typeface="Calibri" pitchFamily="34" charset="0"/>
                <a:ea typeface="Calibri" pitchFamily="34" charset="-122"/>
                <a:cs typeface="Calibri" pitchFamily="34" charset="-120"/>
              </a:rPr>
              <a:t>Give an honest, checklist-level status: what's done, what's in progress, what's not started yet</a:t>
            </a:r>
            <a:endParaRPr lang="en-US" sz="1500" dirty="0"/>
          </a:p>
        </p:txBody>
      </p:sp>
      <p:sp>
        <p:nvSpPr>
          <p:cNvPr id="9" name="Shape 7"/>
          <p:cNvSpPr/>
          <p:nvPr/>
        </p:nvSpPr>
        <p:spPr>
          <a:xfrm>
            <a:off x="548640" y="3154680"/>
            <a:ext cx="201168" cy="201168"/>
          </a:xfrm>
          <a:prstGeom prst="roundRect">
            <a:avLst>
              <a:gd name="adj" fmla="val 18182"/>
            </a:avLst>
          </a:prstGeom>
          <a:solidFill>
            <a:srgbClr val="F2A93B"/>
          </a:solidFill>
          <a:ln/>
        </p:spPr>
      </p:sp>
      <p:sp>
        <p:nvSpPr>
          <p:cNvPr id="10" name="Text 8"/>
          <p:cNvSpPr/>
          <p:nvPr/>
        </p:nvSpPr>
        <p:spPr>
          <a:xfrm>
            <a:off x="960120" y="3108960"/>
            <a:ext cx="10241280" cy="548640"/>
          </a:xfrm>
          <a:prstGeom prst="rect">
            <a:avLst/>
          </a:prstGeom>
          <a:noFill/>
          <a:ln/>
        </p:spPr>
        <p:txBody>
          <a:bodyPr wrap="square" rtlCol="0" anchor="t"/>
          <a:lstStyle/>
          <a:p>
            <a:pPr indent="0" marL="0">
              <a:buNone/>
            </a:pPr>
            <a:r>
              <a:rPr lang="en-US" sz="1500" dirty="0">
                <a:solidFill>
                  <a:srgbClr val="5B6478"/>
                </a:solidFill>
                <a:latin typeface="Calibri" pitchFamily="34" charset="0"/>
                <a:ea typeface="Calibri" pitchFamily="34" charset="-122"/>
                <a:cs typeface="Calibri" pitchFamily="34" charset="-120"/>
              </a:rPr>
              <a:t>Walk through a methodology catch this week, and how we fixed it, not just the polished result</a:t>
            </a:r>
            <a:endParaRPr lang="en-US" sz="1500" dirty="0"/>
          </a:p>
        </p:txBody>
      </p:sp>
      <p:sp>
        <p:nvSpPr>
          <p:cNvPr id="11" name="Shape 9"/>
          <p:cNvSpPr/>
          <p:nvPr/>
        </p:nvSpPr>
        <p:spPr>
          <a:xfrm>
            <a:off x="548640" y="3840480"/>
            <a:ext cx="201168" cy="201168"/>
          </a:xfrm>
          <a:prstGeom prst="roundRect">
            <a:avLst>
              <a:gd name="adj" fmla="val 18182"/>
            </a:avLst>
          </a:prstGeom>
          <a:solidFill>
            <a:srgbClr val="F2A93B"/>
          </a:solidFill>
          <a:ln/>
        </p:spPr>
      </p:sp>
      <p:sp>
        <p:nvSpPr>
          <p:cNvPr id="12" name="Text 10"/>
          <p:cNvSpPr/>
          <p:nvPr/>
        </p:nvSpPr>
        <p:spPr>
          <a:xfrm>
            <a:off x="960120" y="3794760"/>
            <a:ext cx="10241280" cy="548640"/>
          </a:xfrm>
          <a:prstGeom prst="rect">
            <a:avLst/>
          </a:prstGeom>
          <a:noFill/>
          <a:ln/>
        </p:spPr>
        <p:txBody>
          <a:bodyPr wrap="square" rtlCol="0" anchor="t"/>
          <a:lstStyle/>
          <a:p>
            <a:pPr indent="0" marL="0">
              <a:buNone/>
            </a:pPr>
            <a:r>
              <a:rPr lang="en-US" sz="1500" dirty="0">
                <a:solidFill>
                  <a:srgbClr val="5B6478"/>
                </a:solidFill>
                <a:latin typeface="Calibri" pitchFamily="34" charset="0"/>
                <a:ea typeface="Calibri" pitchFamily="34" charset="-122"/>
                <a:cs typeface="Calibri" pitchFamily="34" charset="-120"/>
              </a:rPr>
              <a:t>Walk through the model comparison across all three of us, and the decision we're making</a:t>
            </a:r>
            <a:endParaRPr lang="en-US" sz="1500" dirty="0"/>
          </a:p>
        </p:txBody>
      </p:sp>
      <p:sp>
        <p:nvSpPr>
          <p:cNvPr id="13" name="Shape 11"/>
          <p:cNvSpPr/>
          <p:nvPr/>
        </p:nvSpPr>
        <p:spPr>
          <a:xfrm>
            <a:off x="548640" y="4526280"/>
            <a:ext cx="201168" cy="201168"/>
          </a:xfrm>
          <a:prstGeom prst="roundRect">
            <a:avLst>
              <a:gd name="adj" fmla="val 18182"/>
            </a:avLst>
          </a:prstGeom>
          <a:solidFill>
            <a:srgbClr val="F2A93B"/>
          </a:solidFill>
          <a:ln/>
        </p:spPr>
      </p:sp>
      <p:sp>
        <p:nvSpPr>
          <p:cNvPr id="14" name="Text 12"/>
          <p:cNvSpPr/>
          <p:nvPr/>
        </p:nvSpPr>
        <p:spPr>
          <a:xfrm>
            <a:off x="960120" y="4480560"/>
            <a:ext cx="10241280" cy="548640"/>
          </a:xfrm>
          <a:prstGeom prst="rect">
            <a:avLst/>
          </a:prstGeom>
          <a:noFill/>
          <a:ln/>
        </p:spPr>
        <p:txBody>
          <a:bodyPr wrap="square" rtlCol="0" anchor="t"/>
          <a:lstStyle/>
          <a:p>
            <a:pPr indent="0" marL="0">
              <a:buNone/>
            </a:pPr>
            <a:r>
              <a:rPr lang="en-US" sz="1500" dirty="0">
                <a:solidFill>
                  <a:srgbClr val="5B6478"/>
                </a:solidFill>
                <a:latin typeface="Calibri" pitchFamily="34" charset="0"/>
                <a:ea typeface="Calibri" pitchFamily="34" charset="-122"/>
                <a:cs typeface="Calibri" pitchFamily="34" charset="-120"/>
              </a:rPr>
              <a:t>Confirm the plan for the remaining weeks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9AA3B5"/>
                </a:solidFill>
                <a:latin typeface="Calibri" pitchFamily="34" charset="0"/>
                <a:ea typeface="Calibri" pitchFamily="34" charset="-122"/>
                <a:cs typeface="Calibri" pitchFamily="34" charset="-120"/>
              </a:rPr>
              <a:t>3</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1E2761"/>
                </a:solidFill>
                <a:latin typeface="Cambria" pitchFamily="34" charset="0"/>
                <a:ea typeface="Cambria" pitchFamily="34" charset="-122"/>
                <a:cs typeface="Cambria" pitchFamily="34" charset="-120"/>
              </a:rPr>
              <a:t>Why this project exists</a:t>
            </a:r>
            <a:endParaRPr lang="en-US" sz="3000" dirty="0"/>
          </a:p>
        </p:txBody>
      </p:sp>
      <p:sp>
        <p:nvSpPr>
          <p:cNvPr id="5" name="Text 3"/>
          <p:cNvSpPr/>
          <p:nvPr/>
        </p:nvSpPr>
        <p:spPr>
          <a:xfrm>
            <a:off x="548640" y="1737360"/>
            <a:ext cx="11064240" cy="502920"/>
          </a:xfrm>
          <a:prstGeom prst="rect">
            <a:avLst/>
          </a:prstGeom>
          <a:noFill/>
          <a:ln/>
        </p:spPr>
        <p:txBody>
          <a:bodyPr wrap="square" rtlCol="0" anchor="ctr"/>
          <a:lstStyle/>
          <a:p>
            <a:pPr indent="0" marL="0">
              <a:buNone/>
            </a:pPr>
            <a:r>
              <a:rPr lang="en-US" sz="1500" dirty="0">
                <a:solidFill>
                  <a:srgbClr val="5B6478"/>
                </a:solidFill>
                <a:latin typeface="Calibri" pitchFamily="34" charset="0"/>
                <a:ea typeface="Calibri" pitchFamily="34" charset="-122"/>
                <a:cs typeface="Calibri" pitchFamily="34" charset="-120"/>
              </a:rPr>
              <a:t>A fault code fires, and interpreting it today means a human manually cross-referencing bulletins and recall databases</a:t>
            </a:r>
            <a:endParaRPr lang="en-US" sz="1500" dirty="0"/>
          </a:p>
        </p:txBody>
      </p:sp>
      <p:sp>
        <p:nvSpPr>
          <p:cNvPr id="6" name="Text 4"/>
          <p:cNvSpPr/>
          <p:nvPr/>
        </p:nvSpPr>
        <p:spPr>
          <a:xfrm>
            <a:off x="548640" y="2304288"/>
            <a:ext cx="11064240" cy="502920"/>
          </a:xfrm>
          <a:prstGeom prst="rect">
            <a:avLst/>
          </a:prstGeom>
          <a:noFill/>
          <a:ln/>
        </p:spPr>
        <p:txBody>
          <a:bodyPr wrap="square" rtlCol="0" anchor="ctr"/>
          <a:lstStyle/>
          <a:p>
            <a:pPr indent="0" marL="0">
              <a:buNone/>
            </a:pPr>
            <a:r>
              <a:rPr lang="en-US" sz="1500" dirty="0">
                <a:solidFill>
                  <a:srgbClr val="5B6478"/>
                </a:solidFill>
                <a:latin typeface="Calibri" pitchFamily="34" charset="0"/>
                <a:ea typeface="Calibri" pitchFamily="34" charset="-122"/>
                <a:cs typeface="Calibri" pitchFamily="34" charset="-120"/>
              </a:rPr>
              <a:t>Separately, warning signs often show up in the sensor trend well before any code fires, but nobody is watching closely enough to catch it early</a:t>
            </a:r>
            <a:endParaRPr lang="en-US" sz="1500" dirty="0"/>
          </a:p>
        </p:txBody>
      </p:sp>
      <p:sp>
        <p:nvSpPr>
          <p:cNvPr id="7" name="Text 5"/>
          <p:cNvSpPr/>
          <p:nvPr/>
        </p:nvSpPr>
        <p:spPr>
          <a:xfrm>
            <a:off x="548640" y="2871216"/>
            <a:ext cx="11064240" cy="502920"/>
          </a:xfrm>
          <a:prstGeom prst="rect">
            <a:avLst/>
          </a:prstGeom>
          <a:noFill/>
          <a:ln/>
        </p:spPr>
        <p:txBody>
          <a:bodyPr wrap="square" rtlCol="0" anchor="ctr"/>
          <a:lstStyle/>
          <a:p>
            <a:pPr indent="0" marL="0">
              <a:buNone/>
            </a:pPr>
            <a:r>
              <a:rPr lang="en-US" sz="1500" dirty="0">
                <a:solidFill>
                  <a:srgbClr val="5B6478"/>
                </a:solidFill>
                <a:latin typeface="Calibri" pitchFamily="34" charset="0"/>
                <a:ea typeface="Calibri" pitchFamily="34" charset="-122"/>
                <a:cs typeface="Calibri" pitchFamily="34" charset="-120"/>
              </a:rPr>
              <a:t>Both situations are slow, manual, and inconsistent today</a:t>
            </a:r>
            <a:endParaRPr lang="en-US" sz="1500" dirty="0"/>
          </a:p>
        </p:txBody>
      </p:sp>
      <p:sp>
        <p:nvSpPr>
          <p:cNvPr id="8" name="Shape 6"/>
          <p:cNvSpPr/>
          <p:nvPr/>
        </p:nvSpPr>
        <p:spPr>
          <a:xfrm>
            <a:off x="548640" y="3794760"/>
            <a:ext cx="11064240" cy="1417320"/>
          </a:xfrm>
          <a:prstGeom prst="roundRect">
            <a:avLst>
              <a:gd name="adj" fmla="val 3871"/>
            </a:avLst>
          </a:prstGeom>
          <a:solidFill>
            <a:srgbClr val="1E2761"/>
          </a:solidFill>
          <a:ln/>
        </p:spPr>
      </p:sp>
      <p:sp>
        <p:nvSpPr>
          <p:cNvPr id="9" name="Text 7"/>
          <p:cNvSpPr/>
          <p:nvPr/>
        </p:nvSpPr>
        <p:spPr>
          <a:xfrm>
            <a:off x="914400" y="4023360"/>
            <a:ext cx="10424160" cy="1005840"/>
          </a:xfrm>
          <a:prstGeom prst="rect">
            <a:avLst/>
          </a:prstGeom>
          <a:noFill/>
          <a:ln/>
        </p:spPr>
        <p:txBody>
          <a:bodyPr wrap="square" rtlCol="0" anchor="ctr"/>
          <a:lstStyle/>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Catch trouble early from continuous telemetry, before it becomes a breakdown</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Once a fault is known, classify it, cite real NHTSA records, and write a repair recommendation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9AA3B5"/>
                </a:solidFill>
                <a:latin typeface="Calibri" pitchFamily="34" charset="0"/>
                <a:ea typeface="Calibri" pitchFamily="34" charset="-122"/>
                <a:cs typeface="Calibri" pitchFamily="34" charset="-120"/>
              </a:rPr>
              <a:t>4</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THE SYSTEM</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1E2761"/>
                </a:solidFill>
                <a:latin typeface="Cambria" pitchFamily="34" charset="0"/>
                <a:ea typeface="Cambria" pitchFamily="34" charset="-122"/>
                <a:cs typeface="Cambria" pitchFamily="34" charset="-120"/>
              </a:rPr>
              <a:t>What we're building</a:t>
            </a:r>
            <a:endParaRPr lang="en-US" sz="3000" dirty="0"/>
          </a:p>
        </p:txBody>
      </p:sp>
      <p:sp>
        <p:nvSpPr>
          <p:cNvPr id="5" name="Shape 3"/>
          <p:cNvSpPr/>
          <p:nvPr/>
        </p:nvSpPr>
        <p:spPr>
          <a:xfrm>
            <a:off x="548640" y="1828800"/>
            <a:ext cx="2331720" cy="777240"/>
          </a:xfrm>
          <a:prstGeom prst="roundRect">
            <a:avLst>
              <a:gd name="adj" fmla="val 7059"/>
            </a:avLst>
          </a:prstGeom>
          <a:solidFill>
            <a:srgbClr val="FFFFFF"/>
          </a:solidFill>
          <a:ln w="12700">
            <a:solidFill>
              <a:srgbClr val="D7DEEA"/>
            </a:solidFill>
            <a:prstDash val="solid"/>
          </a:ln>
        </p:spPr>
      </p:sp>
      <p:sp>
        <p:nvSpPr>
          <p:cNvPr id="6" name="Text 4"/>
          <p:cNvSpPr/>
          <p:nvPr/>
        </p:nvSpPr>
        <p:spPr>
          <a:xfrm>
            <a:off x="731520" y="1938528"/>
            <a:ext cx="201168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Continuous telemetry</a:t>
            </a:r>
            <a:endParaRPr lang="en-US" sz="1300" dirty="0"/>
          </a:p>
        </p:txBody>
      </p:sp>
      <p:sp>
        <p:nvSpPr>
          <p:cNvPr id="7" name="Text 5"/>
          <p:cNvSpPr/>
          <p:nvPr/>
        </p:nvSpPr>
        <p:spPr>
          <a:xfrm>
            <a:off x="731520" y="2212848"/>
            <a:ext cx="2011680" cy="365760"/>
          </a:xfrm>
          <a:prstGeom prst="rect">
            <a:avLst/>
          </a:prstGeom>
          <a:noFill/>
          <a:ln/>
        </p:spPr>
        <p:txBody>
          <a:bodyPr wrap="square" rtlCol="0" anchor="ctr"/>
          <a:lstStyle/>
          <a:p>
            <a:pPr indent="0" marL="0">
              <a:buNone/>
            </a:pPr>
            <a:r>
              <a:rPr lang="en-US" sz="1050" dirty="0">
                <a:solidFill>
                  <a:srgbClr val="5B6478"/>
                </a:solidFill>
                <a:latin typeface="Calibri" pitchFamily="34" charset="0"/>
                <a:ea typeface="Calibri" pitchFamily="34" charset="-122"/>
                <a:cs typeface="Calibri" pitchFamily="34" charset="-120"/>
              </a:rPr>
              <a:t>Fleet manager side — forecasts trouble before it happens</a:t>
            </a:r>
            <a:endParaRPr lang="en-US" sz="1050" dirty="0"/>
          </a:p>
        </p:txBody>
      </p:sp>
      <p:sp>
        <p:nvSpPr>
          <p:cNvPr id="8" name="Shape 6"/>
          <p:cNvSpPr/>
          <p:nvPr/>
        </p:nvSpPr>
        <p:spPr>
          <a:xfrm>
            <a:off x="548640" y="2788920"/>
            <a:ext cx="2331720" cy="777240"/>
          </a:xfrm>
          <a:prstGeom prst="roundRect">
            <a:avLst>
              <a:gd name="adj" fmla="val 7059"/>
            </a:avLst>
          </a:prstGeom>
          <a:solidFill>
            <a:srgbClr val="FFFFFF"/>
          </a:solidFill>
          <a:ln w="12700">
            <a:solidFill>
              <a:srgbClr val="D7DEEA"/>
            </a:solidFill>
            <a:prstDash val="solid"/>
          </a:ln>
        </p:spPr>
      </p:sp>
      <p:sp>
        <p:nvSpPr>
          <p:cNvPr id="9" name="Text 7"/>
          <p:cNvSpPr/>
          <p:nvPr/>
        </p:nvSpPr>
        <p:spPr>
          <a:xfrm>
            <a:off x="731520" y="2898648"/>
            <a:ext cx="201168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Sensor / DTC trigger</a:t>
            </a:r>
            <a:endParaRPr lang="en-US" sz="1300" dirty="0"/>
          </a:p>
        </p:txBody>
      </p:sp>
      <p:sp>
        <p:nvSpPr>
          <p:cNvPr id="10" name="Text 8"/>
          <p:cNvSpPr/>
          <p:nvPr/>
        </p:nvSpPr>
        <p:spPr>
          <a:xfrm>
            <a:off x="731520" y="3172968"/>
            <a:ext cx="2011680" cy="365760"/>
          </a:xfrm>
          <a:prstGeom prst="rect">
            <a:avLst/>
          </a:prstGeom>
          <a:noFill/>
          <a:ln/>
        </p:spPr>
        <p:txBody>
          <a:bodyPr wrap="square" rtlCol="0" anchor="ctr"/>
          <a:lstStyle/>
          <a:p>
            <a:pPr indent="0" marL="0">
              <a:buNone/>
            </a:pPr>
            <a:r>
              <a:rPr lang="en-US" sz="1050" dirty="0">
                <a:solidFill>
                  <a:srgbClr val="5B6478"/>
                </a:solidFill>
                <a:latin typeface="Calibri" pitchFamily="34" charset="0"/>
                <a:ea typeface="Calibri" pitchFamily="34" charset="-122"/>
                <a:cs typeface="Calibri" pitchFamily="34" charset="-120"/>
              </a:rPr>
              <a:t>Service center side — a code has already fired</a:t>
            </a:r>
            <a:endParaRPr lang="en-US" sz="1050" dirty="0"/>
          </a:p>
        </p:txBody>
      </p:sp>
      <p:sp>
        <p:nvSpPr>
          <p:cNvPr id="11" name="Text 9"/>
          <p:cNvSpPr/>
          <p:nvPr/>
        </p:nvSpPr>
        <p:spPr>
          <a:xfrm>
            <a:off x="2926080" y="2514600"/>
            <a:ext cx="365760" cy="365760"/>
          </a:xfrm>
          <a:prstGeom prst="rect">
            <a:avLst/>
          </a:prstGeom>
          <a:noFill/>
          <a:ln/>
        </p:spPr>
        <p:txBody>
          <a:bodyPr wrap="square" rtlCol="0" anchor="ctr"/>
          <a:lstStyle/>
          <a:p>
            <a:pPr algn="ctr" indent="0" marL="0">
              <a:buNone/>
            </a:pPr>
            <a:r>
              <a:rPr lang="en-US" sz="2000" dirty="0">
                <a:solidFill>
                  <a:srgbClr val="F2A93B"/>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3337560" y="2194560"/>
            <a:ext cx="2286000" cy="1005840"/>
          </a:xfrm>
          <a:prstGeom prst="roundRect">
            <a:avLst>
              <a:gd name="adj" fmla="val 5455"/>
            </a:avLst>
          </a:prstGeom>
          <a:solidFill>
            <a:srgbClr val="1E2761"/>
          </a:solidFill>
          <a:ln/>
        </p:spPr>
      </p:sp>
      <p:sp>
        <p:nvSpPr>
          <p:cNvPr id="13" name="Text 11"/>
          <p:cNvSpPr/>
          <p:nvPr/>
        </p:nvSpPr>
        <p:spPr>
          <a:xfrm>
            <a:off x="3520440" y="2331720"/>
            <a:ext cx="196596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 Orchestrator (LLM)</a:t>
            </a:r>
            <a:endParaRPr lang="en-US" sz="1300" dirty="0"/>
          </a:p>
        </p:txBody>
      </p:sp>
      <p:sp>
        <p:nvSpPr>
          <p:cNvPr id="14" name="Text 12"/>
          <p:cNvSpPr/>
          <p:nvPr/>
        </p:nvSpPr>
        <p:spPr>
          <a:xfrm>
            <a:off x="3520440" y="2743200"/>
            <a:ext cx="1965960" cy="457200"/>
          </a:xfrm>
          <a:prstGeom prst="rect">
            <a:avLst/>
          </a:prstGeom>
          <a:noFill/>
          <a:ln/>
        </p:spPr>
        <p:txBody>
          <a:bodyPr wrap="square" rtlCol="0" anchor="ctr"/>
          <a:lstStyle/>
          <a:p>
            <a:pPr indent="0" marL="0">
              <a:buNone/>
            </a:pPr>
            <a:r>
              <a:rPr lang="en-US" sz="1050" dirty="0">
                <a:solidFill>
                  <a:srgbClr val="EEF3FD"/>
                </a:solidFill>
                <a:latin typeface="Calibri" pitchFamily="34" charset="0"/>
                <a:ea typeface="Calibri" pitchFamily="34" charset="-122"/>
                <a:cs typeface="Calibri" pitchFamily="34" charset="-120"/>
              </a:rPr>
              <a:t>Decides which tool to call next, not a fixed script</a:t>
            </a:r>
            <a:endParaRPr lang="en-US" sz="1050" dirty="0"/>
          </a:p>
        </p:txBody>
      </p:sp>
      <p:sp>
        <p:nvSpPr>
          <p:cNvPr id="15" name="Text 13"/>
          <p:cNvSpPr/>
          <p:nvPr/>
        </p:nvSpPr>
        <p:spPr>
          <a:xfrm>
            <a:off x="5715000" y="2514600"/>
            <a:ext cx="365760" cy="365760"/>
          </a:xfrm>
          <a:prstGeom prst="rect">
            <a:avLst/>
          </a:prstGeom>
          <a:noFill/>
          <a:ln/>
        </p:spPr>
        <p:txBody>
          <a:bodyPr wrap="square" rtlCol="0" anchor="ctr"/>
          <a:lstStyle/>
          <a:p>
            <a:pPr algn="ctr" indent="0" marL="0">
              <a:buNone/>
            </a:pPr>
            <a:r>
              <a:rPr lang="en-US" sz="2000" dirty="0">
                <a:solidFill>
                  <a:srgbClr val="F2A93B"/>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126480" y="2011680"/>
            <a:ext cx="2743200" cy="1371600"/>
          </a:xfrm>
          <a:prstGeom prst="roundRect">
            <a:avLst>
              <a:gd name="adj" fmla="val 4000"/>
            </a:avLst>
          </a:prstGeom>
          <a:solidFill>
            <a:srgbClr val="1E2761"/>
          </a:solidFill>
          <a:ln/>
        </p:spPr>
      </p:sp>
      <p:sp>
        <p:nvSpPr>
          <p:cNvPr id="17" name="Text 15"/>
          <p:cNvSpPr/>
          <p:nvPr/>
        </p:nvSpPr>
        <p:spPr>
          <a:xfrm>
            <a:off x="6309360" y="2148840"/>
            <a:ext cx="2423160" cy="5486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Tools: classify → retrieve → generate</a:t>
            </a:r>
            <a:endParaRPr lang="en-US" sz="1300" dirty="0"/>
          </a:p>
        </p:txBody>
      </p:sp>
      <p:sp>
        <p:nvSpPr>
          <p:cNvPr id="18" name="Text 16"/>
          <p:cNvSpPr/>
          <p:nvPr/>
        </p:nvSpPr>
        <p:spPr>
          <a:xfrm>
            <a:off x="6309360" y="2697480"/>
            <a:ext cx="2423160" cy="640080"/>
          </a:xfrm>
          <a:prstGeom prst="rect">
            <a:avLst/>
          </a:prstGeom>
          <a:noFill/>
          <a:ln/>
        </p:spPr>
        <p:txBody>
          <a:bodyPr wrap="square" rtlCol="0" anchor="ctr"/>
          <a:lstStyle/>
          <a:p>
            <a:pPr indent="0" marL="0">
              <a:buNone/>
            </a:pPr>
            <a:r>
              <a:rPr lang="en-US" sz="1050" dirty="0">
                <a:solidFill>
                  <a:srgbClr val="EEF3FD"/>
                </a:solidFill>
                <a:latin typeface="Calibri" pitchFamily="34" charset="0"/>
                <a:ea typeface="Calibri" pitchFamily="34" charset="-122"/>
                <a:cs typeface="Calibri" pitchFamily="34" charset="-120"/>
              </a:rPr>
              <a:t>Fault classifier, NHTSA search, cited repair ticket</a:t>
            </a:r>
            <a:endParaRPr lang="en-US" sz="1050" dirty="0"/>
          </a:p>
        </p:txBody>
      </p:sp>
      <p:sp>
        <p:nvSpPr>
          <p:cNvPr id="19" name="Text 17"/>
          <p:cNvSpPr/>
          <p:nvPr/>
        </p:nvSpPr>
        <p:spPr>
          <a:xfrm>
            <a:off x="9098280" y="2514600"/>
            <a:ext cx="365760" cy="365760"/>
          </a:xfrm>
          <a:prstGeom prst="rect">
            <a:avLst/>
          </a:prstGeom>
          <a:noFill/>
          <a:ln/>
        </p:spPr>
        <p:txBody>
          <a:bodyPr wrap="square" rtlCol="0" anchor="ctr"/>
          <a:lstStyle/>
          <a:p>
            <a:pPr algn="ctr" indent="0" marL="0">
              <a:buNone/>
            </a:pPr>
            <a:r>
              <a:rPr lang="en-US" sz="2000" dirty="0">
                <a:solidFill>
                  <a:srgbClr val="F2A93B"/>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509760" y="2194560"/>
            <a:ext cx="2103120" cy="1005840"/>
          </a:xfrm>
          <a:prstGeom prst="roundRect">
            <a:avLst>
              <a:gd name="adj" fmla="val 5455"/>
            </a:avLst>
          </a:prstGeom>
          <a:solidFill>
            <a:srgbClr val="FFFFFF"/>
          </a:solidFill>
          <a:ln w="12700">
            <a:solidFill>
              <a:srgbClr val="D7DEEA"/>
            </a:solidFill>
            <a:prstDash val="solid"/>
          </a:ln>
        </p:spPr>
      </p:sp>
      <p:sp>
        <p:nvSpPr>
          <p:cNvPr id="21" name="Text 19"/>
          <p:cNvSpPr/>
          <p:nvPr/>
        </p:nvSpPr>
        <p:spPr>
          <a:xfrm>
            <a:off x="9692640" y="2331720"/>
            <a:ext cx="178308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Dashboard</a:t>
            </a:r>
            <a:endParaRPr lang="en-US" sz="1300" dirty="0"/>
          </a:p>
        </p:txBody>
      </p:sp>
      <p:sp>
        <p:nvSpPr>
          <p:cNvPr id="22" name="Text 20"/>
          <p:cNvSpPr/>
          <p:nvPr/>
        </p:nvSpPr>
        <p:spPr>
          <a:xfrm>
            <a:off x="9692640" y="2606040"/>
            <a:ext cx="1783080" cy="548640"/>
          </a:xfrm>
          <a:prstGeom prst="rect">
            <a:avLst/>
          </a:prstGeom>
          <a:noFill/>
          <a:ln/>
        </p:spPr>
        <p:txBody>
          <a:bodyPr wrap="square" rtlCol="0" anchor="ctr"/>
          <a:lstStyle/>
          <a:p>
            <a:pPr indent="0" marL="0">
              <a:buNone/>
            </a:pPr>
            <a:r>
              <a:rPr lang="en-US" sz="1050" dirty="0">
                <a:solidFill>
                  <a:srgbClr val="5B6478"/>
                </a:solidFill>
                <a:latin typeface="Calibri" pitchFamily="34" charset="0"/>
                <a:ea typeface="Calibri" pitchFamily="34" charset="-122"/>
                <a:cs typeface="Calibri" pitchFamily="34" charset="-120"/>
              </a:rPr>
              <a:t>Shows the reasoning trace + final ticket, not just an answer</a:t>
            </a:r>
            <a:endParaRPr lang="en-US" sz="1050" dirty="0"/>
          </a:p>
        </p:txBody>
      </p:sp>
      <p:sp>
        <p:nvSpPr>
          <p:cNvPr id="23" name="Text 21"/>
          <p:cNvSpPr/>
          <p:nvPr/>
        </p:nvSpPr>
        <p:spPr>
          <a:xfrm>
            <a:off x="548640" y="4023360"/>
            <a:ext cx="11064240" cy="64008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Two ways in, one agent — forecasting for the fleet manager, a DTC trigger for the service center. “Agentic” means the LLM decides what to do next, not a fixed pipeline.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9AA3B5"/>
                </a:solidFill>
                <a:latin typeface="Calibri" pitchFamily="34" charset="0"/>
                <a:ea typeface="Calibri" pitchFamily="34" charset="-122"/>
                <a:cs typeface="Calibri" pitchFamily="34" charset="-120"/>
              </a:rPr>
              <a:t>5</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TARGET USER</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1E2761"/>
                </a:solidFill>
                <a:latin typeface="Cambria" pitchFamily="34" charset="0"/>
                <a:ea typeface="Cambria" pitchFamily="34" charset="-122"/>
                <a:cs typeface="Cambria" pitchFamily="34" charset="-120"/>
              </a:rPr>
              <a:t>Who this is for, and why</a:t>
            </a:r>
            <a:endParaRPr lang="en-US" sz="3000" dirty="0"/>
          </a:p>
        </p:txBody>
      </p:sp>
      <p:sp>
        <p:nvSpPr>
          <p:cNvPr id="5" name="Shape 3"/>
          <p:cNvSpPr/>
          <p:nvPr/>
        </p:nvSpPr>
        <p:spPr>
          <a:xfrm>
            <a:off x="548640" y="1737360"/>
            <a:ext cx="5212080" cy="3566160"/>
          </a:xfrm>
          <a:prstGeom prst="roundRect">
            <a:avLst>
              <a:gd name="adj" fmla="val 1538"/>
            </a:avLst>
          </a:prstGeom>
          <a:solidFill>
            <a:srgbClr val="1E2761"/>
          </a:solidFill>
          <a:ln/>
        </p:spPr>
      </p:sp>
      <p:sp>
        <p:nvSpPr>
          <p:cNvPr id="6" name="Text 4"/>
          <p:cNvSpPr/>
          <p:nvPr/>
        </p:nvSpPr>
        <p:spPr>
          <a:xfrm>
            <a:off x="822960" y="2011680"/>
            <a:ext cx="466344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Fleet maintenance manager</a:t>
            </a:r>
            <a:endParaRPr lang="en-US" sz="1800" dirty="0"/>
          </a:p>
        </p:txBody>
      </p:sp>
      <p:sp>
        <p:nvSpPr>
          <p:cNvPr id="7" name="Text 5"/>
          <p:cNvSpPr/>
          <p:nvPr/>
        </p:nvSpPr>
        <p:spPr>
          <a:xfrm>
            <a:off x="822960" y="2395728"/>
            <a:ext cx="4663440" cy="274320"/>
          </a:xfrm>
          <a:prstGeom prst="rect">
            <a:avLst/>
          </a:prstGeom>
          <a:noFill/>
          <a:ln/>
        </p:spPr>
        <p:txBody>
          <a:bodyPr wrap="square"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PRIMARY</a:t>
            </a:r>
            <a:endParaRPr lang="en-US" sz="1100" dirty="0"/>
          </a:p>
        </p:txBody>
      </p:sp>
      <p:sp>
        <p:nvSpPr>
          <p:cNvPr id="8" name="Text 6"/>
          <p:cNvSpPr/>
          <p:nvPr/>
        </p:nvSpPr>
        <p:spPr>
          <a:xfrm>
            <a:off x="822960" y="2834640"/>
            <a:ext cx="4663440" cy="2194560"/>
          </a:xfrm>
          <a:prstGeom prst="rect">
            <a:avLst/>
          </a:prstGeom>
          <a:noFill/>
          <a:ln/>
        </p:spPr>
        <p:txBody>
          <a:bodyPr wrap="square" rtlCol="0" anchor="ctr"/>
          <a:lstStyle/>
          <a:p>
            <a:pPr marL="342900" indent="-342900">
              <a:spcAft>
                <a:spcPts val="1200"/>
              </a:spcAft>
              <a:buSzPct val="100000"/>
              <a:buChar char="•"/>
            </a:pPr>
            <a:r>
              <a:rPr lang="en-US" sz="1350" dirty="0">
                <a:solidFill>
                  <a:srgbClr val="EEF3FD"/>
                </a:solidFill>
                <a:latin typeface="Calibri" pitchFamily="34" charset="0"/>
                <a:ea typeface="Calibri" pitchFamily="34" charset="-122"/>
                <a:cs typeface="Calibri" pitchFamily="34" charset="-120"/>
              </a:rPr>
              <a:t>Watches continuous telemetry across the whole fleet</a:t>
            </a:r>
            <a:endParaRPr lang="en-US" sz="1350" dirty="0"/>
          </a:p>
          <a:p>
            <a:pPr marL="342900" indent="-342900">
              <a:spcAft>
                <a:spcPts val="1200"/>
              </a:spcAft>
              <a:buSzPct val="100000"/>
              <a:buChar char="•"/>
            </a:pPr>
            <a:r>
              <a:rPr lang="en-US" sz="1350" dirty="0">
                <a:solidFill>
                  <a:srgbClr val="EEF3FD"/>
                </a:solidFill>
                <a:latin typeface="Calibri" pitchFamily="34" charset="0"/>
                <a:ea typeface="Calibri" pitchFamily="34" charset="-122"/>
                <a:cs typeface="Calibri" pitchFamily="34" charset="-120"/>
              </a:rPr>
              <a:t>Question: readings are trending toward a fault, bring it in proactively, or is it fine?</a:t>
            </a:r>
            <a:endParaRPr lang="en-US" sz="1350" dirty="0"/>
          </a:p>
          <a:p>
            <a:pPr marL="342900" indent="-342900">
              <a:spcAft>
                <a:spcPts val="1200"/>
              </a:spcAft>
              <a:buSzPct val="100000"/>
              <a:buChar char="•"/>
            </a:pPr>
            <a:r>
              <a:rPr lang="en-US" sz="1350" dirty="0">
                <a:solidFill>
                  <a:srgbClr val="EEF3FD"/>
                </a:solidFill>
                <a:latin typeface="Calibri" pitchFamily="34" charset="0"/>
                <a:ea typeface="Calibri" pitchFamily="34" charset="-122"/>
                <a:cs typeface="Calibri" pitchFamily="34" charset="-120"/>
              </a:rPr>
              <a:t>A proactive scheduling decision, not a repair job</a:t>
            </a:r>
            <a:endParaRPr lang="en-US" sz="1350" dirty="0"/>
          </a:p>
        </p:txBody>
      </p:sp>
      <p:sp>
        <p:nvSpPr>
          <p:cNvPr id="9" name="Shape 7"/>
          <p:cNvSpPr/>
          <p:nvPr/>
        </p:nvSpPr>
        <p:spPr>
          <a:xfrm>
            <a:off x="6126480" y="1737360"/>
            <a:ext cx="5212080" cy="3566160"/>
          </a:xfrm>
          <a:prstGeom prst="roundRect">
            <a:avLst>
              <a:gd name="adj" fmla="val 1538"/>
            </a:avLst>
          </a:prstGeom>
          <a:solidFill>
            <a:srgbClr val="FFFFFF"/>
          </a:solidFill>
          <a:ln w="12700">
            <a:solidFill>
              <a:srgbClr val="D7DEEA"/>
            </a:solidFill>
            <a:prstDash val="solid"/>
          </a:ln>
        </p:spPr>
      </p:sp>
      <p:sp>
        <p:nvSpPr>
          <p:cNvPr id="10" name="Text 8"/>
          <p:cNvSpPr/>
          <p:nvPr/>
        </p:nvSpPr>
        <p:spPr>
          <a:xfrm>
            <a:off x="6400800" y="2011680"/>
            <a:ext cx="4663440" cy="3657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OEM / dealer diagnostic engineer</a:t>
            </a:r>
            <a:endParaRPr lang="en-US" sz="1800" dirty="0"/>
          </a:p>
        </p:txBody>
      </p:sp>
      <p:sp>
        <p:nvSpPr>
          <p:cNvPr id="11" name="Text 9"/>
          <p:cNvSpPr/>
          <p:nvPr/>
        </p:nvSpPr>
        <p:spPr>
          <a:xfrm>
            <a:off x="6400800" y="2395728"/>
            <a:ext cx="4663440" cy="274320"/>
          </a:xfrm>
          <a:prstGeom prst="rect">
            <a:avLst/>
          </a:prstGeom>
          <a:noFill/>
          <a:ln/>
        </p:spPr>
        <p:txBody>
          <a:bodyPr wrap="square"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SECONDARY</a:t>
            </a:r>
            <a:endParaRPr lang="en-US" sz="1100" dirty="0"/>
          </a:p>
        </p:txBody>
      </p:sp>
      <p:sp>
        <p:nvSpPr>
          <p:cNvPr id="12" name="Text 10"/>
          <p:cNvSpPr/>
          <p:nvPr/>
        </p:nvSpPr>
        <p:spPr>
          <a:xfrm>
            <a:off x="6400800" y="2834640"/>
            <a:ext cx="4663440" cy="2194560"/>
          </a:xfrm>
          <a:prstGeom prst="rect">
            <a:avLst/>
          </a:prstGeom>
          <a:noFill/>
          <a:ln/>
        </p:spPr>
        <p:txBody>
          <a:bodyPr wrap="square" rtlCol="0" anchor="ctr"/>
          <a:lstStyle/>
          <a:p>
            <a:pPr marL="342900" indent="-342900">
              <a:spcAft>
                <a:spcPts val="1200"/>
              </a:spcAft>
              <a:buSzPct val="100000"/>
              <a:buChar char="•"/>
            </a:pPr>
            <a:r>
              <a:rPr lang="en-US" sz="1350" dirty="0">
                <a:solidFill>
                  <a:srgbClr val="5B6478"/>
                </a:solidFill>
                <a:latin typeface="Calibri" pitchFamily="34" charset="0"/>
                <a:ea typeface="Calibri" pitchFamily="34" charset="-122"/>
                <a:cs typeface="Calibri" pitchFamily="34" charset="-120"/>
              </a:rPr>
              <a:t>Vehicle is already at the shop, a fault has already fired</a:t>
            </a:r>
            <a:endParaRPr lang="en-US" sz="1350" dirty="0"/>
          </a:p>
          <a:p>
            <a:pPr marL="342900" indent="-342900">
              <a:spcAft>
                <a:spcPts val="1200"/>
              </a:spcAft>
              <a:buSzPct val="100000"/>
              <a:buChar char="•"/>
            </a:pPr>
            <a:r>
              <a:rPr lang="en-US" sz="1350" dirty="0">
                <a:solidFill>
                  <a:srgbClr val="5B6478"/>
                </a:solidFill>
                <a:latin typeface="Calibri" pitchFamily="34" charset="0"/>
                <a:ea typeface="Calibri" pitchFamily="34" charset="-122"/>
                <a:cs typeface="Calibri" pitchFamily="34" charset="-120"/>
              </a:rPr>
              <a:t>Question: what's the root cause, has this been seen before, what's the fix?</a:t>
            </a:r>
            <a:endParaRPr lang="en-US" sz="1350" dirty="0"/>
          </a:p>
          <a:p>
            <a:pPr marL="342900" indent="-342900">
              <a:spcAft>
                <a:spcPts val="1200"/>
              </a:spcAft>
              <a:buSzPct val="100000"/>
              <a:buChar char="•"/>
            </a:pPr>
            <a:r>
              <a:rPr lang="en-US" sz="1350" dirty="0">
                <a:solidFill>
                  <a:srgbClr val="5B6478"/>
                </a:solidFill>
                <a:latin typeface="Calibri" pitchFamily="34" charset="0"/>
                <a:ea typeface="Calibri" pitchFamily="34" charset="-122"/>
                <a:cs typeface="Calibri" pitchFamily="34" charset="-120"/>
              </a:rPr>
              <a:t>A reactive root-cause and repair question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C4A"/>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8A93B8"/>
                </a:solidFill>
                <a:latin typeface="Calibri" pitchFamily="34" charset="0"/>
                <a:ea typeface="Calibri" pitchFamily="34" charset="-122"/>
                <a:cs typeface="Calibri" pitchFamily="34" charset="-120"/>
              </a:rPr>
              <a:t>6</a:t>
            </a:r>
            <a:endParaRPr lang="en-US" sz="1000" dirty="0"/>
          </a:p>
        </p:txBody>
      </p:sp>
      <p:sp>
        <p:nvSpPr>
          <p:cNvPr id="3" name="Text 1"/>
          <p:cNvSpPr/>
          <p:nvPr/>
        </p:nvSpPr>
        <p:spPr>
          <a:xfrm>
            <a:off x="548640" y="3063240"/>
            <a:ext cx="11064240" cy="320040"/>
          </a:xfrm>
          <a:prstGeom prst="rect">
            <a:avLst/>
          </a:prstGeom>
          <a:noFill/>
          <a:ln/>
        </p:spPr>
        <p:txBody>
          <a:bodyPr wrap="square" rtlCol="0" anchor="ctr"/>
          <a:lstStyle/>
          <a:p>
            <a:pPr algn="ctr" indent="0" marL="0">
              <a:buNone/>
            </a:pPr>
            <a:r>
              <a:rPr lang="en-US" sz="1300" b="1" spc="200" kern="0" dirty="0">
                <a:solidFill>
                  <a:srgbClr val="F2A93B"/>
                </a:solidFill>
                <a:latin typeface="Calibri" pitchFamily="34" charset="0"/>
                <a:ea typeface="Calibri" pitchFamily="34" charset="-122"/>
                <a:cs typeface="Calibri" pitchFamily="34" charset="-120"/>
              </a:rPr>
              <a:t>WEEK 1 RECAP</a:t>
            </a:r>
            <a:endParaRPr lang="en-US" sz="1300" dirty="0"/>
          </a:p>
        </p:txBody>
      </p:sp>
      <p:sp>
        <p:nvSpPr>
          <p:cNvPr id="4" name="Text 2"/>
          <p:cNvSpPr/>
          <p:nvPr/>
        </p:nvSpPr>
        <p:spPr>
          <a:xfrm>
            <a:off x="548640" y="3429000"/>
            <a:ext cx="11064240" cy="640080"/>
          </a:xfrm>
          <a:prstGeom prst="rect">
            <a:avLst/>
          </a:prstGeom>
          <a:noFill/>
          <a:ln/>
        </p:spPr>
        <p:txBody>
          <a:bodyPr wrap="square" rtlCol="0" anchor="ctr"/>
          <a:lstStyle/>
          <a:p>
            <a:pPr algn="ctr" indent="0" marL="0">
              <a:buNone/>
            </a:pPr>
            <a:r>
              <a:rPr lang="en-US" sz="3000" dirty="0">
                <a:solidFill>
                  <a:srgbClr val="FFFFFF"/>
                </a:solidFill>
                <a:latin typeface="Cambria" pitchFamily="34" charset="0"/>
                <a:ea typeface="Cambria" pitchFamily="34" charset="-122"/>
                <a:cs typeface="Cambria" pitchFamily="34" charset="-120"/>
              </a:rPr>
              <a:t>Data &amp; Foundations</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9AA3B5"/>
                </a:solidFill>
                <a:latin typeface="Calibri" pitchFamily="34" charset="0"/>
                <a:ea typeface="Calibri" pitchFamily="34" charset="-122"/>
                <a:cs typeface="Calibri" pitchFamily="34" charset="-120"/>
              </a:rPr>
              <a:t>7</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STATUS — AS OF WEEK 1</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1E2761"/>
                </a:solidFill>
                <a:latin typeface="Cambria" pitchFamily="34" charset="0"/>
                <a:ea typeface="Cambria" pitchFamily="34" charset="-122"/>
                <a:cs typeface="Cambria" pitchFamily="34" charset="-120"/>
              </a:rPr>
              <a:t>What's done, what's next</a:t>
            </a:r>
            <a:endParaRPr lang="en-US" sz="3000" dirty="0"/>
          </a:p>
        </p:txBody>
      </p:sp>
      <p:sp>
        <p:nvSpPr>
          <p:cNvPr id="5" name="Text 3"/>
          <p:cNvSpPr/>
          <p:nvPr/>
        </p:nvSpPr>
        <p:spPr>
          <a:xfrm>
            <a:off x="548640" y="1170432"/>
            <a:ext cx="11064240" cy="32004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Officially still Week 1 on the program calendar — prep work ahead of kickoff put us ahead on a few items below</a:t>
            </a:r>
            <a:endParaRPr lang="en-US" sz="1300" dirty="0"/>
          </a:p>
        </p:txBody>
      </p:sp>
      <p:sp>
        <p:nvSpPr>
          <p:cNvPr id="6" name="Text 4"/>
          <p:cNvSpPr/>
          <p:nvPr/>
        </p:nvSpPr>
        <p:spPr>
          <a:xfrm>
            <a:off x="548640" y="1874520"/>
            <a:ext cx="4206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Workstream</a:t>
            </a:r>
            <a:endParaRPr lang="en-US" sz="1300" dirty="0"/>
          </a:p>
        </p:txBody>
      </p:sp>
      <p:sp>
        <p:nvSpPr>
          <p:cNvPr id="7" name="Text 5"/>
          <p:cNvSpPr/>
          <p:nvPr/>
        </p:nvSpPr>
        <p:spPr>
          <a:xfrm>
            <a:off x="4846320" y="1874520"/>
            <a:ext cx="16459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Status</a:t>
            </a:r>
            <a:endParaRPr lang="en-US" sz="1300" dirty="0"/>
          </a:p>
        </p:txBody>
      </p:sp>
      <p:sp>
        <p:nvSpPr>
          <p:cNvPr id="8" name="Text 6"/>
          <p:cNvSpPr/>
          <p:nvPr/>
        </p:nvSpPr>
        <p:spPr>
          <a:xfrm>
            <a:off x="6583680" y="1874520"/>
            <a:ext cx="51206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Note</a:t>
            </a:r>
            <a:endParaRPr lang="en-US" sz="1300" dirty="0"/>
          </a:p>
        </p:txBody>
      </p:sp>
      <p:sp>
        <p:nvSpPr>
          <p:cNvPr id="9" name="Shape 7"/>
          <p:cNvSpPr/>
          <p:nvPr/>
        </p:nvSpPr>
        <p:spPr>
          <a:xfrm>
            <a:off x="548640" y="2240280"/>
            <a:ext cx="11064240" cy="0"/>
          </a:xfrm>
          <a:prstGeom prst="line">
            <a:avLst/>
          </a:prstGeom>
          <a:noFill/>
          <a:ln w="12700">
            <a:solidFill>
              <a:srgbClr val="D7DEEA"/>
            </a:solidFill>
            <a:prstDash val="solid"/>
          </a:ln>
        </p:spPr>
      </p:sp>
      <p:sp>
        <p:nvSpPr>
          <p:cNvPr id="10" name="Shape 8"/>
          <p:cNvSpPr/>
          <p:nvPr/>
        </p:nvSpPr>
        <p:spPr>
          <a:xfrm>
            <a:off x="548640" y="2450592"/>
            <a:ext cx="128016" cy="128016"/>
          </a:xfrm>
          <a:prstGeom prst="ellipse">
            <a:avLst/>
          </a:prstGeom>
          <a:solidFill>
            <a:srgbClr val="3F7D5C"/>
          </a:solidFill>
          <a:ln/>
        </p:spPr>
      </p:sp>
      <p:sp>
        <p:nvSpPr>
          <p:cNvPr id="11" name="Text 9"/>
          <p:cNvSpPr/>
          <p:nvPr/>
        </p:nvSpPr>
        <p:spPr>
          <a:xfrm>
            <a:off x="804672" y="23774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Subsystem locked</a:t>
            </a:r>
            <a:endParaRPr lang="en-US" sz="1300" dirty="0"/>
          </a:p>
        </p:txBody>
      </p:sp>
      <p:sp>
        <p:nvSpPr>
          <p:cNvPr id="12" name="Text 10"/>
          <p:cNvSpPr/>
          <p:nvPr/>
        </p:nvSpPr>
        <p:spPr>
          <a:xfrm>
            <a:off x="4846320" y="2377440"/>
            <a:ext cx="1645920" cy="365760"/>
          </a:xfrm>
          <a:prstGeom prst="rect">
            <a:avLst/>
          </a:prstGeom>
          <a:noFill/>
          <a:ln/>
        </p:spPr>
        <p:txBody>
          <a:bodyPr wrap="square" rtlCol="0" anchor="ctr"/>
          <a:lstStyle/>
          <a:p>
            <a:pPr indent="0" marL="0">
              <a:buNone/>
            </a:pPr>
            <a:r>
              <a:rPr lang="en-US" sz="1200" dirty="0">
                <a:solidFill>
                  <a:srgbClr val="3F7D5C"/>
                </a:solidFill>
                <a:latin typeface="Calibri" pitchFamily="34" charset="0"/>
                <a:ea typeface="Calibri" pitchFamily="34" charset="-122"/>
                <a:cs typeface="Calibri" pitchFamily="34" charset="-120"/>
              </a:rPr>
              <a:t>Done</a:t>
            </a:r>
            <a:endParaRPr lang="en-US" sz="1200" dirty="0"/>
          </a:p>
        </p:txBody>
      </p:sp>
      <p:sp>
        <p:nvSpPr>
          <p:cNvPr id="13" name="Text 11"/>
          <p:cNvSpPr/>
          <p:nvPr/>
        </p:nvSpPr>
        <p:spPr>
          <a:xfrm>
            <a:off x="6583680" y="23774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Battery / EV</a:t>
            </a:r>
            <a:endParaRPr lang="en-US" sz="1150" dirty="0"/>
          </a:p>
        </p:txBody>
      </p:sp>
      <p:sp>
        <p:nvSpPr>
          <p:cNvPr id="14" name="Shape 12"/>
          <p:cNvSpPr/>
          <p:nvPr/>
        </p:nvSpPr>
        <p:spPr>
          <a:xfrm>
            <a:off x="548640" y="2907792"/>
            <a:ext cx="128016" cy="128016"/>
          </a:xfrm>
          <a:prstGeom prst="ellipse">
            <a:avLst/>
          </a:prstGeom>
          <a:solidFill>
            <a:srgbClr val="3F7D5C"/>
          </a:solidFill>
          <a:ln/>
        </p:spPr>
      </p:sp>
      <p:sp>
        <p:nvSpPr>
          <p:cNvPr id="15" name="Text 13"/>
          <p:cNvSpPr/>
          <p:nvPr/>
        </p:nvSpPr>
        <p:spPr>
          <a:xfrm>
            <a:off x="804672" y="28346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Classifier dataset</a:t>
            </a:r>
            <a:endParaRPr lang="en-US" sz="1300" dirty="0"/>
          </a:p>
        </p:txBody>
      </p:sp>
      <p:sp>
        <p:nvSpPr>
          <p:cNvPr id="16" name="Text 14"/>
          <p:cNvSpPr/>
          <p:nvPr/>
        </p:nvSpPr>
        <p:spPr>
          <a:xfrm>
            <a:off x="4846320" y="2834640"/>
            <a:ext cx="1645920" cy="365760"/>
          </a:xfrm>
          <a:prstGeom prst="rect">
            <a:avLst/>
          </a:prstGeom>
          <a:noFill/>
          <a:ln/>
        </p:spPr>
        <p:txBody>
          <a:bodyPr wrap="square" rtlCol="0" anchor="ctr"/>
          <a:lstStyle/>
          <a:p>
            <a:pPr indent="0" marL="0">
              <a:buNone/>
            </a:pPr>
            <a:r>
              <a:rPr lang="en-US" sz="1200" dirty="0">
                <a:solidFill>
                  <a:srgbClr val="3F7D5C"/>
                </a:solidFill>
                <a:latin typeface="Calibri" pitchFamily="34" charset="0"/>
                <a:ea typeface="Calibri" pitchFamily="34" charset="-122"/>
                <a:cs typeface="Calibri" pitchFamily="34" charset="-120"/>
              </a:rPr>
              <a:t>Done</a:t>
            </a:r>
            <a:endParaRPr lang="en-US" sz="1200" dirty="0"/>
          </a:p>
        </p:txBody>
      </p:sp>
      <p:sp>
        <p:nvSpPr>
          <p:cNvPr id="17" name="Text 15"/>
          <p:cNvSpPr/>
          <p:nvPr/>
        </p:nvSpPr>
        <p:spPr>
          <a:xfrm>
            <a:off x="6583680" y="28346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175,200 rows, cleaned, labeled, EDA'd</a:t>
            </a:r>
            <a:endParaRPr lang="en-US" sz="1150" dirty="0"/>
          </a:p>
        </p:txBody>
      </p:sp>
      <p:sp>
        <p:nvSpPr>
          <p:cNvPr id="18" name="Shape 16"/>
          <p:cNvSpPr/>
          <p:nvPr/>
        </p:nvSpPr>
        <p:spPr>
          <a:xfrm>
            <a:off x="548640" y="3364992"/>
            <a:ext cx="128016" cy="128016"/>
          </a:xfrm>
          <a:prstGeom prst="ellipse">
            <a:avLst/>
          </a:prstGeom>
          <a:solidFill>
            <a:srgbClr val="3F7D5C"/>
          </a:solidFill>
          <a:ln/>
        </p:spPr>
      </p:sp>
      <p:sp>
        <p:nvSpPr>
          <p:cNvPr id="19" name="Text 17"/>
          <p:cNvSpPr/>
          <p:nvPr/>
        </p:nvSpPr>
        <p:spPr>
          <a:xfrm>
            <a:off x="804672" y="32918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NHTSA RAG corpus</a:t>
            </a:r>
            <a:endParaRPr lang="en-US" sz="1300" dirty="0"/>
          </a:p>
        </p:txBody>
      </p:sp>
      <p:sp>
        <p:nvSpPr>
          <p:cNvPr id="20" name="Text 18"/>
          <p:cNvSpPr/>
          <p:nvPr/>
        </p:nvSpPr>
        <p:spPr>
          <a:xfrm>
            <a:off x="4846320" y="3291840"/>
            <a:ext cx="1645920" cy="365760"/>
          </a:xfrm>
          <a:prstGeom prst="rect">
            <a:avLst/>
          </a:prstGeom>
          <a:noFill/>
          <a:ln/>
        </p:spPr>
        <p:txBody>
          <a:bodyPr wrap="square" rtlCol="0" anchor="ctr"/>
          <a:lstStyle/>
          <a:p>
            <a:pPr indent="0" marL="0">
              <a:buNone/>
            </a:pPr>
            <a:r>
              <a:rPr lang="en-US" sz="1200" dirty="0">
                <a:solidFill>
                  <a:srgbClr val="3F7D5C"/>
                </a:solidFill>
                <a:latin typeface="Calibri" pitchFamily="34" charset="0"/>
                <a:ea typeface="Calibri" pitchFamily="34" charset="-122"/>
                <a:cs typeface="Calibri" pitchFamily="34" charset="-120"/>
              </a:rPr>
              <a:t>Done</a:t>
            </a:r>
            <a:endParaRPr lang="en-US" sz="1200" dirty="0"/>
          </a:p>
        </p:txBody>
      </p:sp>
      <p:sp>
        <p:nvSpPr>
          <p:cNvPr id="21" name="Text 19"/>
          <p:cNvSpPr/>
          <p:nvPr/>
        </p:nvSpPr>
        <p:spPr>
          <a:xfrm>
            <a:off x="6583680" y="32918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202 recalls + 3,329 complaints, filtered</a:t>
            </a:r>
            <a:endParaRPr lang="en-US" sz="1150" dirty="0"/>
          </a:p>
        </p:txBody>
      </p:sp>
      <p:sp>
        <p:nvSpPr>
          <p:cNvPr id="22" name="Shape 20"/>
          <p:cNvSpPr/>
          <p:nvPr/>
        </p:nvSpPr>
        <p:spPr>
          <a:xfrm>
            <a:off x="548640" y="3822192"/>
            <a:ext cx="128016" cy="128016"/>
          </a:xfrm>
          <a:prstGeom prst="ellipse">
            <a:avLst/>
          </a:prstGeom>
          <a:solidFill>
            <a:srgbClr val="F2A93B"/>
          </a:solidFill>
          <a:ln/>
        </p:spPr>
      </p:sp>
      <p:sp>
        <p:nvSpPr>
          <p:cNvPr id="23" name="Text 21"/>
          <p:cNvSpPr/>
          <p:nvPr/>
        </p:nvSpPr>
        <p:spPr>
          <a:xfrm>
            <a:off x="804672" y="37490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Baseline classifier</a:t>
            </a:r>
            <a:endParaRPr lang="en-US" sz="1300" dirty="0"/>
          </a:p>
        </p:txBody>
      </p:sp>
      <p:sp>
        <p:nvSpPr>
          <p:cNvPr id="24" name="Text 22"/>
          <p:cNvSpPr/>
          <p:nvPr/>
        </p:nvSpPr>
        <p:spPr>
          <a:xfrm>
            <a:off x="4846320" y="3749040"/>
            <a:ext cx="1645920" cy="365760"/>
          </a:xfrm>
          <a:prstGeom prst="rect">
            <a:avLst/>
          </a:prstGeom>
          <a:noFill/>
          <a:ln/>
        </p:spPr>
        <p:txBody>
          <a:bodyPr wrap="square" rtlCol="0" anchor="ctr"/>
          <a:lstStyle/>
          <a:p>
            <a:pPr indent="0" marL="0">
              <a:buNone/>
            </a:pPr>
            <a:r>
              <a:rPr lang="en-US" sz="1200" dirty="0">
                <a:solidFill>
                  <a:srgbClr val="F2A93B"/>
                </a:solidFill>
                <a:latin typeface="Calibri" pitchFamily="34" charset="0"/>
                <a:ea typeface="Calibri" pitchFamily="34" charset="-122"/>
                <a:cs typeface="Calibri" pitchFamily="34" charset="-120"/>
              </a:rPr>
              <a:t>Reworked</a:t>
            </a:r>
            <a:endParaRPr lang="en-US" sz="1200" dirty="0"/>
          </a:p>
        </p:txBody>
      </p:sp>
      <p:sp>
        <p:nvSpPr>
          <p:cNvPr id="25" name="Text 23"/>
          <p:cNvSpPr/>
          <p:nvPr/>
        </p:nvSpPr>
        <p:spPr>
          <a:xfrm>
            <a:off x="6583680" y="37490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Reframed to forecasting after a methodology catch — real ~0.60 macro F1</a:t>
            </a:r>
            <a:endParaRPr lang="en-US" sz="1150" dirty="0"/>
          </a:p>
        </p:txBody>
      </p:sp>
      <p:sp>
        <p:nvSpPr>
          <p:cNvPr id="26" name="Shape 24"/>
          <p:cNvSpPr/>
          <p:nvPr/>
        </p:nvSpPr>
        <p:spPr>
          <a:xfrm>
            <a:off x="548640" y="4279392"/>
            <a:ext cx="128016" cy="128016"/>
          </a:xfrm>
          <a:prstGeom prst="ellipse">
            <a:avLst/>
          </a:prstGeom>
          <a:solidFill>
            <a:srgbClr val="9AA3B5"/>
          </a:solidFill>
          <a:ln/>
        </p:spPr>
      </p:sp>
      <p:sp>
        <p:nvSpPr>
          <p:cNvPr id="27" name="Text 25"/>
          <p:cNvSpPr/>
          <p:nvPr/>
        </p:nvSpPr>
        <p:spPr>
          <a:xfrm>
            <a:off x="804672" y="42062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RAG embeddings + retrieval</a:t>
            </a:r>
            <a:endParaRPr lang="en-US" sz="1300" dirty="0"/>
          </a:p>
        </p:txBody>
      </p:sp>
      <p:sp>
        <p:nvSpPr>
          <p:cNvPr id="28" name="Text 26"/>
          <p:cNvSpPr/>
          <p:nvPr/>
        </p:nvSpPr>
        <p:spPr>
          <a:xfrm>
            <a:off x="4846320" y="4206240"/>
            <a:ext cx="1645920" cy="365760"/>
          </a:xfrm>
          <a:prstGeom prst="rect">
            <a:avLst/>
          </a:prstGeom>
          <a:noFill/>
          <a:ln/>
        </p:spPr>
        <p:txBody>
          <a:bodyPr wrap="square" rtlCol="0" anchor="ctr"/>
          <a:lstStyle/>
          <a:p>
            <a:pPr indent="0" marL="0">
              <a:buNone/>
            </a:pPr>
            <a:r>
              <a:rPr lang="en-US" sz="1200" dirty="0">
                <a:solidFill>
                  <a:srgbClr val="5B6478"/>
                </a:solidFill>
                <a:latin typeface="Calibri" pitchFamily="34" charset="0"/>
                <a:ea typeface="Calibri" pitchFamily="34" charset="-122"/>
                <a:cs typeface="Calibri" pitchFamily="34" charset="-120"/>
              </a:rPr>
              <a:t>Not started</a:t>
            </a:r>
            <a:endParaRPr lang="en-US" sz="1200" dirty="0"/>
          </a:p>
        </p:txBody>
      </p:sp>
      <p:sp>
        <p:nvSpPr>
          <p:cNvPr id="29" name="Text 27"/>
          <p:cNvSpPr/>
          <p:nvPr/>
        </p:nvSpPr>
        <p:spPr>
          <a:xfrm>
            <a:off x="6583680" y="42062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Next up</a:t>
            </a:r>
            <a:endParaRPr lang="en-US" sz="1150" dirty="0"/>
          </a:p>
        </p:txBody>
      </p:sp>
      <p:sp>
        <p:nvSpPr>
          <p:cNvPr id="30" name="Shape 28"/>
          <p:cNvSpPr/>
          <p:nvPr/>
        </p:nvSpPr>
        <p:spPr>
          <a:xfrm>
            <a:off x="548640" y="4736592"/>
            <a:ext cx="128016" cy="128016"/>
          </a:xfrm>
          <a:prstGeom prst="ellipse">
            <a:avLst/>
          </a:prstGeom>
          <a:solidFill>
            <a:srgbClr val="9AA3B5"/>
          </a:solidFill>
          <a:ln/>
        </p:spPr>
      </p:sp>
      <p:sp>
        <p:nvSpPr>
          <p:cNvPr id="31" name="Text 29"/>
          <p:cNvSpPr/>
          <p:nvPr/>
        </p:nvSpPr>
        <p:spPr>
          <a:xfrm>
            <a:off x="804672" y="46634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Agent tool-calling loop</a:t>
            </a:r>
            <a:endParaRPr lang="en-US" sz="1300" dirty="0"/>
          </a:p>
        </p:txBody>
      </p:sp>
      <p:sp>
        <p:nvSpPr>
          <p:cNvPr id="32" name="Text 30"/>
          <p:cNvSpPr/>
          <p:nvPr/>
        </p:nvSpPr>
        <p:spPr>
          <a:xfrm>
            <a:off x="4846320" y="4663440"/>
            <a:ext cx="1645920" cy="365760"/>
          </a:xfrm>
          <a:prstGeom prst="rect">
            <a:avLst/>
          </a:prstGeom>
          <a:noFill/>
          <a:ln/>
        </p:spPr>
        <p:txBody>
          <a:bodyPr wrap="square" rtlCol="0" anchor="ctr"/>
          <a:lstStyle/>
          <a:p>
            <a:pPr indent="0" marL="0">
              <a:buNone/>
            </a:pPr>
            <a:r>
              <a:rPr lang="en-US" sz="1200" dirty="0">
                <a:solidFill>
                  <a:srgbClr val="5B6478"/>
                </a:solidFill>
                <a:latin typeface="Calibri" pitchFamily="34" charset="0"/>
                <a:ea typeface="Calibri" pitchFamily="34" charset="-122"/>
                <a:cs typeface="Calibri" pitchFamily="34" charset="-120"/>
              </a:rPr>
              <a:t>Not started</a:t>
            </a:r>
            <a:endParaRPr lang="en-US" sz="1200" dirty="0"/>
          </a:p>
        </p:txBody>
      </p:sp>
      <p:sp>
        <p:nvSpPr>
          <p:cNvPr id="33" name="Text 31"/>
          <p:cNvSpPr/>
          <p:nvPr/>
        </p:nvSpPr>
        <p:spPr>
          <a:xfrm>
            <a:off x="6583680" y="46634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Next up</a:t>
            </a:r>
            <a:endParaRPr lang="en-US" sz="1150" dirty="0"/>
          </a:p>
        </p:txBody>
      </p:sp>
      <p:sp>
        <p:nvSpPr>
          <p:cNvPr id="34" name="Shape 32"/>
          <p:cNvSpPr/>
          <p:nvPr/>
        </p:nvSpPr>
        <p:spPr>
          <a:xfrm>
            <a:off x="548640" y="5193792"/>
            <a:ext cx="128016" cy="128016"/>
          </a:xfrm>
          <a:prstGeom prst="ellipse">
            <a:avLst/>
          </a:prstGeom>
          <a:solidFill>
            <a:srgbClr val="9AA3B5"/>
          </a:solidFill>
          <a:ln/>
        </p:spPr>
      </p:sp>
      <p:sp>
        <p:nvSpPr>
          <p:cNvPr id="35" name="Text 33"/>
          <p:cNvSpPr/>
          <p:nvPr/>
        </p:nvSpPr>
        <p:spPr>
          <a:xfrm>
            <a:off x="804672" y="51206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Streamlit dashboard</a:t>
            </a:r>
            <a:endParaRPr lang="en-US" sz="1300" dirty="0"/>
          </a:p>
        </p:txBody>
      </p:sp>
      <p:sp>
        <p:nvSpPr>
          <p:cNvPr id="36" name="Text 34"/>
          <p:cNvSpPr/>
          <p:nvPr/>
        </p:nvSpPr>
        <p:spPr>
          <a:xfrm>
            <a:off x="4846320" y="5120640"/>
            <a:ext cx="1645920" cy="365760"/>
          </a:xfrm>
          <a:prstGeom prst="rect">
            <a:avLst/>
          </a:prstGeom>
          <a:noFill/>
          <a:ln/>
        </p:spPr>
        <p:txBody>
          <a:bodyPr wrap="square" rtlCol="0" anchor="ctr"/>
          <a:lstStyle/>
          <a:p>
            <a:pPr indent="0" marL="0">
              <a:buNone/>
            </a:pPr>
            <a:r>
              <a:rPr lang="en-US" sz="1200" dirty="0">
                <a:solidFill>
                  <a:srgbClr val="5B6478"/>
                </a:solidFill>
                <a:latin typeface="Calibri" pitchFamily="34" charset="0"/>
                <a:ea typeface="Calibri" pitchFamily="34" charset="-122"/>
                <a:cs typeface="Calibri" pitchFamily="34" charset="-120"/>
              </a:rPr>
              <a:t>Not started</a:t>
            </a:r>
            <a:endParaRPr lang="en-US" sz="1200" dirty="0"/>
          </a:p>
        </p:txBody>
      </p:sp>
      <p:sp>
        <p:nvSpPr>
          <p:cNvPr id="37" name="Text 35"/>
          <p:cNvSpPr/>
          <p:nvPr/>
        </p:nvSpPr>
        <p:spPr>
          <a:xfrm>
            <a:off x="6583680" y="51206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Later</a:t>
            </a:r>
            <a:endParaRPr lang="en-US" sz="1150" dirty="0"/>
          </a:p>
        </p:txBody>
      </p:sp>
      <p:sp>
        <p:nvSpPr>
          <p:cNvPr id="38" name="Shape 36"/>
          <p:cNvSpPr/>
          <p:nvPr/>
        </p:nvSpPr>
        <p:spPr>
          <a:xfrm>
            <a:off x="548640" y="5650992"/>
            <a:ext cx="128016" cy="128016"/>
          </a:xfrm>
          <a:prstGeom prst="ellipse">
            <a:avLst/>
          </a:prstGeom>
          <a:solidFill>
            <a:srgbClr val="9AA3B5"/>
          </a:solidFill>
          <a:ln/>
        </p:spPr>
      </p:sp>
      <p:sp>
        <p:nvSpPr>
          <p:cNvPr id="39" name="Text 37"/>
          <p:cNvSpPr/>
          <p:nvPr/>
        </p:nvSpPr>
        <p:spPr>
          <a:xfrm>
            <a:off x="804672" y="55778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Deployment + evaluation</a:t>
            </a:r>
            <a:endParaRPr lang="en-US" sz="1300" dirty="0"/>
          </a:p>
        </p:txBody>
      </p:sp>
      <p:sp>
        <p:nvSpPr>
          <p:cNvPr id="40" name="Text 38"/>
          <p:cNvSpPr/>
          <p:nvPr/>
        </p:nvSpPr>
        <p:spPr>
          <a:xfrm>
            <a:off x="4846320" y="5577840"/>
            <a:ext cx="1645920" cy="365760"/>
          </a:xfrm>
          <a:prstGeom prst="rect">
            <a:avLst/>
          </a:prstGeom>
          <a:noFill/>
          <a:ln/>
        </p:spPr>
        <p:txBody>
          <a:bodyPr wrap="square" rtlCol="0" anchor="ctr"/>
          <a:lstStyle/>
          <a:p>
            <a:pPr indent="0" marL="0">
              <a:buNone/>
            </a:pPr>
            <a:r>
              <a:rPr lang="en-US" sz="1200" dirty="0">
                <a:solidFill>
                  <a:srgbClr val="5B6478"/>
                </a:solidFill>
                <a:latin typeface="Calibri" pitchFamily="34" charset="0"/>
                <a:ea typeface="Calibri" pitchFamily="34" charset="-122"/>
                <a:cs typeface="Calibri" pitchFamily="34" charset="-120"/>
              </a:rPr>
              <a:t>Not started</a:t>
            </a:r>
            <a:endParaRPr lang="en-US" sz="1200" dirty="0"/>
          </a:p>
        </p:txBody>
      </p:sp>
      <p:sp>
        <p:nvSpPr>
          <p:cNvPr id="41" name="Text 39"/>
          <p:cNvSpPr/>
          <p:nvPr/>
        </p:nvSpPr>
        <p:spPr>
          <a:xfrm>
            <a:off x="6583680" y="55778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Later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C4A"/>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8A93B8"/>
                </a:solidFill>
                <a:latin typeface="Calibri" pitchFamily="34" charset="0"/>
                <a:ea typeface="Calibri" pitchFamily="34" charset="-122"/>
                <a:cs typeface="Calibri" pitchFamily="34" charset="-120"/>
              </a:rPr>
              <a:t>8</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A METHODOLOGY CATCH THIS WEEK</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FFFFFF"/>
                </a:solidFill>
                <a:latin typeface="Cambria" pitchFamily="34" charset="0"/>
                <a:ea typeface="Cambria" pitchFamily="34" charset="-122"/>
                <a:cs typeface="Cambria" pitchFamily="34" charset="-120"/>
              </a:rPr>
              <a:t>A perfect score that wasn't measuring anything hard</a:t>
            </a:r>
            <a:endParaRPr lang="en-US" sz="3000" dirty="0"/>
          </a:p>
        </p:txBody>
      </p:sp>
      <p:sp>
        <p:nvSpPr>
          <p:cNvPr id="5" name="Text 3"/>
          <p:cNvSpPr/>
          <p:nvPr/>
        </p:nvSpPr>
        <p:spPr>
          <a:xfrm>
            <a:off x="548640" y="1737360"/>
            <a:ext cx="6675120" cy="640080"/>
          </a:xfrm>
          <a:prstGeom prst="rect">
            <a:avLst/>
          </a:prstGeom>
          <a:noFill/>
          <a:ln/>
        </p:spPr>
        <p:txBody>
          <a:bodyPr wrap="square" rtlCol="0" anchor="ctr"/>
          <a:lstStyle/>
          <a:p>
            <a:pPr indent="0" marL="0">
              <a:buNone/>
            </a:pPr>
            <a:r>
              <a:rPr lang="en-US" sz="1450" dirty="0">
                <a:solidFill>
                  <a:srgbClr val="EEF3FD"/>
                </a:solidFill>
                <a:latin typeface="Calibri" pitchFamily="34" charset="0"/>
                <a:ea typeface="Calibri" pitchFamily="34" charset="-122"/>
                <a:cs typeface="Calibri" pitchFamily="34" charset="-120"/>
              </a:rPr>
              <a:t>First classifier scored a suspicious 1.000 macro F1 by treating each hourly reading as independent</a:t>
            </a:r>
            <a:endParaRPr lang="en-US" sz="1450" dirty="0"/>
          </a:p>
        </p:txBody>
      </p:sp>
      <p:sp>
        <p:nvSpPr>
          <p:cNvPr id="6" name="Text 4"/>
          <p:cNvSpPr/>
          <p:nvPr/>
        </p:nvSpPr>
        <p:spPr>
          <a:xfrm>
            <a:off x="548640" y="2395728"/>
            <a:ext cx="6675120" cy="640080"/>
          </a:xfrm>
          <a:prstGeom prst="rect">
            <a:avLst/>
          </a:prstGeom>
          <a:noFill/>
          <a:ln/>
        </p:spPr>
        <p:txBody>
          <a:bodyPr wrap="square" rtlCol="0" anchor="ctr"/>
          <a:lstStyle/>
          <a:p>
            <a:pPr indent="0" marL="0">
              <a:buNone/>
            </a:pPr>
            <a:r>
              <a:rPr lang="en-US" sz="1450" dirty="0">
                <a:solidFill>
                  <a:srgbClr val="EEF3FD"/>
                </a:solidFill>
                <a:latin typeface="Calibri" pitchFamily="34" charset="0"/>
                <a:ea typeface="Calibri" pitchFamily="34" charset="-122"/>
                <a:cs typeface="Calibri" pitchFamily="34" charset="-120"/>
              </a:rPr>
              <a:t>Caught the real issue: 4 vehicles logged hourly is 4 continuous time series, not unrelated rows</a:t>
            </a:r>
            <a:endParaRPr lang="en-US" sz="1450" dirty="0"/>
          </a:p>
        </p:txBody>
      </p:sp>
      <p:sp>
        <p:nvSpPr>
          <p:cNvPr id="7" name="Text 5"/>
          <p:cNvSpPr/>
          <p:nvPr/>
        </p:nvSpPr>
        <p:spPr>
          <a:xfrm>
            <a:off x="548640" y="3054096"/>
            <a:ext cx="6675120" cy="640080"/>
          </a:xfrm>
          <a:prstGeom prst="rect">
            <a:avLst/>
          </a:prstGeom>
          <a:noFill/>
          <a:ln/>
        </p:spPr>
        <p:txBody>
          <a:bodyPr wrap="square" rtlCol="0" anchor="ctr"/>
          <a:lstStyle/>
          <a:p>
            <a:pPr indent="0" marL="0">
              <a:buNone/>
            </a:pPr>
            <a:r>
              <a:rPr lang="en-US" sz="1450" dirty="0">
                <a:solidFill>
                  <a:srgbClr val="EEF3FD"/>
                </a:solidFill>
                <a:latin typeface="Calibri" pitchFamily="34" charset="0"/>
                <a:ea typeface="Calibri" pitchFamily="34" charset="-122"/>
                <a:cs typeface="Calibri" pitchFamily="34" charset="-120"/>
              </a:rPr>
              <a:t>The dataset's own documentation confirms it was built for forecasting, not instant classification</a:t>
            </a:r>
            <a:endParaRPr lang="en-US" sz="1450" dirty="0"/>
          </a:p>
        </p:txBody>
      </p:sp>
      <p:sp>
        <p:nvSpPr>
          <p:cNvPr id="8" name="Shape 6"/>
          <p:cNvSpPr/>
          <p:nvPr/>
        </p:nvSpPr>
        <p:spPr>
          <a:xfrm>
            <a:off x="7589520" y="2148840"/>
            <a:ext cx="4023360" cy="2697480"/>
          </a:xfrm>
          <a:prstGeom prst="roundRect">
            <a:avLst>
              <a:gd name="adj" fmla="val 2034"/>
            </a:avLst>
          </a:prstGeom>
          <a:solidFill>
            <a:srgbClr val="1E2761"/>
          </a:solidFill>
          <a:ln/>
        </p:spPr>
      </p:sp>
      <p:sp>
        <p:nvSpPr>
          <p:cNvPr id="9" name="Text 7"/>
          <p:cNvSpPr/>
          <p:nvPr/>
        </p:nvSpPr>
        <p:spPr>
          <a:xfrm>
            <a:off x="7863840" y="2377440"/>
            <a:ext cx="35204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Fixed it properly, not around it</a:t>
            </a:r>
            <a:endParaRPr lang="en-US" sz="1500" dirty="0"/>
          </a:p>
        </p:txBody>
      </p:sp>
      <p:sp>
        <p:nvSpPr>
          <p:cNvPr id="10" name="Text 8"/>
          <p:cNvSpPr/>
          <p:nvPr/>
        </p:nvSpPr>
        <p:spPr>
          <a:xfrm>
            <a:off x="7863840" y="2880360"/>
            <a:ext cx="3520440" cy="1828800"/>
          </a:xfrm>
          <a:prstGeom prst="rect">
            <a:avLst/>
          </a:prstGeom>
          <a:noFill/>
          <a:ln/>
        </p:spPr>
        <p:txBody>
          <a:bodyPr wrap="square" rtlCol="0" anchor="ctr"/>
          <a:lstStyle/>
          <a:p>
            <a:pPr marL="342900" indent="-342900">
              <a:spcAft>
                <a:spcPts val="1000"/>
              </a:spcAft>
              <a:buSzPct val="100000"/>
              <a:buChar char="•"/>
            </a:pPr>
            <a:r>
              <a:rPr lang="en-US" sz="1200" dirty="0">
                <a:solidFill>
                  <a:srgbClr val="EEF3FD"/>
                </a:solidFill>
                <a:latin typeface="Calibri" pitchFamily="34" charset="0"/>
                <a:ea typeface="Calibri" pitchFamily="34" charset="-122"/>
                <a:cs typeface="Calibri" pitchFamily="34" charset="-120"/>
              </a:rPr>
              <a:t>Rebuilt with rolling/lag features + a forward-looking target</a:t>
            </a:r>
            <a:endParaRPr lang="en-US" sz="1200" dirty="0"/>
          </a:p>
          <a:p>
            <a:pPr marL="342900" indent="-342900">
              <a:spcAft>
                <a:spcPts val="1000"/>
              </a:spcAft>
              <a:buSzPct val="100000"/>
              <a:buChar char="•"/>
            </a:pPr>
            <a:r>
              <a:rPr lang="en-US" sz="1200" dirty="0">
                <a:solidFill>
                  <a:srgbClr val="EEF3FD"/>
                </a:solidFill>
                <a:latin typeface="Calibri" pitchFamily="34" charset="0"/>
                <a:ea typeface="Calibri" pitchFamily="34" charset="-122"/>
                <a:cs typeface="Calibri" pitchFamily="34" charset="-120"/>
              </a:rPr>
              <a:t>Score dropped to a real, honest ~0.60, expected for a genuinely hard forecasting task</a:t>
            </a:r>
            <a:endParaRPr lang="en-US" sz="1200" dirty="0"/>
          </a:p>
          <a:p>
            <a:pPr marL="342900" indent="-342900">
              <a:spcAft>
                <a:spcPts val="1000"/>
              </a:spcAft>
              <a:buSzPct val="100000"/>
              <a:buChar char="•"/>
            </a:pPr>
            <a:r>
              <a:rPr lang="en-US" sz="1200" dirty="0">
                <a:solidFill>
                  <a:srgbClr val="EEF3FD"/>
                </a:solidFill>
                <a:latin typeface="Calibri" pitchFamily="34" charset="0"/>
                <a:ea typeface="Calibri" pitchFamily="34" charset="-122"/>
                <a:cs typeface="Calibri" pitchFamily="34" charset="-120"/>
              </a:rPr>
              <a:t>Same dataset, same team, no timeline lost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9AA3B5"/>
                </a:solidFill>
                <a:latin typeface="Calibri" pitchFamily="34" charset="0"/>
                <a:ea typeface="Calibri" pitchFamily="34" charset="-122"/>
                <a:cs typeface="Calibri" pitchFamily="34" charset="-120"/>
              </a:rPr>
              <a:t>9</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PROCESS</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1E2761"/>
                </a:solidFill>
                <a:latin typeface="Cambria" pitchFamily="34" charset="0"/>
                <a:ea typeface="Cambria" pitchFamily="34" charset="-122"/>
                <a:cs typeface="Cambria" pitchFamily="34" charset="-120"/>
              </a:rPr>
              <a:t>How we've been working</a:t>
            </a:r>
            <a:endParaRPr lang="en-US" sz="3000" dirty="0"/>
          </a:p>
        </p:txBody>
      </p:sp>
      <p:sp>
        <p:nvSpPr>
          <p:cNvPr id="5" name="Shape 3"/>
          <p:cNvSpPr/>
          <p:nvPr/>
        </p:nvSpPr>
        <p:spPr>
          <a:xfrm>
            <a:off x="548640" y="1783080"/>
            <a:ext cx="3538728" cy="3291840"/>
          </a:xfrm>
          <a:prstGeom prst="roundRect">
            <a:avLst>
              <a:gd name="adj" fmla="val 1667"/>
            </a:avLst>
          </a:prstGeom>
          <a:solidFill>
            <a:srgbClr val="FFFFFF"/>
          </a:solidFill>
          <a:ln w="12700">
            <a:solidFill>
              <a:srgbClr val="D7DEEA"/>
            </a:solidFill>
            <a:prstDash val="solid"/>
          </a:ln>
        </p:spPr>
      </p:sp>
      <p:sp>
        <p:nvSpPr>
          <p:cNvPr id="6" name="Text 4"/>
          <p:cNvSpPr/>
          <p:nvPr/>
        </p:nvSpPr>
        <p:spPr>
          <a:xfrm>
            <a:off x="804672" y="2011680"/>
            <a:ext cx="3026664" cy="64008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Every dataset earns its spot</a:t>
            </a:r>
            <a:endParaRPr lang="en-US" sz="1600" dirty="0"/>
          </a:p>
        </p:txBody>
      </p:sp>
      <p:sp>
        <p:nvSpPr>
          <p:cNvPr id="7" name="Text 5"/>
          <p:cNvSpPr/>
          <p:nvPr/>
        </p:nvSpPr>
        <p:spPr>
          <a:xfrm>
            <a:off x="804672" y="2743200"/>
            <a:ext cx="3026664" cy="2194560"/>
          </a:xfrm>
          <a:prstGeom prst="rect">
            <a:avLst/>
          </a:prstGeom>
          <a:noFill/>
          <a:ln/>
        </p:spPr>
        <p:txBody>
          <a:bodyPr wrap="square" rtlCol="0" anchor="ctr"/>
          <a:lstStyle/>
          <a:p>
            <a:pPr marL="342900" indent="-342900">
              <a:spcAft>
                <a:spcPts val="1000"/>
              </a:spcAft>
              <a:buSzPct val="100000"/>
              <a:buChar char="•"/>
            </a:pPr>
            <a:r>
              <a:rPr lang="en-US" sz="1200" dirty="0">
                <a:solidFill>
                  <a:srgbClr val="5B6478"/>
                </a:solidFill>
                <a:latin typeface="Calibri" pitchFamily="34" charset="0"/>
                <a:ea typeface="Calibri" pitchFamily="34" charset="-122"/>
                <a:cs typeface="Calibri" pitchFamily="34" charset="-120"/>
              </a:rPr>
              <a:t>Original dataset vanished from Kaggle mid-prep</a:t>
            </a:r>
            <a:endParaRPr lang="en-US" sz="1200" dirty="0"/>
          </a:p>
          <a:p>
            <a:pPr marL="342900" indent="-342900">
              <a:spcAft>
                <a:spcPts val="1000"/>
              </a:spcAft>
              <a:buSzPct val="100000"/>
              <a:buChar char="•"/>
            </a:pPr>
            <a:r>
              <a:rPr lang="en-US" sz="1200" dirty="0">
                <a:solidFill>
                  <a:srgbClr val="5B6478"/>
                </a:solidFill>
                <a:latin typeface="Calibri" pitchFamily="34" charset="0"/>
                <a:ea typeface="Calibri" pitchFamily="34" charset="-122"/>
                <a:cs typeface="Calibri" pitchFamily="34" charset="-120"/>
              </a:rPr>
              <a:t>Every replacement candidate gets signal-tested before we commit</a:t>
            </a:r>
            <a:endParaRPr lang="en-US" sz="1200" dirty="0"/>
          </a:p>
          <a:p>
            <a:pPr marL="342900" indent="-342900">
              <a:spcAft>
                <a:spcPts val="1000"/>
              </a:spcAft>
              <a:buSzPct val="100000"/>
              <a:buChar char="•"/>
            </a:pPr>
            <a:r>
              <a:rPr lang="en-US" sz="1200" dirty="0">
                <a:solidFill>
                  <a:srgbClr val="5B6478"/>
                </a:solidFill>
                <a:latin typeface="Calibri" pitchFamily="34" charset="0"/>
                <a:ea typeface="Calibri" pitchFamily="34" charset="-122"/>
                <a:cs typeface="Calibri" pitchFamily="34" charset="-120"/>
              </a:rPr>
              <a:t>One lookalike candidate failed this test and was rejected</a:t>
            </a:r>
            <a:endParaRPr lang="en-US" sz="1200" dirty="0"/>
          </a:p>
        </p:txBody>
      </p:sp>
      <p:sp>
        <p:nvSpPr>
          <p:cNvPr id="8" name="Shape 6"/>
          <p:cNvSpPr/>
          <p:nvPr/>
        </p:nvSpPr>
        <p:spPr>
          <a:xfrm>
            <a:off x="4343400" y="1783080"/>
            <a:ext cx="3538728" cy="3291840"/>
          </a:xfrm>
          <a:prstGeom prst="roundRect">
            <a:avLst>
              <a:gd name="adj" fmla="val 1667"/>
            </a:avLst>
          </a:prstGeom>
          <a:solidFill>
            <a:srgbClr val="FFFFFF"/>
          </a:solidFill>
          <a:ln w="12700">
            <a:solidFill>
              <a:srgbClr val="D7DEEA"/>
            </a:solidFill>
            <a:prstDash val="solid"/>
          </a:ln>
        </p:spPr>
      </p:sp>
      <p:sp>
        <p:nvSpPr>
          <p:cNvPr id="9" name="Text 7"/>
          <p:cNvSpPr/>
          <p:nvPr/>
        </p:nvSpPr>
        <p:spPr>
          <a:xfrm>
            <a:off x="4599432" y="2011680"/>
            <a:ext cx="3026664" cy="64008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Leakage checked, not assumed</a:t>
            </a:r>
            <a:endParaRPr lang="en-US" sz="1600" dirty="0"/>
          </a:p>
        </p:txBody>
      </p:sp>
      <p:sp>
        <p:nvSpPr>
          <p:cNvPr id="10" name="Text 8"/>
          <p:cNvSpPr/>
          <p:nvPr/>
        </p:nvSpPr>
        <p:spPr>
          <a:xfrm>
            <a:off x="4599432" y="2743200"/>
            <a:ext cx="3026664" cy="2194560"/>
          </a:xfrm>
          <a:prstGeom prst="rect">
            <a:avLst/>
          </a:prstGeom>
          <a:noFill/>
          <a:ln/>
        </p:spPr>
        <p:txBody>
          <a:bodyPr wrap="square" rtlCol="0" anchor="ctr"/>
          <a:lstStyle/>
          <a:p>
            <a:pPr marL="342900" indent="-342900">
              <a:spcAft>
                <a:spcPts val="1000"/>
              </a:spcAft>
              <a:buSzPct val="100000"/>
              <a:buChar char="•"/>
            </a:pPr>
            <a:r>
              <a:rPr lang="en-US" sz="1200" dirty="0">
                <a:solidFill>
                  <a:srgbClr val="5B6478"/>
                </a:solidFill>
                <a:latin typeface="Calibri" pitchFamily="34" charset="0"/>
                <a:ea typeface="Calibri" pitchFamily="34" charset="-122"/>
                <a:cs typeface="Calibri" pitchFamily="34" charset="-120"/>
              </a:rPr>
              <a:t>Chronological per-vehicle splits</a:t>
            </a:r>
            <a:endParaRPr lang="en-US" sz="1200" dirty="0"/>
          </a:p>
          <a:p>
            <a:pPr marL="342900" indent="-342900">
              <a:spcAft>
                <a:spcPts val="1000"/>
              </a:spcAft>
              <a:buSzPct val="100000"/>
              <a:buChar char="•"/>
            </a:pPr>
            <a:r>
              <a:rPr lang="en-US" sz="1200" dirty="0">
                <a:solidFill>
                  <a:srgbClr val="5B6478"/>
                </a:solidFill>
                <a:latin typeface="Calibri" pitchFamily="34" charset="0"/>
                <a:ea typeface="Calibri" pitchFamily="34" charset="-122"/>
                <a:cs typeface="Calibri" pitchFamily="34" charset="-120"/>
              </a:rPr>
              <a:t>Feature derivation checks</a:t>
            </a:r>
            <a:endParaRPr lang="en-US" sz="1200" dirty="0"/>
          </a:p>
          <a:p>
            <a:pPr marL="342900" indent="-342900">
              <a:spcAft>
                <a:spcPts val="1000"/>
              </a:spcAft>
              <a:buSzPct val="100000"/>
              <a:buChar char="•"/>
            </a:pPr>
            <a:r>
              <a:rPr lang="en-US" sz="1200" dirty="0">
                <a:solidFill>
                  <a:srgbClr val="5B6478"/>
                </a:solidFill>
                <a:latin typeface="Calibri" pitchFamily="34" charset="0"/>
                <a:ea typeface="Calibri" pitchFamily="34" charset="-122"/>
                <a:cs typeface="Calibri" pitchFamily="34" charset="-120"/>
              </a:rPr>
              <a:t>No resampling before splitting</a:t>
            </a:r>
            <a:endParaRPr lang="en-US" sz="1200" dirty="0"/>
          </a:p>
        </p:txBody>
      </p:sp>
      <p:sp>
        <p:nvSpPr>
          <p:cNvPr id="11" name="Shape 9"/>
          <p:cNvSpPr/>
          <p:nvPr/>
        </p:nvSpPr>
        <p:spPr>
          <a:xfrm>
            <a:off x="8138160" y="1783080"/>
            <a:ext cx="3538728" cy="3291840"/>
          </a:xfrm>
          <a:prstGeom prst="roundRect">
            <a:avLst>
              <a:gd name="adj" fmla="val 1667"/>
            </a:avLst>
          </a:prstGeom>
          <a:solidFill>
            <a:srgbClr val="FFFFFF"/>
          </a:solidFill>
          <a:ln w="12700">
            <a:solidFill>
              <a:srgbClr val="D7DEEA"/>
            </a:solidFill>
            <a:prstDash val="solid"/>
          </a:ln>
        </p:spPr>
      </p:sp>
      <p:sp>
        <p:nvSpPr>
          <p:cNvPr id="12" name="Text 10"/>
          <p:cNvSpPr/>
          <p:nvPr/>
        </p:nvSpPr>
        <p:spPr>
          <a:xfrm>
            <a:off x="8394192" y="2011680"/>
            <a:ext cx="3026664" cy="64008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Hypotheses get tested, not just stated</a:t>
            </a:r>
            <a:endParaRPr lang="en-US" sz="1600" dirty="0"/>
          </a:p>
        </p:txBody>
      </p:sp>
      <p:sp>
        <p:nvSpPr>
          <p:cNvPr id="13" name="Text 11"/>
          <p:cNvSpPr/>
          <p:nvPr/>
        </p:nvSpPr>
        <p:spPr>
          <a:xfrm>
            <a:off x="8394192" y="2743200"/>
            <a:ext cx="3026664" cy="2194560"/>
          </a:xfrm>
          <a:prstGeom prst="rect">
            <a:avLst/>
          </a:prstGeom>
          <a:noFill/>
          <a:ln/>
        </p:spPr>
        <p:txBody>
          <a:bodyPr wrap="square" rtlCol="0" anchor="ctr"/>
          <a:lstStyle/>
          <a:p>
            <a:pPr marL="342900" indent="-342900">
              <a:spcAft>
                <a:spcPts val="1000"/>
              </a:spcAft>
              <a:buSzPct val="100000"/>
              <a:buChar char="•"/>
            </a:pPr>
            <a:r>
              <a:rPr lang="en-US" sz="1200" dirty="0">
                <a:solidFill>
                  <a:srgbClr val="5B6478"/>
                </a:solidFill>
                <a:latin typeface="Calibri" pitchFamily="34" charset="0"/>
                <a:ea typeface="Calibri" pitchFamily="34" charset="-122"/>
                <a:cs typeface="Calibri" pitchFamily="34" charset="-120"/>
              </a:rPr>
              <a:t>Suspected two features were a fake vehicle-identity signal</a:t>
            </a:r>
            <a:endParaRPr lang="en-US" sz="1200" dirty="0"/>
          </a:p>
          <a:p>
            <a:pPr marL="342900" indent="-342900">
              <a:spcAft>
                <a:spcPts val="1000"/>
              </a:spcAft>
              <a:buSzPct val="100000"/>
              <a:buChar char="•"/>
            </a:pPr>
            <a:r>
              <a:rPr lang="en-US" sz="1200" dirty="0">
                <a:solidFill>
                  <a:srgbClr val="5B6478"/>
                </a:solidFill>
                <a:latin typeface="Calibri" pitchFamily="34" charset="0"/>
                <a:ea typeface="Calibri" pitchFamily="34" charset="-122"/>
                <a:cs typeface="Calibri" pitchFamily="34" charset="-120"/>
              </a:rPr>
              <a:t>Tested directly with permutation importance</a:t>
            </a:r>
            <a:endParaRPr lang="en-US" sz="1200" dirty="0"/>
          </a:p>
          <a:p>
            <a:pPr marL="342900" indent="-342900">
              <a:spcAft>
                <a:spcPts val="1000"/>
              </a:spcAft>
              <a:buSzPct val="100000"/>
              <a:buChar char="•"/>
            </a:pPr>
            <a:r>
              <a:rPr lang="en-US" sz="1200" dirty="0">
                <a:solidFill>
                  <a:srgbClr val="5B6478"/>
                </a:solidFill>
                <a:latin typeface="Calibri" pitchFamily="34" charset="0"/>
                <a:ea typeface="Calibri" pitchFamily="34" charset="-122"/>
                <a:cs typeface="Calibri" pitchFamily="34" charset="-120"/>
              </a:rPr>
              <a:t>Found we were wrong, and said so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C4A"/>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8A93B8"/>
                </a:solidFill>
                <a:latin typeface="Calibri" pitchFamily="34" charset="0"/>
                <a:ea typeface="Calibri" pitchFamily="34" charset="-122"/>
                <a:cs typeface="Calibri" pitchFamily="34" charset="-120"/>
              </a:rPr>
              <a:t>10</a:t>
            </a:r>
            <a:endParaRPr lang="en-US" sz="1000" dirty="0"/>
          </a:p>
        </p:txBody>
      </p:sp>
      <p:sp>
        <p:nvSpPr>
          <p:cNvPr id="3" name="Text 1"/>
          <p:cNvSpPr/>
          <p:nvPr/>
        </p:nvSpPr>
        <p:spPr>
          <a:xfrm>
            <a:off x="548640" y="3063240"/>
            <a:ext cx="11064240" cy="320040"/>
          </a:xfrm>
          <a:prstGeom prst="rect">
            <a:avLst/>
          </a:prstGeom>
          <a:noFill/>
          <a:ln/>
        </p:spPr>
        <p:txBody>
          <a:bodyPr wrap="square" rtlCol="0" anchor="ctr"/>
          <a:lstStyle/>
          <a:p>
            <a:pPr algn="ctr" indent="0" marL="0">
              <a:buNone/>
            </a:pPr>
            <a:r>
              <a:rPr lang="en-US" sz="1300" b="1" spc="200" kern="0" dirty="0">
                <a:solidFill>
                  <a:srgbClr val="F2A93B"/>
                </a:solidFill>
                <a:latin typeface="Calibri" pitchFamily="34" charset="0"/>
                <a:ea typeface="Calibri" pitchFamily="34" charset="-122"/>
                <a:cs typeface="Calibri" pitchFamily="34" charset="-120"/>
              </a:rPr>
              <a:t>WEEK 2 UPDATE</a:t>
            </a:r>
            <a:endParaRPr lang="en-US" sz="1300" dirty="0"/>
          </a:p>
        </p:txBody>
      </p:sp>
      <p:sp>
        <p:nvSpPr>
          <p:cNvPr id="4" name="Text 2"/>
          <p:cNvSpPr/>
          <p:nvPr/>
        </p:nvSpPr>
        <p:spPr>
          <a:xfrm>
            <a:off x="548640" y="3429000"/>
            <a:ext cx="11064240" cy="640080"/>
          </a:xfrm>
          <a:prstGeom prst="rect">
            <a:avLst/>
          </a:prstGeom>
          <a:noFill/>
          <a:ln/>
        </p:spPr>
        <p:txBody>
          <a:bodyPr wrap="square" rtlCol="0" anchor="ctr"/>
          <a:lstStyle/>
          <a:p>
            <a:pPr algn="ctr" indent="0" marL="0">
              <a:buNone/>
            </a:pPr>
            <a:r>
              <a:rPr lang="en-US" sz="3000" dirty="0">
                <a:solidFill>
                  <a:srgbClr val="FFFFFF"/>
                </a:solidFill>
                <a:latin typeface="Cambria" pitchFamily="34" charset="0"/>
                <a:ea typeface="Cambria" pitchFamily="34" charset="-122"/>
                <a:cs typeface="Cambria" pitchFamily="34" charset="-120"/>
              </a:rPr>
              <a:t>Classifier &amp; RAG</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9AA3B5"/>
                </a:solidFill>
                <a:latin typeface="Calibri" pitchFamily="34" charset="0"/>
                <a:ea typeface="Calibri" pitchFamily="34" charset="-122"/>
                <a:cs typeface="Calibri" pitchFamily="34" charset="-120"/>
              </a:rPr>
              <a:t>11</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STATUS</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1E2761"/>
                </a:solidFill>
                <a:latin typeface="Cambria" pitchFamily="34" charset="0"/>
                <a:ea typeface="Cambria" pitchFamily="34" charset="-122"/>
                <a:cs typeface="Cambria" pitchFamily="34" charset="-120"/>
              </a:rPr>
              <a:t>What's done, what's next</a:t>
            </a:r>
            <a:endParaRPr lang="en-US" sz="3000" dirty="0"/>
          </a:p>
        </p:txBody>
      </p:sp>
      <p:sp>
        <p:nvSpPr>
          <p:cNvPr id="5" name="Text 3"/>
          <p:cNvSpPr/>
          <p:nvPr/>
        </p:nvSpPr>
        <p:spPr>
          <a:xfrm>
            <a:off x="548640" y="1170432"/>
            <a:ext cx="11064240" cy="32004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Week 2 in progress (project started 7/27) — classifier work is ahead of plan; RAG and infra are the real gap now</a:t>
            </a:r>
            <a:endParaRPr lang="en-US" sz="1300" dirty="0"/>
          </a:p>
        </p:txBody>
      </p:sp>
      <p:sp>
        <p:nvSpPr>
          <p:cNvPr id="6" name="Text 4"/>
          <p:cNvSpPr/>
          <p:nvPr/>
        </p:nvSpPr>
        <p:spPr>
          <a:xfrm>
            <a:off x="548640" y="1874520"/>
            <a:ext cx="42062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Workstream</a:t>
            </a:r>
            <a:endParaRPr lang="en-US" sz="1300" dirty="0"/>
          </a:p>
        </p:txBody>
      </p:sp>
      <p:sp>
        <p:nvSpPr>
          <p:cNvPr id="7" name="Text 5"/>
          <p:cNvSpPr/>
          <p:nvPr/>
        </p:nvSpPr>
        <p:spPr>
          <a:xfrm>
            <a:off x="4846320" y="1874520"/>
            <a:ext cx="164592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Status</a:t>
            </a:r>
            <a:endParaRPr lang="en-US" sz="1300" dirty="0"/>
          </a:p>
        </p:txBody>
      </p:sp>
      <p:sp>
        <p:nvSpPr>
          <p:cNvPr id="8" name="Text 6"/>
          <p:cNvSpPr/>
          <p:nvPr/>
        </p:nvSpPr>
        <p:spPr>
          <a:xfrm>
            <a:off x="6583680" y="1874520"/>
            <a:ext cx="5120640" cy="32004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Note</a:t>
            </a:r>
            <a:endParaRPr lang="en-US" sz="1300" dirty="0"/>
          </a:p>
        </p:txBody>
      </p:sp>
      <p:sp>
        <p:nvSpPr>
          <p:cNvPr id="9" name="Shape 7"/>
          <p:cNvSpPr/>
          <p:nvPr/>
        </p:nvSpPr>
        <p:spPr>
          <a:xfrm>
            <a:off x="548640" y="2240280"/>
            <a:ext cx="11064240" cy="0"/>
          </a:xfrm>
          <a:prstGeom prst="line">
            <a:avLst/>
          </a:prstGeom>
          <a:noFill/>
          <a:ln w="12700">
            <a:solidFill>
              <a:srgbClr val="D7DEEA"/>
            </a:solidFill>
            <a:prstDash val="solid"/>
          </a:ln>
        </p:spPr>
      </p:sp>
      <p:sp>
        <p:nvSpPr>
          <p:cNvPr id="10" name="Shape 8"/>
          <p:cNvSpPr/>
          <p:nvPr/>
        </p:nvSpPr>
        <p:spPr>
          <a:xfrm>
            <a:off x="548640" y="2450592"/>
            <a:ext cx="128016" cy="128016"/>
          </a:xfrm>
          <a:prstGeom prst="ellipse">
            <a:avLst/>
          </a:prstGeom>
          <a:solidFill>
            <a:srgbClr val="3F7D5C"/>
          </a:solidFill>
          <a:ln/>
        </p:spPr>
      </p:sp>
      <p:sp>
        <p:nvSpPr>
          <p:cNvPr id="11" name="Text 9"/>
          <p:cNvSpPr/>
          <p:nvPr/>
        </p:nvSpPr>
        <p:spPr>
          <a:xfrm>
            <a:off x="804672" y="23774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Subsystem locked</a:t>
            </a:r>
            <a:endParaRPr lang="en-US" sz="1300" dirty="0"/>
          </a:p>
        </p:txBody>
      </p:sp>
      <p:sp>
        <p:nvSpPr>
          <p:cNvPr id="12" name="Text 10"/>
          <p:cNvSpPr/>
          <p:nvPr/>
        </p:nvSpPr>
        <p:spPr>
          <a:xfrm>
            <a:off x="4846320" y="2377440"/>
            <a:ext cx="1645920" cy="365760"/>
          </a:xfrm>
          <a:prstGeom prst="rect">
            <a:avLst/>
          </a:prstGeom>
          <a:noFill/>
          <a:ln/>
        </p:spPr>
        <p:txBody>
          <a:bodyPr wrap="square" rtlCol="0" anchor="ctr"/>
          <a:lstStyle/>
          <a:p>
            <a:pPr indent="0" marL="0">
              <a:buNone/>
            </a:pPr>
            <a:r>
              <a:rPr lang="en-US" sz="1200" dirty="0">
                <a:solidFill>
                  <a:srgbClr val="3F7D5C"/>
                </a:solidFill>
                <a:latin typeface="Calibri" pitchFamily="34" charset="0"/>
                <a:ea typeface="Calibri" pitchFamily="34" charset="-122"/>
                <a:cs typeface="Calibri" pitchFamily="34" charset="-120"/>
              </a:rPr>
              <a:t>Done</a:t>
            </a:r>
            <a:endParaRPr lang="en-US" sz="1200" dirty="0"/>
          </a:p>
        </p:txBody>
      </p:sp>
      <p:sp>
        <p:nvSpPr>
          <p:cNvPr id="13" name="Text 11"/>
          <p:cNvSpPr/>
          <p:nvPr/>
        </p:nvSpPr>
        <p:spPr>
          <a:xfrm>
            <a:off x="6583680" y="23774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Battery / EV</a:t>
            </a:r>
            <a:endParaRPr lang="en-US" sz="1150" dirty="0"/>
          </a:p>
        </p:txBody>
      </p:sp>
      <p:sp>
        <p:nvSpPr>
          <p:cNvPr id="14" name="Shape 12"/>
          <p:cNvSpPr/>
          <p:nvPr/>
        </p:nvSpPr>
        <p:spPr>
          <a:xfrm>
            <a:off x="548640" y="2907792"/>
            <a:ext cx="128016" cy="128016"/>
          </a:xfrm>
          <a:prstGeom prst="ellipse">
            <a:avLst/>
          </a:prstGeom>
          <a:solidFill>
            <a:srgbClr val="3F7D5C"/>
          </a:solidFill>
          <a:ln/>
        </p:spPr>
      </p:sp>
      <p:sp>
        <p:nvSpPr>
          <p:cNvPr id="15" name="Text 13"/>
          <p:cNvSpPr/>
          <p:nvPr/>
        </p:nvSpPr>
        <p:spPr>
          <a:xfrm>
            <a:off x="804672" y="28346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Classifier dataset</a:t>
            </a:r>
            <a:endParaRPr lang="en-US" sz="1300" dirty="0"/>
          </a:p>
        </p:txBody>
      </p:sp>
      <p:sp>
        <p:nvSpPr>
          <p:cNvPr id="16" name="Text 14"/>
          <p:cNvSpPr/>
          <p:nvPr/>
        </p:nvSpPr>
        <p:spPr>
          <a:xfrm>
            <a:off x="4846320" y="2834640"/>
            <a:ext cx="1645920" cy="365760"/>
          </a:xfrm>
          <a:prstGeom prst="rect">
            <a:avLst/>
          </a:prstGeom>
          <a:noFill/>
          <a:ln/>
        </p:spPr>
        <p:txBody>
          <a:bodyPr wrap="square" rtlCol="0" anchor="ctr"/>
          <a:lstStyle/>
          <a:p>
            <a:pPr indent="0" marL="0">
              <a:buNone/>
            </a:pPr>
            <a:r>
              <a:rPr lang="en-US" sz="1200" dirty="0">
                <a:solidFill>
                  <a:srgbClr val="3F7D5C"/>
                </a:solidFill>
                <a:latin typeface="Calibri" pitchFamily="34" charset="0"/>
                <a:ea typeface="Calibri" pitchFamily="34" charset="-122"/>
                <a:cs typeface="Calibri" pitchFamily="34" charset="-120"/>
              </a:rPr>
              <a:t>Done</a:t>
            </a:r>
            <a:endParaRPr lang="en-US" sz="1200" dirty="0"/>
          </a:p>
        </p:txBody>
      </p:sp>
      <p:sp>
        <p:nvSpPr>
          <p:cNvPr id="17" name="Text 15"/>
          <p:cNvSpPr/>
          <p:nvPr/>
        </p:nvSpPr>
        <p:spPr>
          <a:xfrm>
            <a:off x="6583680" y="28346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175,200 rows, cleaned, labeled, EDA'd</a:t>
            </a:r>
            <a:endParaRPr lang="en-US" sz="1150" dirty="0"/>
          </a:p>
        </p:txBody>
      </p:sp>
      <p:sp>
        <p:nvSpPr>
          <p:cNvPr id="18" name="Shape 16"/>
          <p:cNvSpPr/>
          <p:nvPr/>
        </p:nvSpPr>
        <p:spPr>
          <a:xfrm>
            <a:off x="548640" y="3364992"/>
            <a:ext cx="128016" cy="128016"/>
          </a:xfrm>
          <a:prstGeom prst="ellipse">
            <a:avLst/>
          </a:prstGeom>
          <a:solidFill>
            <a:srgbClr val="3F7D5C"/>
          </a:solidFill>
          <a:ln/>
        </p:spPr>
      </p:sp>
      <p:sp>
        <p:nvSpPr>
          <p:cNvPr id="19" name="Text 17"/>
          <p:cNvSpPr/>
          <p:nvPr/>
        </p:nvSpPr>
        <p:spPr>
          <a:xfrm>
            <a:off x="804672" y="32918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NHTSA RAG corpus</a:t>
            </a:r>
            <a:endParaRPr lang="en-US" sz="1300" dirty="0"/>
          </a:p>
        </p:txBody>
      </p:sp>
      <p:sp>
        <p:nvSpPr>
          <p:cNvPr id="20" name="Text 18"/>
          <p:cNvSpPr/>
          <p:nvPr/>
        </p:nvSpPr>
        <p:spPr>
          <a:xfrm>
            <a:off x="4846320" y="3291840"/>
            <a:ext cx="1645920" cy="365760"/>
          </a:xfrm>
          <a:prstGeom prst="rect">
            <a:avLst/>
          </a:prstGeom>
          <a:noFill/>
          <a:ln/>
        </p:spPr>
        <p:txBody>
          <a:bodyPr wrap="square" rtlCol="0" anchor="ctr"/>
          <a:lstStyle/>
          <a:p>
            <a:pPr indent="0" marL="0">
              <a:buNone/>
            </a:pPr>
            <a:r>
              <a:rPr lang="en-US" sz="1200" dirty="0">
                <a:solidFill>
                  <a:srgbClr val="3F7D5C"/>
                </a:solidFill>
                <a:latin typeface="Calibri" pitchFamily="34" charset="0"/>
                <a:ea typeface="Calibri" pitchFamily="34" charset="-122"/>
                <a:cs typeface="Calibri" pitchFamily="34" charset="-120"/>
              </a:rPr>
              <a:t>Done</a:t>
            </a:r>
            <a:endParaRPr lang="en-US" sz="1200" dirty="0"/>
          </a:p>
        </p:txBody>
      </p:sp>
      <p:sp>
        <p:nvSpPr>
          <p:cNvPr id="21" name="Text 19"/>
          <p:cNvSpPr/>
          <p:nvPr/>
        </p:nvSpPr>
        <p:spPr>
          <a:xfrm>
            <a:off x="6583680" y="32918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202 recalls + 3,329 complaints, filtered</a:t>
            </a:r>
            <a:endParaRPr lang="en-US" sz="1150" dirty="0"/>
          </a:p>
        </p:txBody>
      </p:sp>
      <p:sp>
        <p:nvSpPr>
          <p:cNvPr id="22" name="Shape 20"/>
          <p:cNvSpPr/>
          <p:nvPr/>
        </p:nvSpPr>
        <p:spPr>
          <a:xfrm>
            <a:off x="548640" y="3822192"/>
            <a:ext cx="128016" cy="128016"/>
          </a:xfrm>
          <a:prstGeom prst="ellipse">
            <a:avLst/>
          </a:prstGeom>
          <a:solidFill>
            <a:srgbClr val="3F7D5C"/>
          </a:solidFill>
          <a:ln/>
        </p:spPr>
      </p:sp>
      <p:sp>
        <p:nvSpPr>
          <p:cNvPr id="23" name="Text 21"/>
          <p:cNvSpPr/>
          <p:nvPr/>
        </p:nvSpPr>
        <p:spPr>
          <a:xfrm>
            <a:off x="804672" y="37490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Baseline classifier</a:t>
            </a:r>
            <a:endParaRPr lang="en-US" sz="1300" dirty="0"/>
          </a:p>
        </p:txBody>
      </p:sp>
      <p:sp>
        <p:nvSpPr>
          <p:cNvPr id="24" name="Text 22"/>
          <p:cNvSpPr/>
          <p:nvPr/>
        </p:nvSpPr>
        <p:spPr>
          <a:xfrm>
            <a:off x="4846320" y="3749040"/>
            <a:ext cx="1645920" cy="365760"/>
          </a:xfrm>
          <a:prstGeom prst="rect">
            <a:avLst/>
          </a:prstGeom>
          <a:noFill/>
          <a:ln/>
        </p:spPr>
        <p:txBody>
          <a:bodyPr wrap="square" rtlCol="0" anchor="ctr"/>
          <a:lstStyle/>
          <a:p>
            <a:pPr indent="0" marL="0">
              <a:buNone/>
            </a:pPr>
            <a:r>
              <a:rPr lang="en-US" sz="1200" dirty="0">
                <a:solidFill>
                  <a:srgbClr val="3F7D5C"/>
                </a:solidFill>
                <a:latin typeface="Calibri" pitchFamily="34" charset="0"/>
                <a:ea typeface="Calibri" pitchFamily="34" charset="-122"/>
                <a:cs typeface="Calibri" pitchFamily="34" charset="-120"/>
              </a:rPr>
              <a:t>Done</a:t>
            </a:r>
            <a:endParaRPr lang="en-US" sz="1200" dirty="0"/>
          </a:p>
        </p:txBody>
      </p:sp>
      <p:sp>
        <p:nvSpPr>
          <p:cNvPr id="25" name="Text 23"/>
          <p:cNvSpPr/>
          <p:nvPr/>
        </p:nvSpPr>
        <p:spPr>
          <a:xfrm>
            <a:off x="6583680" y="37490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Reframed to forecasting after a methodology catch — ~0.60 macro F1</a:t>
            </a:r>
            <a:endParaRPr lang="en-US" sz="1150" dirty="0"/>
          </a:p>
        </p:txBody>
      </p:sp>
      <p:sp>
        <p:nvSpPr>
          <p:cNvPr id="26" name="Shape 24"/>
          <p:cNvSpPr/>
          <p:nvPr/>
        </p:nvSpPr>
        <p:spPr>
          <a:xfrm>
            <a:off x="548640" y="4279392"/>
            <a:ext cx="128016" cy="128016"/>
          </a:xfrm>
          <a:prstGeom prst="ellipse">
            <a:avLst/>
          </a:prstGeom>
          <a:solidFill>
            <a:srgbClr val="3F7D5C"/>
          </a:solidFill>
          <a:ln/>
        </p:spPr>
      </p:sp>
      <p:sp>
        <p:nvSpPr>
          <p:cNvPr id="27" name="Text 25"/>
          <p:cNvSpPr/>
          <p:nvPr/>
        </p:nvSpPr>
        <p:spPr>
          <a:xfrm>
            <a:off x="804672" y="42062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Model comparison + decision</a:t>
            </a:r>
            <a:endParaRPr lang="en-US" sz="1300" dirty="0"/>
          </a:p>
        </p:txBody>
      </p:sp>
      <p:sp>
        <p:nvSpPr>
          <p:cNvPr id="28" name="Text 26"/>
          <p:cNvSpPr/>
          <p:nvPr/>
        </p:nvSpPr>
        <p:spPr>
          <a:xfrm>
            <a:off x="4846320" y="4206240"/>
            <a:ext cx="1645920" cy="365760"/>
          </a:xfrm>
          <a:prstGeom prst="rect">
            <a:avLst/>
          </a:prstGeom>
          <a:noFill/>
          <a:ln/>
        </p:spPr>
        <p:txBody>
          <a:bodyPr wrap="square" rtlCol="0" anchor="ctr"/>
          <a:lstStyle/>
          <a:p>
            <a:pPr indent="0" marL="0">
              <a:buNone/>
            </a:pPr>
            <a:r>
              <a:rPr lang="en-US" sz="1200" dirty="0">
                <a:solidFill>
                  <a:srgbClr val="3F7D5C"/>
                </a:solidFill>
                <a:latin typeface="Calibri" pitchFamily="34" charset="0"/>
                <a:ea typeface="Calibri" pitchFamily="34" charset="-122"/>
                <a:cs typeface="Calibri" pitchFamily="34" charset="-120"/>
              </a:rPr>
              <a:t>Done</a:t>
            </a:r>
            <a:endParaRPr lang="en-US" sz="1200" dirty="0"/>
          </a:p>
        </p:txBody>
      </p:sp>
      <p:sp>
        <p:nvSpPr>
          <p:cNvPr id="29" name="Text 27"/>
          <p:cNvSpPr/>
          <p:nvPr/>
        </p:nvSpPr>
        <p:spPr>
          <a:xfrm>
            <a:off x="6583680" y="42062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5 model families across 3 people — shipping Random Forest (see next slides)</a:t>
            </a:r>
            <a:endParaRPr lang="en-US" sz="1150" dirty="0"/>
          </a:p>
        </p:txBody>
      </p:sp>
      <p:sp>
        <p:nvSpPr>
          <p:cNvPr id="30" name="Shape 28"/>
          <p:cNvSpPr/>
          <p:nvPr/>
        </p:nvSpPr>
        <p:spPr>
          <a:xfrm>
            <a:off x="548640" y="4736592"/>
            <a:ext cx="128016" cy="128016"/>
          </a:xfrm>
          <a:prstGeom prst="ellipse">
            <a:avLst/>
          </a:prstGeom>
          <a:solidFill>
            <a:srgbClr val="9AA3B5"/>
          </a:solidFill>
          <a:ln/>
        </p:spPr>
      </p:sp>
      <p:sp>
        <p:nvSpPr>
          <p:cNvPr id="31" name="Text 29"/>
          <p:cNvSpPr/>
          <p:nvPr/>
        </p:nvSpPr>
        <p:spPr>
          <a:xfrm>
            <a:off x="804672" y="46634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RAG embeddings + retrieval</a:t>
            </a:r>
            <a:endParaRPr lang="en-US" sz="1300" dirty="0"/>
          </a:p>
        </p:txBody>
      </p:sp>
      <p:sp>
        <p:nvSpPr>
          <p:cNvPr id="32" name="Text 30"/>
          <p:cNvSpPr/>
          <p:nvPr/>
        </p:nvSpPr>
        <p:spPr>
          <a:xfrm>
            <a:off x="4846320" y="4663440"/>
            <a:ext cx="1645920" cy="365760"/>
          </a:xfrm>
          <a:prstGeom prst="rect">
            <a:avLst/>
          </a:prstGeom>
          <a:noFill/>
          <a:ln/>
        </p:spPr>
        <p:txBody>
          <a:bodyPr wrap="square" rtlCol="0" anchor="ctr"/>
          <a:lstStyle/>
          <a:p>
            <a:pPr indent="0" marL="0">
              <a:buNone/>
            </a:pPr>
            <a:r>
              <a:rPr lang="en-US" sz="1200" dirty="0">
                <a:solidFill>
                  <a:srgbClr val="5B6478"/>
                </a:solidFill>
                <a:latin typeface="Calibri" pitchFamily="34" charset="0"/>
                <a:ea typeface="Calibri" pitchFamily="34" charset="-122"/>
                <a:cs typeface="Calibri" pitchFamily="34" charset="-120"/>
              </a:rPr>
              <a:t>Not started</a:t>
            </a:r>
            <a:endParaRPr lang="en-US" sz="1200" dirty="0"/>
          </a:p>
        </p:txBody>
      </p:sp>
      <p:sp>
        <p:nvSpPr>
          <p:cNvPr id="33" name="Text 31"/>
          <p:cNvSpPr/>
          <p:nvPr/>
        </p:nvSpPr>
        <p:spPr>
          <a:xfrm>
            <a:off x="6583680" y="46634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Starting now — chunking is the first concrete task</a:t>
            </a:r>
            <a:endParaRPr lang="en-US" sz="1150" dirty="0"/>
          </a:p>
        </p:txBody>
      </p:sp>
      <p:sp>
        <p:nvSpPr>
          <p:cNvPr id="34" name="Shape 32"/>
          <p:cNvSpPr/>
          <p:nvPr/>
        </p:nvSpPr>
        <p:spPr>
          <a:xfrm>
            <a:off x="548640" y="5193792"/>
            <a:ext cx="128016" cy="128016"/>
          </a:xfrm>
          <a:prstGeom prst="ellipse">
            <a:avLst/>
          </a:prstGeom>
          <a:solidFill>
            <a:srgbClr val="9AA3B5"/>
          </a:solidFill>
          <a:ln/>
        </p:spPr>
      </p:sp>
      <p:sp>
        <p:nvSpPr>
          <p:cNvPr id="35" name="Text 33"/>
          <p:cNvSpPr/>
          <p:nvPr/>
        </p:nvSpPr>
        <p:spPr>
          <a:xfrm>
            <a:off x="804672" y="51206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Supabase + Streamlit skeleton</a:t>
            </a:r>
            <a:endParaRPr lang="en-US" sz="1300" dirty="0"/>
          </a:p>
        </p:txBody>
      </p:sp>
      <p:sp>
        <p:nvSpPr>
          <p:cNvPr id="36" name="Text 34"/>
          <p:cNvSpPr/>
          <p:nvPr/>
        </p:nvSpPr>
        <p:spPr>
          <a:xfrm>
            <a:off x="4846320" y="5120640"/>
            <a:ext cx="1645920" cy="365760"/>
          </a:xfrm>
          <a:prstGeom prst="rect">
            <a:avLst/>
          </a:prstGeom>
          <a:noFill/>
          <a:ln/>
        </p:spPr>
        <p:txBody>
          <a:bodyPr wrap="square" rtlCol="0" anchor="ctr"/>
          <a:lstStyle/>
          <a:p>
            <a:pPr indent="0" marL="0">
              <a:buNone/>
            </a:pPr>
            <a:r>
              <a:rPr lang="en-US" sz="1200" dirty="0">
                <a:solidFill>
                  <a:srgbClr val="5B6478"/>
                </a:solidFill>
                <a:latin typeface="Calibri" pitchFamily="34" charset="0"/>
                <a:ea typeface="Calibri" pitchFamily="34" charset="-122"/>
                <a:cs typeface="Calibri" pitchFamily="34" charset="-120"/>
              </a:rPr>
              <a:t>Not started</a:t>
            </a:r>
            <a:endParaRPr lang="en-US" sz="1200" dirty="0"/>
          </a:p>
        </p:txBody>
      </p:sp>
      <p:sp>
        <p:nvSpPr>
          <p:cNvPr id="37" name="Text 35"/>
          <p:cNvSpPr/>
          <p:nvPr/>
        </p:nvSpPr>
        <p:spPr>
          <a:xfrm>
            <a:off x="6583680" y="51206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Schema written, not yet wired to the app</a:t>
            </a:r>
            <a:endParaRPr lang="en-US" sz="1150" dirty="0"/>
          </a:p>
        </p:txBody>
      </p:sp>
      <p:sp>
        <p:nvSpPr>
          <p:cNvPr id="38" name="Shape 36"/>
          <p:cNvSpPr/>
          <p:nvPr/>
        </p:nvSpPr>
        <p:spPr>
          <a:xfrm>
            <a:off x="548640" y="5650992"/>
            <a:ext cx="128016" cy="128016"/>
          </a:xfrm>
          <a:prstGeom prst="ellipse">
            <a:avLst/>
          </a:prstGeom>
          <a:solidFill>
            <a:srgbClr val="9AA3B5"/>
          </a:solidFill>
          <a:ln/>
        </p:spPr>
      </p:sp>
      <p:sp>
        <p:nvSpPr>
          <p:cNvPr id="39" name="Text 37"/>
          <p:cNvSpPr/>
          <p:nvPr/>
        </p:nvSpPr>
        <p:spPr>
          <a:xfrm>
            <a:off x="804672" y="5577840"/>
            <a:ext cx="3931920" cy="36576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Agent tool-calling loop</a:t>
            </a:r>
            <a:endParaRPr lang="en-US" sz="1300" dirty="0"/>
          </a:p>
        </p:txBody>
      </p:sp>
      <p:sp>
        <p:nvSpPr>
          <p:cNvPr id="40" name="Text 38"/>
          <p:cNvSpPr/>
          <p:nvPr/>
        </p:nvSpPr>
        <p:spPr>
          <a:xfrm>
            <a:off x="4846320" y="5577840"/>
            <a:ext cx="1645920" cy="365760"/>
          </a:xfrm>
          <a:prstGeom prst="rect">
            <a:avLst/>
          </a:prstGeom>
          <a:noFill/>
          <a:ln/>
        </p:spPr>
        <p:txBody>
          <a:bodyPr wrap="square" rtlCol="0" anchor="ctr"/>
          <a:lstStyle/>
          <a:p>
            <a:pPr indent="0" marL="0">
              <a:buNone/>
            </a:pPr>
            <a:r>
              <a:rPr lang="en-US" sz="1200" dirty="0">
                <a:solidFill>
                  <a:srgbClr val="5B6478"/>
                </a:solidFill>
                <a:latin typeface="Calibri" pitchFamily="34" charset="0"/>
                <a:ea typeface="Calibri" pitchFamily="34" charset="-122"/>
                <a:cs typeface="Calibri" pitchFamily="34" charset="-120"/>
              </a:rPr>
              <a:t>Not started</a:t>
            </a:r>
            <a:endParaRPr lang="en-US" sz="1200" dirty="0"/>
          </a:p>
        </p:txBody>
      </p:sp>
      <p:sp>
        <p:nvSpPr>
          <p:cNvPr id="41" name="Text 39"/>
          <p:cNvSpPr/>
          <p:nvPr/>
        </p:nvSpPr>
        <p:spPr>
          <a:xfrm>
            <a:off x="6583680" y="5577840"/>
            <a:ext cx="5120640" cy="365760"/>
          </a:xfrm>
          <a:prstGeom prst="rect">
            <a:avLst/>
          </a:prstGeom>
          <a:noFill/>
          <a:ln/>
        </p:spPr>
        <p:txBody>
          <a:bodyPr wrap="square" rtlCol="0" anchor="ctr"/>
          <a:lstStyle/>
          <a:p>
            <a:pPr indent="0" marL="0">
              <a:buNone/>
            </a:pPr>
            <a:r>
              <a:rPr lang="en-US" sz="1150" dirty="0">
                <a:solidFill>
                  <a:srgbClr val="5B6478"/>
                </a:solidFill>
                <a:latin typeface="Calibri" pitchFamily="34" charset="0"/>
                <a:ea typeface="Calibri" pitchFamily="34" charset="-122"/>
                <a:cs typeface="Calibri" pitchFamily="34" charset="-120"/>
              </a:rPr>
              <a:t>Blocked on RAG + classifier wiring</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9AA3B5"/>
                </a:solidFill>
                <a:latin typeface="Calibri" pitchFamily="34" charset="0"/>
                <a:ea typeface="Calibri" pitchFamily="34" charset="-122"/>
                <a:cs typeface="Calibri" pitchFamily="34" charset="-120"/>
              </a:rPr>
              <a:t>12</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BASELINE COMPARISON</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1E2761"/>
                </a:solidFill>
                <a:latin typeface="Cambria" pitchFamily="34" charset="0"/>
                <a:ea typeface="Cambria" pitchFamily="34" charset="-122"/>
                <a:cs typeface="Cambria" pitchFamily="34" charset="-120"/>
              </a:rPr>
              <a:t>Baseline models, ranked on the fault class</a:t>
            </a:r>
            <a:endParaRPr lang="en-US" sz="3000" dirty="0"/>
          </a:p>
        </p:txBody>
      </p:sp>
      <p:sp>
        <p:nvSpPr>
          <p:cNvPr id="5" name="Text 3"/>
          <p:cNvSpPr/>
          <p:nvPr/>
        </p:nvSpPr>
        <p:spPr>
          <a:xfrm>
            <a:off x="548640" y="1828800"/>
            <a:ext cx="3840480" cy="384048"/>
          </a:xfrm>
          <a:prstGeom prst="rect">
            <a:avLst/>
          </a:prstGeom>
          <a:solidFill>
            <a:srgbClr val="1E2761"/>
          </a:solidFill>
          <a:ln/>
        </p:spPr>
        <p:txBody>
          <a:bodyPr wrap="square" lIns="50800" tIns="50800" rIns="50800" bIns="5080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6" name="Text 4"/>
          <p:cNvSpPr/>
          <p:nvPr/>
        </p:nvSpPr>
        <p:spPr>
          <a:xfrm>
            <a:off x="4572000" y="1828800"/>
            <a:ext cx="2194560" cy="384048"/>
          </a:xfrm>
          <a:prstGeom prst="rect">
            <a:avLst/>
          </a:prstGeom>
          <a:solidFill>
            <a:srgbClr val="1E2761"/>
          </a:solid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6h macro F1</a:t>
            </a:r>
            <a:endParaRPr lang="en-US" sz="1300" dirty="0"/>
          </a:p>
        </p:txBody>
      </p:sp>
      <p:sp>
        <p:nvSpPr>
          <p:cNvPr id="7" name="Text 5"/>
          <p:cNvSpPr/>
          <p:nvPr/>
        </p:nvSpPr>
        <p:spPr>
          <a:xfrm>
            <a:off x="6949440" y="1828800"/>
            <a:ext cx="2194560" cy="384048"/>
          </a:xfrm>
          <a:prstGeom prst="rect">
            <a:avLst/>
          </a:prstGeom>
          <a:solidFill>
            <a:srgbClr val="1E2761"/>
          </a:solid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6h F1 fault</a:t>
            </a:r>
            <a:endParaRPr lang="en-US" sz="1300" dirty="0"/>
          </a:p>
        </p:txBody>
      </p:sp>
      <p:sp>
        <p:nvSpPr>
          <p:cNvPr id="8" name="Text 6"/>
          <p:cNvSpPr/>
          <p:nvPr/>
        </p:nvSpPr>
        <p:spPr>
          <a:xfrm>
            <a:off x="9326880" y="1828800"/>
            <a:ext cx="2103120" cy="384048"/>
          </a:xfrm>
          <a:prstGeom prst="rect">
            <a:avLst/>
          </a:prstGeom>
          <a:solidFill>
            <a:srgbClr val="1E2761"/>
          </a:solidFill>
          <a:ln/>
        </p:spPr>
        <p:txBody>
          <a:bodyPr wrap="square" lIns="50800" tIns="50800" rIns="50800" bIns="508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6h recall</a:t>
            </a:r>
            <a:endParaRPr lang="en-US" sz="1300" dirty="0"/>
          </a:p>
        </p:txBody>
      </p:sp>
      <p:sp>
        <p:nvSpPr>
          <p:cNvPr id="9" name="Text 7"/>
          <p:cNvSpPr/>
          <p:nvPr/>
        </p:nvSpPr>
        <p:spPr>
          <a:xfrm>
            <a:off x="548640" y="2212848"/>
            <a:ext cx="3840480" cy="502920"/>
          </a:xfrm>
          <a:prstGeom prst="rect">
            <a:avLst/>
          </a:prstGeom>
          <a:solidFill>
            <a:srgbClr val="FDF3E0"/>
          </a:solidFill>
          <a:ln/>
        </p:spPr>
        <p:txBody>
          <a:bodyPr wrap="square" lIns="50800" tIns="50800" rIns="50800" bIns="50800" rtlCol="0" anchor="ctr"/>
          <a:lstStyle/>
          <a:p>
            <a:pPr algn="l" indent="0" marL="0">
              <a:buNone/>
            </a:pPr>
            <a:r>
              <a:rPr lang="en-US" sz="1400" b="1" dirty="0">
                <a:solidFill>
                  <a:srgbClr val="1E2761"/>
                </a:solidFill>
                <a:latin typeface="Calibri" pitchFamily="34" charset="0"/>
                <a:ea typeface="Calibri" pitchFamily="34" charset="-122"/>
                <a:cs typeface="Calibri" pitchFamily="34" charset="-120"/>
              </a:rPr>
              <a:t>Random Forest</a:t>
            </a:r>
            <a:endParaRPr lang="en-US" sz="1400" dirty="0"/>
          </a:p>
        </p:txBody>
      </p:sp>
      <p:sp>
        <p:nvSpPr>
          <p:cNvPr id="10" name="Text 8"/>
          <p:cNvSpPr/>
          <p:nvPr/>
        </p:nvSpPr>
        <p:spPr>
          <a:xfrm>
            <a:off x="4572000" y="2212848"/>
            <a:ext cx="2194560" cy="502920"/>
          </a:xfrm>
          <a:prstGeom prst="rect">
            <a:avLst/>
          </a:prstGeom>
          <a:solidFill>
            <a:srgbClr val="FDF3E0"/>
          </a:solidFill>
          <a:ln/>
        </p:spPr>
        <p:txBody>
          <a:bodyPr wrap="square" lIns="50800" tIns="50800" rIns="50800" bIns="508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0.599</a:t>
            </a:r>
            <a:endParaRPr lang="en-US" sz="1400" dirty="0"/>
          </a:p>
        </p:txBody>
      </p:sp>
      <p:sp>
        <p:nvSpPr>
          <p:cNvPr id="11" name="Text 9"/>
          <p:cNvSpPr/>
          <p:nvPr/>
        </p:nvSpPr>
        <p:spPr>
          <a:xfrm>
            <a:off x="6949440" y="2212848"/>
            <a:ext cx="2194560" cy="502920"/>
          </a:xfrm>
          <a:prstGeom prst="rect">
            <a:avLst/>
          </a:prstGeom>
          <a:solidFill>
            <a:srgbClr val="FDF3E0"/>
          </a:solidFill>
          <a:ln/>
        </p:spPr>
        <p:txBody>
          <a:bodyPr wrap="square" lIns="50800" tIns="50800" rIns="50800" bIns="508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0.332</a:t>
            </a:r>
            <a:endParaRPr lang="en-US" sz="1400" dirty="0"/>
          </a:p>
        </p:txBody>
      </p:sp>
      <p:sp>
        <p:nvSpPr>
          <p:cNvPr id="12" name="Text 10"/>
          <p:cNvSpPr/>
          <p:nvPr/>
        </p:nvSpPr>
        <p:spPr>
          <a:xfrm>
            <a:off x="9326880" y="2212848"/>
            <a:ext cx="2103120" cy="502920"/>
          </a:xfrm>
          <a:prstGeom prst="rect">
            <a:avLst/>
          </a:prstGeom>
          <a:solidFill>
            <a:srgbClr val="FDF3E0"/>
          </a:solidFill>
          <a:ln/>
        </p:spPr>
        <p:txBody>
          <a:bodyPr wrap="square" lIns="50800" tIns="50800" rIns="50800" bIns="508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0.594</a:t>
            </a:r>
            <a:endParaRPr lang="en-US" sz="1400" dirty="0"/>
          </a:p>
        </p:txBody>
      </p:sp>
      <p:sp>
        <p:nvSpPr>
          <p:cNvPr id="13" name="Text 11"/>
          <p:cNvSpPr/>
          <p:nvPr/>
        </p:nvSpPr>
        <p:spPr>
          <a:xfrm>
            <a:off x="548640" y="2715768"/>
            <a:ext cx="3840480" cy="502920"/>
          </a:xfrm>
          <a:prstGeom prst="rect">
            <a:avLst/>
          </a:prstGeom>
          <a:solidFill>
            <a:srgbClr val="EEF3FD"/>
          </a:solidFill>
          <a:ln/>
        </p:spPr>
        <p:txBody>
          <a:bodyPr wrap="square" lIns="50800" tIns="50800" rIns="50800" bIns="5080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Ensemble (soft voting)</a:t>
            </a:r>
            <a:endParaRPr lang="en-US" sz="1300" dirty="0"/>
          </a:p>
        </p:txBody>
      </p:sp>
      <p:sp>
        <p:nvSpPr>
          <p:cNvPr id="14" name="Text 12"/>
          <p:cNvSpPr/>
          <p:nvPr/>
        </p:nvSpPr>
        <p:spPr>
          <a:xfrm>
            <a:off x="4572000" y="2715768"/>
            <a:ext cx="2194560" cy="502920"/>
          </a:xfrm>
          <a:prstGeom prst="rect">
            <a:avLst/>
          </a:prstGeom>
          <a:solidFill>
            <a:srgbClr val="EEF3FD"/>
          </a:solidFill>
          <a:ln/>
        </p:spPr>
        <p:txBody>
          <a:bodyPr wrap="square" lIns="50800" tIns="50800" rIns="50800" bIns="508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0.600</a:t>
            </a:r>
            <a:endParaRPr lang="en-US" sz="1300" dirty="0"/>
          </a:p>
        </p:txBody>
      </p:sp>
      <p:sp>
        <p:nvSpPr>
          <p:cNvPr id="15" name="Text 13"/>
          <p:cNvSpPr/>
          <p:nvPr/>
        </p:nvSpPr>
        <p:spPr>
          <a:xfrm>
            <a:off x="6949440" y="2715768"/>
            <a:ext cx="2194560" cy="502920"/>
          </a:xfrm>
          <a:prstGeom prst="rect">
            <a:avLst/>
          </a:prstGeom>
          <a:solidFill>
            <a:srgbClr val="EEF3FD"/>
          </a:solidFill>
          <a:ln/>
        </p:spPr>
        <p:txBody>
          <a:bodyPr wrap="square" lIns="50800" tIns="50800" rIns="50800" bIns="508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0.321</a:t>
            </a:r>
            <a:endParaRPr lang="en-US" sz="1300" dirty="0"/>
          </a:p>
        </p:txBody>
      </p:sp>
      <p:sp>
        <p:nvSpPr>
          <p:cNvPr id="16" name="Text 14"/>
          <p:cNvSpPr/>
          <p:nvPr/>
        </p:nvSpPr>
        <p:spPr>
          <a:xfrm>
            <a:off x="9326880" y="2715768"/>
            <a:ext cx="2103120" cy="502920"/>
          </a:xfrm>
          <a:prstGeom prst="rect">
            <a:avLst/>
          </a:prstGeom>
          <a:solidFill>
            <a:srgbClr val="EEF3FD"/>
          </a:solidFill>
          <a:ln/>
        </p:spPr>
        <p:txBody>
          <a:bodyPr wrap="square" lIns="50800" tIns="50800" rIns="50800" bIns="508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0.516</a:t>
            </a:r>
            <a:endParaRPr lang="en-US" sz="1300" dirty="0"/>
          </a:p>
        </p:txBody>
      </p:sp>
      <p:sp>
        <p:nvSpPr>
          <p:cNvPr id="17" name="Text 15"/>
          <p:cNvSpPr/>
          <p:nvPr/>
        </p:nvSpPr>
        <p:spPr>
          <a:xfrm>
            <a:off x="548640" y="3218688"/>
            <a:ext cx="3840480" cy="502920"/>
          </a:xfrm>
          <a:prstGeom prst="rect">
            <a:avLst/>
          </a:prstGeom>
          <a:solidFill>
            <a:srgbClr val="FFFFFF"/>
          </a:solidFill>
          <a:ln/>
        </p:spPr>
        <p:txBody>
          <a:bodyPr wrap="square" lIns="50800" tIns="50800" rIns="50800" bIns="5080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LightGBM</a:t>
            </a:r>
            <a:endParaRPr lang="en-US" sz="1300" dirty="0"/>
          </a:p>
        </p:txBody>
      </p:sp>
      <p:sp>
        <p:nvSpPr>
          <p:cNvPr id="18" name="Text 16"/>
          <p:cNvSpPr/>
          <p:nvPr/>
        </p:nvSpPr>
        <p:spPr>
          <a:xfrm>
            <a:off x="4572000" y="3218688"/>
            <a:ext cx="2194560" cy="502920"/>
          </a:xfrm>
          <a:prstGeom prst="rect">
            <a:avLst/>
          </a:prstGeom>
          <a:solidFill>
            <a:srgbClr val="FFFFFF"/>
          </a:solidFill>
          <a:ln/>
        </p:spPr>
        <p:txBody>
          <a:bodyPr wrap="square" lIns="50800" tIns="50800" rIns="50800" bIns="508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0.592</a:t>
            </a:r>
            <a:endParaRPr lang="en-US" sz="1300" dirty="0"/>
          </a:p>
        </p:txBody>
      </p:sp>
      <p:sp>
        <p:nvSpPr>
          <p:cNvPr id="19" name="Text 17"/>
          <p:cNvSpPr/>
          <p:nvPr/>
        </p:nvSpPr>
        <p:spPr>
          <a:xfrm>
            <a:off x="6949440" y="3218688"/>
            <a:ext cx="2194560" cy="502920"/>
          </a:xfrm>
          <a:prstGeom prst="rect">
            <a:avLst/>
          </a:prstGeom>
          <a:solidFill>
            <a:srgbClr val="FFFFFF"/>
          </a:solidFill>
          <a:ln/>
        </p:spPr>
        <p:txBody>
          <a:bodyPr wrap="square" lIns="50800" tIns="50800" rIns="50800" bIns="508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0.309</a:t>
            </a:r>
            <a:endParaRPr lang="en-US" sz="1300" dirty="0"/>
          </a:p>
        </p:txBody>
      </p:sp>
      <p:sp>
        <p:nvSpPr>
          <p:cNvPr id="20" name="Text 18"/>
          <p:cNvSpPr/>
          <p:nvPr/>
        </p:nvSpPr>
        <p:spPr>
          <a:xfrm>
            <a:off x="9326880" y="3218688"/>
            <a:ext cx="2103120" cy="502920"/>
          </a:xfrm>
          <a:prstGeom prst="rect">
            <a:avLst/>
          </a:prstGeom>
          <a:solidFill>
            <a:srgbClr val="FFFFFF"/>
          </a:solidFill>
          <a:ln/>
        </p:spPr>
        <p:txBody>
          <a:bodyPr wrap="square" lIns="50800" tIns="50800" rIns="50800" bIns="508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0.506</a:t>
            </a:r>
            <a:endParaRPr lang="en-US" sz="1300" dirty="0"/>
          </a:p>
        </p:txBody>
      </p:sp>
      <p:sp>
        <p:nvSpPr>
          <p:cNvPr id="21" name="Text 19"/>
          <p:cNvSpPr/>
          <p:nvPr/>
        </p:nvSpPr>
        <p:spPr>
          <a:xfrm>
            <a:off x="548640" y="3721608"/>
            <a:ext cx="3840480" cy="502920"/>
          </a:xfrm>
          <a:prstGeom prst="rect">
            <a:avLst/>
          </a:prstGeom>
          <a:solidFill>
            <a:srgbClr val="EEF3FD"/>
          </a:solidFill>
          <a:ln/>
        </p:spPr>
        <p:txBody>
          <a:bodyPr wrap="square" lIns="50800" tIns="50800" rIns="50800" bIns="5080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XGBoost</a:t>
            </a:r>
            <a:endParaRPr lang="en-US" sz="1300" dirty="0"/>
          </a:p>
        </p:txBody>
      </p:sp>
      <p:sp>
        <p:nvSpPr>
          <p:cNvPr id="22" name="Text 20"/>
          <p:cNvSpPr/>
          <p:nvPr/>
        </p:nvSpPr>
        <p:spPr>
          <a:xfrm>
            <a:off x="4572000" y="3721608"/>
            <a:ext cx="2194560" cy="502920"/>
          </a:xfrm>
          <a:prstGeom prst="rect">
            <a:avLst/>
          </a:prstGeom>
          <a:solidFill>
            <a:srgbClr val="EEF3FD"/>
          </a:solidFill>
          <a:ln/>
        </p:spPr>
        <p:txBody>
          <a:bodyPr wrap="square" lIns="50800" tIns="50800" rIns="50800" bIns="508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0.586</a:t>
            </a:r>
            <a:endParaRPr lang="en-US" sz="1300" dirty="0"/>
          </a:p>
        </p:txBody>
      </p:sp>
      <p:sp>
        <p:nvSpPr>
          <p:cNvPr id="23" name="Text 21"/>
          <p:cNvSpPr/>
          <p:nvPr/>
        </p:nvSpPr>
        <p:spPr>
          <a:xfrm>
            <a:off x="6949440" y="3721608"/>
            <a:ext cx="2194560" cy="502920"/>
          </a:xfrm>
          <a:prstGeom prst="rect">
            <a:avLst/>
          </a:prstGeom>
          <a:solidFill>
            <a:srgbClr val="EEF3FD"/>
          </a:solidFill>
          <a:ln/>
        </p:spPr>
        <p:txBody>
          <a:bodyPr wrap="square" lIns="50800" tIns="50800" rIns="50800" bIns="508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0.295</a:t>
            </a:r>
            <a:endParaRPr lang="en-US" sz="1300" dirty="0"/>
          </a:p>
        </p:txBody>
      </p:sp>
      <p:sp>
        <p:nvSpPr>
          <p:cNvPr id="24" name="Text 22"/>
          <p:cNvSpPr/>
          <p:nvPr/>
        </p:nvSpPr>
        <p:spPr>
          <a:xfrm>
            <a:off x="9326880" y="3721608"/>
            <a:ext cx="2103120" cy="502920"/>
          </a:xfrm>
          <a:prstGeom prst="rect">
            <a:avLst/>
          </a:prstGeom>
          <a:solidFill>
            <a:srgbClr val="EEF3FD"/>
          </a:solidFill>
          <a:ln/>
        </p:spPr>
        <p:txBody>
          <a:bodyPr wrap="square" lIns="50800" tIns="50800" rIns="50800" bIns="508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0.467</a:t>
            </a:r>
            <a:endParaRPr lang="en-US" sz="1300" dirty="0"/>
          </a:p>
        </p:txBody>
      </p:sp>
      <p:sp>
        <p:nvSpPr>
          <p:cNvPr id="25" name="Text 23"/>
          <p:cNvSpPr/>
          <p:nvPr/>
        </p:nvSpPr>
        <p:spPr>
          <a:xfrm>
            <a:off x="548640" y="4407408"/>
            <a:ext cx="11064240" cy="548640"/>
          </a:xfrm>
          <a:prstGeom prst="rect">
            <a:avLst/>
          </a:prstGeom>
          <a:noFill/>
          <a:ln/>
        </p:spPr>
        <p:txBody>
          <a:bodyPr wrap="square" rtlCol="0" anchor="ctr"/>
          <a:lstStyle/>
          <a:p>
            <a:pPr indent="0" marL="0">
              <a:buNone/>
            </a:pPr>
            <a:r>
              <a:rPr lang="en-US" sz="1250" i="1" dirty="0">
                <a:solidFill>
                  <a:srgbClr val="5B6478"/>
                </a:solidFill>
                <a:latin typeface="Calibri" pitchFamily="34" charset="0"/>
                <a:ea typeface="Calibri" pitchFamily="34" charset="-122"/>
                <a:cs typeface="Calibri" pitchFamily="34" charset="-120"/>
              </a:rPr>
              <a:t>F1 fault is F1 score on the fault class alone, not macro F1. Random Forest leads on fault recall, which is what matters most for our business goal — a missed fault costs more than a false alarm.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9AA3B5"/>
                </a:solidFill>
                <a:latin typeface="Calibri" pitchFamily="34" charset="0"/>
                <a:ea typeface="Calibri" pitchFamily="34" charset="-122"/>
                <a:cs typeface="Calibri" pitchFamily="34" charset="-120"/>
              </a:rPr>
              <a:t>13</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NEURAL NETWORK COMPARISON</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1E2761"/>
                </a:solidFill>
                <a:latin typeface="Cambria" pitchFamily="34" charset="0"/>
                <a:ea typeface="Cambria" pitchFamily="34" charset="-122"/>
                <a:cs typeface="Cambria" pitchFamily="34" charset="-120"/>
              </a:rPr>
              <a:t>Neural nets: default threshold vs. tuned</a:t>
            </a:r>
            <a:endParaRPr lang="en-US" sz="3000" dirty="0"/>
          </a:p>
        </p:txBody>
      </p:sp>
      <p:sp>
        <p:nvSpPr>
          <p:cNvPr id="5" name="Text 3"/>
          <p:cNvSpPr/>
          <p:nvPr/>
        </p:nvSpPr>
        <p:spPr>
          <a:xfrm>
            <a:off x="548640" y="1170432"/>
            <a:ext cx="11064240" cy="457200"/>
          </a:xfrm>
          <a:prstGeom prst="rect">
            <a:avLst/>
          </a:prstGeom>
          <a:noFill/>
          <a:ln/>
        </p:spPr>
        <p:txBody>
          <a:bodyPr wrap="square"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All at 6h. Default 0.5 skews every architecture toward high recall / low precision — threshold tuning (free, no retraining) closes most of the gap to trees.</a:t>
            </a:r>
            <a:endParaRPr lang="en-US" sz="1300" dirty="0"/>
          </a:p>
        </p:txBody>
      </p:sp>
      <p:sp>
        <p:nvSpPr>
          <p:cNvPr id="6" name="Text 4"/>
          <p:cNvSpPr/>
          <p:nvPr/>
        </p:nvSpPr>
        <p:spPr>
          <a:xfrm>
            <a:off x="548640" y="1783080"/>
            <a:ext cx="2743200" cy="365760"/>
          </a:xfrm>
          <a:prstGeom prst="rect">
            <a:avLst/>
          </a:prstGeom>
          <a:solidFill>
            <a:srgbClr val="1E2761"/>
          </a:solidFill>
          <a:ln/>
        </p:spPr>
        <p:txBody>
          <a:bodyPr wrap="square" lIns="50800" tIns="50800" rIns="50800" bIns="5080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Architecture</a:t>
            </a:r>
            <a:endParaRPr lang="en-US" sz="1250" dirty="0"/>
          </a:p>
        </p:txBody>
      </p:sp>
      <p:sp>
        <p:nvSpPr>
          <p:cNvPr id="7" name="Text 5"/>
          <p:cNvSpPr/>
          <p:nvPr/>
        </p:nvSpPr>
        <p:spPr>
          <a:xfrm>
            <a:off x="3291840" y="1783080"/>
            <a:ext cx="1737360" cy="365760"/>
          </a:xfrm>
          <a:prstGeom prst="rect">
            <a:avLst/>
          </a:prstGeom>
          <a:solidFill>
            <a:srgbClr val="1E2761"/>
          </a:solidFill>
          <a:ln/>
        </p:spPr>
        <p:txBody>
          <a:bodyPr wrap="square" lIns="50800" tIns="50800" rIns="50800" bIns="5080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Author</a:t>
            </a:r>
            <a:endParaRPr lang="en-US" sz="1250" dirty="0"/>
          </a:p>
        </p:txBody>
      </p:sp>
      <p:sp>
        <p:nvSpPr>
          <p:cNvPr id="8" name="Text 6"/>
          <p:cNvSpPr/>
          <p:nvPr/>
        </p:nvSpPr>
        <p:spPr>
          <a:xfrm>
            <a:off x="5029200" y="1783080"/>
            <a:ext cx="1463040" cy="365760"/>
          </a:xfrm>
          <a:prstGeom prst="rect">
            <a:avLst/>
          </a:prstGeom>
          <a:solidFill>
            <a:srgbClr val="1E2761"/>
          </a:solidFill>
          <a:ln/>
        </p:spPr>
        <p:txBody>
          <a:bodyPr wrap="square" lIns="50800" tIns="50800" rIns="50800" bIns="508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Threshold</a:t>
            </a:r>
            <a:endParaRPr lang="en-US" sz="1250" dirty="0"/>
          </a:p>
        </p:txBody>
      </p:sp>
      <p:sp>
        <p:nvSpPr>
          <p:cNvPr id="9" name="Text 7"/>
          <p:cNvSpPr/>
          <p:nvPr/>
        </p:nvSpPr>
        <p:spPr>
          <a:xfrm>
            <a:off x="6492240" y="1783080"/>
            <a:ext cx="1737360" cy="365760"/>
          </a:xfrm>
          <a:prstGeom prst="rect">
            <a:avLst/>
          </a:prstGeom>
          <a:solidFill>
            <a:srgbClr val="1E2761"/>
          </a:solidFill>
          <a:ln/>
        </p:spPr>
        <p:txBody>
          <a:bodyPr wrap="square" lIns="50800" tIns="50800" rIns="50800" bIns="508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Macro F1</a:t>
            </a:r>
            <a:endParaRPr lang="en-US" sz="1250" dirty="0"/>
          </a:p>
        </p:txBody>
      </p:sp>
      <p:sp>
        <p:nvSpPr>
          <p:cNvPr id="10" name="Text 8"/>
          <p:cNvSpPr/>
          <p:nvPr/>
        </p:nvSpPr>
        <p:spPr>
          <a:xfrm>
            <a:off x="8229600" y="1783080"/>
            <a:ext cx="1737360" cy="365760"/>
          </a:xfrm>
          <a:prstGeom prst="rect">
            <a:avLst/>
          </a:prstGeom>
          <a:solidFill>
            <a:srgbClr val="1E2761"/>
          </a:solidFill>
          <a:ln/>
        </p:spPr>
        <p:txBody>
          <a:bodyPr wrap="square" lIns="50800" tIns="50800" rIns="50800" bIns="508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Fault recall</a:t>
            </a:r>
            <a:endParaRPr lang="en-US" sz="1250" dirty="0"/>
          </a:p>
        </p:txBody>
      </p:sp>
      <p:sp>
        <p:nvSpPr>
          <p:cNvPr id="11" name="Text 9"/>
          <p:cNvSpPr/>
          <p:nvPr/>
        </p:nvSpPr>
        <p:spPr>
          <a:xfrm>
            <a:off x="9966960" y="1783080"/>
            <a:ext cx="1828800" cy="365760"/>
          </a:xfrm>
          <a:prstGeom prst="rect">
            <a:avLst/>
          </a:prstGeom>
          <a:solidFill>
            <a:srgbClr val="1E2761"/>
          </a:solidFill>
          <a:ln/>
        </p:spPr>
        <p:txBody>
          <a:bodyPr wrap="square" lIns="50800" tIns="50800" rIns="50800" bIns="508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Fault precision</a:t>
            </a:r>
            <a:endParaRPr lang="en-US" sz="1250" dirty="0"/>
          </a:p>
        </p:txBody>
      </p:sp>
      <p:sp>
        <p:nvSpPr>
          <p:cNvPr id="12" name="Text 10"/>
          <p:cNvSpPr/>
          <p:nvPr/>
        </p:nvSpPr>
        <p:spPr>
          <a:xfrm>
            <a:off x="548640" y="2148840"/>
            <a:ext cx="2743200" cy="420624"/>
          </a:xfrm>
          <a:prstGeom prst="rect">
            <a:avLst/>
          </a:prstGeom>
          <a:solidFill>
            <a:srgbClr val="FDF3E0"/>
          </a:solidFill>
          <a:ln/>
        </p:spPr>
        <p:txBody>
          <a:bodyPr wrap="square" lIns="50800" tIns="50800" rIns="50800" bIns="5080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RNN (boundary-safe)</a:t>
            </a:r>
            <a:endParaRPr lang="en-US" sz="1300" dirty="0"/>
          </a:p>
        </p:txBody>
      </p:sp>
      <p:sp>
        <p:nvSpPr>
          <p:cNvPr id="13" name="Text 11"/>
          <p:cNvSpPr/>
          <p:nvPr/>
        </p:nvSpPr>
        <p:spPr>
          <a:xfrm>
            <a:off x="3291840" y="2148840"/>
            <a:ext cx="1737360" cy="420624"/>
          </a:xfrm>
          <a:prstGeom prst="rect">
            <a:avLst/>
          </a:prstGeom>
          <a:solidFill>
            <a:srgbClr val="FDF3E0"/>
          </a:solidFill>
          <a:ln/>
        </p:spPr>
        <p:txBody>
          <a:bodyPr wrap="square" lIns="50800" tIns="50800" rIns="50800" bIns="5080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Ghada</a:t>
            </a:r>
            <a:endParaRPr lang="en-US" sz="1300" dirty="0"/>
          </a:p>
        </p:txBody>
      </p:sp>
      <p:sp>
        <p:nvSpPr>
          <p:cNvPr id="14" name="Text 12"/>
          <p:cNvSpPr/>
          <p:nvPr/>
        </p:nvSpPr>
        <p:spPr>
          <a:xfrm>
            <a:off x="5029200" y="2148840"/>
            <a:ext cx="1463040" cy="420624"/>
          </a:xfrm>
          <a:prstGeom prst="rect">
            <a:avLst/>
          </a:prstGeom>
          <a:solidFill>
            <a:srgbClr val="FDF3E0"/>
          </a:solidFill>
          <a:ln/>
        </p:spPr>
        <p:txBody>
          <a:bodyPr wrap="square" lIns="50800" tIns="50800" rIns="50800" bIns="508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0.7 (tuned)</a:t>
            </a:r>
            <a:endParaRPr lang="en-US" sz="1300" dirty="0"/>
          </a:p>
        </p:txBody>
      </p:sp>
      <p:sp>
        <p:nvSpPr>
          <p:cNvPr id="15" name="Text 13"/>
          <p:cNvSpPr/>
          <p:nvPr/>
        </p:nvSpPr>
        <p:spPr>
          <a:xfrm>
            <a:off x="6492240" y="2148840"/>
            <a:ext cx="1737360" cy="420624"/>
          </a:xfrm>
          <a:prstGeom prst="rect">
            <a:avLst/>
          </a:prstGeom>
          <a:solidFill>
            <a:srgbClr val="FDF3E0"/>
          </a:solidFill>
          <a:ln/>
        </p:spPr>
        <p:txBody>
          <a:bodyPr wrap="square" lIns="50800" tIns="50800" rIns="50800" bIns="508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0.612</a:t>
            </a:r>
            <a:endParaRPr lang="en-US" sz="1300" dirty="0"/>
          </a:p>
        </p:txBody>
      </p:sp>
      <p:sp>
        <p:nvSpPr>
          <p:cNvPr id="16" name="Text 14"/>
          <p:cNvSpPr/>
          <p:nvPr/>
        </p:nvSpPr>
        <p:spPr>
          <a:xfrm>
            <a:off x="8229600" y="2148840"/>
            <a:ext cx="1737360" cy="420624"/>
          </a:xfrm>
          <a:prstGeom prst="rect">
            <a:avLst/>
          </a:prstGeom>
          <a:solidFill>
            <a:srgbClr val="FDF3E0"/>
          </a:solidFill>
          <a:ln/>
        </p:spPr>
        <p:txBody>
          <a:bodyPr wrap="square" lIns="50800" tIns="50800" rIns="50800" bIns="508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0.316</a:t>
            </a:r>
            <a:endParaRPr lang="en-US" sz="1300" dirty="0"/>
          </a:p>
        </p:txBody>
      </p:sp>
      <p:sp>
        <p:nvSpPr>
          <p:cNvPr id="17" name="Text 15"/>
          <p:cNvSpPr/>
          <p:nvPr/>
        </p:nvSpPr>
        <p:spPr>
          <a:xfrm>
            <a:off x="9966960" y="2148840"/>
            <a:ext cx="1828800" cy="420624"/>
          </a:xfrm>
          <a:prstGeom prst="rect">
            <a:avLst/>
          </a:prstGeom>
          <a:solidFill>
            <a:srgbClr val="FDF3E0"/>
          </a:solidFill>
          <a:ln/>
        </p:spPr>
        <p:txBody>
          <a:bodyPr wrap="square" lIns="50800" tIns="50800" rIns="50800" bIns="508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0.286</a:t>
            </a:r>
            <a:endParaRPr lang="en-US" sz="1300" dirty="0"/>
          </a:p>
        </p:txBody>
      </p:sp>
      <p:sp>
        <p:nvSpPr>
          <p:cNvPr id="18" name="Text 16"/>
          <p:cNvSpPr/>
          <p:nvPr/>
        </p:nvSpPr>
        <p:spPr>
          <a:xfrm>
            <a:off x="548640" y="2569464"/>
            <a:ext cx="2743200" cy="420624"/>
          </a:xfrm>
          <a:prstGeom prst="rect">
            <a:avLst/>
          </a:prstGeom>
          <a:solidFill>
            <a:srgbClr val="EEF3FD"/>
          </a:solidFill>
          <a:ln/>
        </p:spPr>
        <p:txBody>
          <a:bodyPr wrap="square" lIns="50800" tIns="50800" rIns="50800" bIns="5080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LSTM (boundary-safe)</a:t>
            </a:r>
            <a:endParaRPr lang="en-US" sz="1200" dirty="0"/>
          </a:p>
        </p:txBody>
      </p:sp>
      <p:sp>
        <p:nvSpPr>
          <p:cNvPr id="19" name="Text 17"/>
          <p:cNvSpPr/>
          <p:nvPr/>
        </p:nvSpPr>
        <p:spPr>
          <a:xfrm>
            <a:off x="3291840" y="2569464"/>
            <a:ext cx="1737360" cy="420624"/>
          </a:xfrm>
          <a:prstGeom prst="rect">
            <a:avLst/>
          </a:prstGeom>
          <a:solidFill>
            <a:srgbClr val="EEF3FD"/>
          </a:solidFill>
          <a:ln/>
        </p:spPr>
        <p:txBody>
          <a:bodyPr wrap="square" lIns="50800" tIns="50800" rIns="50800" bIns="50800" rtlCol="0" anchor="ctr"/>
          <a:lstStyle/>
          <a:p>
            <a:pPr algn="l" indent="0" marL="0">
              <a:buNone/>
            </a:pPr>
            <a:r>
              <a:rPr lang="en-US" sz="1200" dirty="0">
                <a:solidFill>
                  <a:srgbClr val="1E2761"/>
                </a:solidFill>
                <a:latin typeface="Calibri" pitchFamily="34" charset="0"/>
                <a:ea typeface="Calibri" pitchFamily="34" charset="-122"/>
                <a:cs typeface="Calibri" pitchFamily="34" charset="-120"/>
              </a:rPr>
              <a:t>Harsha</a:t>
            </a:r>
            <a:endParaRPr lang="en-US" sz="1200" dirty="0"/>
          </a:p>
        </p:txBody>
      </p:sp>
      <p:sp>
        <p:nvSpPr>
          <p:cNvPr id="20" name="Text 18"/>
          <p:cNvSpPr/>
          <p:nvPr/>
        </p:nvSpPr>
        <p:spPr>
          <a:xfrm>
            <a:off x="5029200" y="2569464"/>
            <a:ext cx="146304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0.75 (tuned)</a:t>
            </a:r>
            <a:endParaRPr lang="en-US" sz="1200" dirty="0"/>
          </a:p>
        </p:txBody>
      </p:sp>
      <p:sp>
        <p:nvSpPr>
          <p:cNvPr id="21" name="Text 19"/>
          <p:cNvSpPr/>
          <p:nvPr/>
        </p:nvSpPr>
        <p:spPr>
          <a:xfrm>
            <a:off x="6492240" y="2569464"/>
            <a:ext cx="173736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0.605</a:t>
            </a:r>
            <a:endParaRPr lang="en-US" sz="1200" dirty="0"/>
          </a:p>
        </p:txBody>
      </p:sp>
      <p:sp>
        <p:nvSpPr>
          <p:cNvPr id="22" name="Text 20"/>
          <p:cNvSpPr/>
          <p:nvPr/>
        </p:nvSpPr>
        <p:spPr>
          <a:xfrm>
            <a:off x="8229600" y="2569464"/>
            <a:ext cx="173736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0.341</a:t>
            </a:r>
            <a:endParaRPr lang="en-US" sz="1200" dirty="0"/>
          </a:p>
        </p:txBody>
      </p:sp>
      <p:sp>
        <p:nvSpPr>
          <p:cNvPr id="23" name="Text 21"/>
          <p:cNvSpPr/>
          <p:nvPr/>
        </p:nvSpPr>
        <p:spPr>
          <a:xfrm>
            <a:off x="9966960" y="2569464"/>
            <a:ext cx="182880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0.261</a:t>
            </a:r>
            <a:endParaRPr lang="en-US" sz="1200" dirty="0"/>
          </a:p>
        </p:txBody>
      </p:sp>
      <p:sp>
        <p:nvSpPr>
          <p:cNvPr id="24" name="Text 22"/>
          <p:cNvSpPr/>
          <p:nvPr/>
        </p:nvSpPr>
        <p:spPr>
          <a:xfrm>
            <a:off x="548640" y="2990088"/>
            <a:ext cx="2743200" cy="420624"/>
          </a:xfrm>
          <a:prstGeom prst="rect">
            <a:avLst/>
          </a:prstGeom>
          <a:solidFill>
            <a:srgbClr val="FFFFFF"/>
          </a:solidFill>
          <a:ln/>
        </p:spPr>
        <p:txBody>
          <a:bodyPr wrap="square" lIns="50800" tIns="50800" rIns="50800" bIns="5080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LSTM (original windows)</a:t>
            </a:r>
            <a:endParaRPr lang="en-US" sz="1200" dirty="0"/>
          </a:p>
        </p:txBody>
      </p:sp>
      <p:sp>
        <p:nvSpPr>
          <p:cNvPr id="25" name="Text 23"/>
          <p:cNvSpPr/>
          <p:nvPr/>
        </p:nvSpPr>
        <p:spPr>
          <a:xfrm>
            <a:off x="3291840" y="2990088"/>
            <a:ext cx="1737360" cy="420624"/>
          </a:xfrm>
          <a:prstGeom prst="rect">
            <a:avLst/>
          </a:prstGeom>
          <a:solidFill>
            <a:srgbClr val="FFFFFF"/>
          </a:solidFill>
          <a:ln/>
        </p:spPr>
        <p:txBody>
          <a:bodyPr wrap="square" lIns="50800" tIns="50800" rIns="50800" bIns="50800" rtlCol="0" anchor="ctr"/>
          <a:lstStyle/>
          <a:p>
            <a:pPr algn="l" indent="0" marL="0">
              <a:buNone/>
            </a:pPr>
            <a:r>
              <a:rPr lang="en-US" sz="1200" dirty="0">
                <a:solidFill>
                  <a:srgbClr val="1E2761"/>
                </a:solidFill>
                <a:latin typeface="Calibri" pitchFamily="34" charset="0"/>
                <a:ea typeface="Calibri" pitchFamily="34" charset="-122"/>
                <a:cs typeface="Calibri" pitchFamily="34" charset="-120"/>
              </a:rPr>
              <a:t>Harsha</a:t>
            </a:r>
            <a:endParaRPr lang="en-US" sz="1200" dirty="0"/>
          </a:p>
        </p:txBody>
      </p:sp>
      <p:sp>
        <p:nvSpPr>
          <p:cNvPr id="26" name="Text 24"/>
          <p:cNvSpPr/>
          <p:nvPr/>
        </p:nvSpPr>
        <p:spPr>
          <a:xfrm>
            <a:off x="5029200" y="2990088"/>
            <a:ext cx="146304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0.75 (tuned)</a:t>
            </a:r>
            <a:endParaRPr lang="en-US" sz="1200" dirty="0"/>
          </a:p>
        </p:txBody>
      </p:sp>
      <p:sp>
        <p:nvSpPr>
          <p:cNvPr id="27" name="Text 25"/>
          <p:cNvSpPr/>
          <p:nvPr/>
        </p:nvSpPr>
        <p:spPr>
          <a:xfrm>
            <a:off x="6492240" y="2990088"/>
            <a:ext cx="173736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0.604</a:t>
            </a:r>
            <a:endParaRPr lang="en-US" sz="1200" dirty="0"/>
          </a:p>
        </p:txBody>
      </p:sp>
      <p:sp>
        <p:nvSpPr>
          <p:cNvPr id="28" name="Text 26"/>
          <p:cNvSpPr/>
          <p:nvPr/>
        </p:nvSpPr>
        <p:spPr>
          <a:xfrm>
            <a:off x="8229600" y="2990088"/>
            <a:ext cx="173736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0.347</a:t>
            </a:r>
            <a:endParaRPr lang="en-US" sz="1200" dirty="0"/>
          </a:p>
        </p:txBody>
      </p:sp>
      <p:sp>
        <p:nvSpPr>
          <p:cNvPr id="29" name="Text 27"/>
          <p:cNvSpPr/>
          <p:nvPr/>
        </p:nvSpPr>
        <p:spPr>
          <a:xfrm>
            <a:off x="9966960" y="2990088"/>
            <a:ext cx="182880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0.257</a:t>
            </a:r>
            <a:endParaRPr lang="en-US" sz="1200" dirty="0"/>
          </a:p>
        </p:txBody>
      </p:sp>
      <p:sp>
        <p:nvSpPr>
          <p:cNvPr id="30" name="Text 28"/>
          <p:cNvSpPr/>
          <p:nvPr/>
        </p:nvSpPr>
        <p:spPr>
          <a:xfrm>
            <a:off x="548640" y="3410712"/>
            <a:ext cx="2743200" cy="420624"/>
          </a:xfrm>
          <a:prstGeom prst="rect">
            <a:avLst/>
          </a:prstGeom>
          <a:solidFill>
            <a:srgbClr val="EEF3FD"/>
          </a:solidFill>
          <a:ln/>
        </p:spPr>
        <p:txBody>
          <a:bodyPr wrap="square" lIns="50800" tIns="50800" rIns="50800" bIns="5080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LSTM, 1 layer</a:t>
            </a:r>
            <a:endParaRPr lang="en-US" sz="1200" dirty="0"/>
          </a:p>
        </p:txBody>
      </p:sp>
      <p:sp>
        <p:nvSpPr>
          <p:cNvPr id="31" name="Text 29"/>
          <p:cNvSpPr/>
          <p:nvPr/>
        </p:nvSpPr>
        <p:spPr>
          <a:xfrm>
            <a:off x="3291840" y="3410712"/>
            <a:ext cx="1737360" cy="420624"/>
          </a:xfrm>
          <a:prstGeom prst="rect">
            <a:avLst/>
          </a:prstGeom>
          <a:solidFill>
            <a:srgbClr val="EEF3FD"/>
          </a:solidFill>
          <a:ln/>
        </p:spPr>
        <p:txBody>
          <a:bodyPr wrap="square" lIns="50800" tIns="50800" rIns="50800" bIns="50800" rtlCol="0" anchor="ctr"/>
          <a:lstStyle/>
          <a:p>
            <a:pPr algn="l" indent="0" marL="0">
              <a:buNone/>
            </a:pPr>
            <a:r>
              <a:rPr lang="en-US" sz="1200" dirty="0">
                <a:solidFill>
                  <a:srgbClr val="1E2761"/>
                </a:solidFill>
                <a:latin typeface="Calibri" pitchFamily="34" charset="0"/>
                <a:ea typeface="Calibri" pitchFamily="34" charset="-122"/>
                <a:cs typeface="Calibri" pitchFamily="34" charset="-120"/>
              </a:rPr>
              <a:t>Hüseyin</a:t>
            </a:r>
            <a:endParaRPr lang="en-US" sz="1200" dirty="0"/>
          </a:p>
        </p:txBody>
      </p:sp>
      <p:sp>
        <p:nvSpPr>
          <p:cNvPr id="32" name="Text 30"/>
          <p:cNvSpPr/>
          <p:nvPr/>
        </p:nvSpPr>
        <p:spPr>
          <a:xfrm>
            <a:off x="5029200" y="3410712"/>
            <a:ext cx="146304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0.5 (default)</a:t>
            </a:r>
            <a:endParaRPr lang="en-US" sz="1200" dirty="0"/>
          </a:p>
        </p:txBody>
      </p:sp>
      <p:sp>
        <p:nvSpPr>
          <p:cNvPr id="33" name="Text 31"/>
          <p:cNvSpPr/>
          <p:nvPr/>
        </p:nvSpPr>
        <p:spPr>
          <a:xfrm>
            <a:off x="6492240" y="3410712"/>
            <a:ext cx="173736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0.522</a:t>
            </a:r>
            <a:endParaRPr lang="en-US" sz="1200" dirty="0"/>
          </a:p>
        </p:txBody>
      </p:sp>
      <p:sp>
        <p:nvSpPr>
          <p:cNvPr id="34" name="Text 32"/>
          <p:cNvSpPr/>
          <p:nvPr/>
        </p:nvSpPr>
        <p:spPr>
          <a:xfrm>
            <a:off x="8229600" y="3410712"/>
            <a:ext cx="173736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0.803</a:t>
            </a:r>
            <a:endParaRPr lang="en-US" sz="1200" dirty="0"/>
          </a:p>
        </p:txBody>
      </p:sp>
      <p:sp>
        <p:nvSpPr>
          <p:cNvPr id="35" name="Text 33"/>
          <p:cNvSpPr/>
          <p:nvPr/>
        </p:nvSpPr>
        <p:spPr>
          <a:xfrm>
            <a:off x="9966960" y="3410712"/>
            <a:ext cx="182880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0.178</a:t>
            </a:r>
            <a:endParaRPr lang="en-US" sz="1200" dirty="0"/>
          </a:p>
        </p:txBody>
      </p:sp>
      <p:sp>
        <p:nvSpPr>
          <p:cNvPr id="36" name="Text 34"/>
          <p:cNvSpPr/>
          <p:nvPr/>
        </p:nvSpPr>
        <p:spPr>
          <a:xfrm>
            <a:off x="548640" y="3831336"/>
            <a:ext cx="2743200" cy="420624"/>
          </a:xfrm>
          <a:prstGeom prst="rect">
            <a:avLst/>
          </a:prstGeom>
          <a:solidFill>
            <a:srgbClr val="FFFFFF"/>
          </a:solidFill>
          <a:ln/>
        </p:spPr>
        <p:txBody>
          <a:bodyPr wrap="square" lIns="50800" tIns="50800" rIns="50800" bIns="5080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1D-CNN</a:t>
            </a:r>
            <a:endParaRPr lang="en-US" sz="1200" dirty="0"/>
          </a:p>
        </p:txBody>
      </p:sp>
      <p:sp>
        <p:nvSpPr>
          <p:cNvPr id="37" name="Text 35"/>
          <p:cNvSpPr/>
          <p:nvPr/>
        </p:nvSpPr>
        <p:spPr>
          <a:xfrm>
            <a:off x="3291840" y="3831336"/>
            <a:ext cx="1737360" cy="420624"/>
          </a:xfrm>
          <a:prstGeom prst="rect">
            <a:avLst/>
          </a:prstGeom>
          <a:solidFill>
            <a:srgbClr val="FFFFFF"/>
          </a:solidFill>
          <a:ln/>
        </p:spPr>
        <p:txBody>
          <a:bodyPr wrap="square" lIns="50800" tIns="50800" rIns="50800" bIns="50800" rtlCol="0" anchor="ctr"/>
          <a:lstStyle/>
          <a:p>
            <a:pPr algn="l" indent="0" marL="0">
              <a:buNone/>
            </a:pPr>
            <a:r>
              <a:rPr lang="en-US" sz="1200" dirty="0">
                <a:solidFill>
                  <a:srgbClr val="1E2761"/>
                </a:solidFill>
                <a:latin typeface="Calibri" pitchFamily="34" charset="0"/>
                <a:ea typeface="Calibri" pitchFamily="34" charset="-122"/>
                <a:cs typeface="Calibri" pitchFamily="34" charset="-120"/>
              </a:rPr>
              <a:t>Hüseyin</a:t>
            </a:r>
            <a:endParaRPr lang="en-US" sz="1200" dirty="0"/>
          </a:p>
        </p:txBody>
      </p:sp>
      <p:sp>
        <p:nvSpPr>
          <p:cNvPr id="38" name="Text 36"/>
          <p:cNvSpPr/>
          <p:nvPr/>
        </p:nvSpPr>
        <p:spPr>
          <a:xfrm>
            <a:off x="5029200" y="3831336"/>
            <a:ext cx="146304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0.5 (default)</a:t>
            </a:r>
            <a:endParaRPr lang="en-US" sz="1200" dirty="0"/>
          </a:p>
        </p:txBody>
      </p:sp>
      <p:sp>
        <p:nvSpPr>
          <p:cNvPr id="39" name="Text 37"/>
          <p:cNvSpPr/>
          <p:nvPr/>
        </p:nvSpPr>
        <p:spPr>
          <a:xfrm>
            <a:off x="6492240" y="3831336"/>
            <a:ext cx="173736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0.521</a:t>
            </a:r>
            <a:endParaRPr lang="en-US" sz="1200" dirty="0"/>
          </a:p>
        </p:txBody>
      </p:sp>
      <p:sp>
        <p:nvSpPr>
          <p:cNvPr id="40" name="Text 38"/>
          <p:cNvSpPr/>
          <p:nvPr/>
        </p:nvSpPr>
        <p:spPr>
          <a:xfrm>
            <a:off x="8229600" y="3831336"/>
            <a:ext cx="173736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0.609</a:t>
            </a:r>
            <a:endParaRPr lang="en-US" sz="1200" dirty="0"/>
          </a:p>
        </p:txBody>
      </p:sp>
      <p:sp>
        <p:nvSpPr>
          <p:cNvPr id="41" name="Text 39"/>
          <p:cNvSpPr/>
          <p:nvPr/>
        </p:nvSpPr>
        <p:spPr>
          <a:xfrm>
            <a:off x="9966960" y="3831336"/>
            <a:ext cx="182880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0.162</a:t>
            </a:r>
            <a:endParaRPr lang="en-US" sz="1200" dirty="0"/>
          </a:p>
        </p:txBody>
      </p:sp>
      <p:sp>
        <p:nvSpPr>
          <p:cNvPr id="42" name="Text 40"/>
          <p:cNvSpPr/>
          <p:nvPr/>
        </p:nvSpPr>
        <p:spPr>
          <a:xfrm>
            <a:off x="548640" y="4251960"/>
            <a:ext cx="2743200" cy="420624"/>
          </a:xfrm>
          <a:prstGeom prst="rect">
            <a:avLst/>
          </a:prstGeom>
          <a:solidFill>
            <a:srgbClr val="EEF3FD"/>
          </a:solidFill>
          <a:ln/>
        </p:spPr>
        <p:txBody>
          <a:bodyPr wrap="square" lIns="50800" tIns="50800" rIns="50800" bIns="5080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LSTM, 2 layer</a:t>
            </a:r>
            <a:endParaRPr lang="en-US" sz="1200" dirty="0"/>
          </a:p>
        </p:txBody>
      </p:sp>
      <p:sp>
        <p:nvSpPr>
          <p:cNvPr id="43" name="Text 41"/>
          <p:cNvSpPr/>
          <p:nvPr/>
        </p:nvSpPr>
        <p:spPr>
          <a:xfrm>
            <a:off x="3291840" y="4251960"/>
            <a:ext cx="1737360" cy="420624"/>
          </a:xfrm>
          <a:prstGeom prst="rect">
            <a:avLst/>
          </a:prstGeom>
          <a:solidFill>
            <a:srgbClr val="EEF3FD"/>
          </a:solidFill>
          <a:ln/>
        </p:spPr>
        <p:txBody>
          <a:bodyPr wrap="square" lIns="50800" tIns="50800" rIns="50800" bIns="50800" rtlCol="0" anchor="ctr"/>
          <a:lstStyle/>
          <a:p>
            <a:pPr algn="l" indent="0" marL="0">
              <a:buNone/>
            </a:pPr>
            <a:r>
              <a:rPr lang="en-US" sz="1200" dirty="0">
                <a:solidFill>
                  <a:srgbClr val="1E2761"/>
                </a:solidFill>
                <a:latin typeface="Calibri" pitchFamily="34" charset="0"/>
                <a:ea typeface="Calibri" pitchFamily="34" charset="-122"/>
                <a:cs typeface="Calibri" pitchFamily="34" charset="-120"/>
              </a:rPr>
              <a:t>Harsha</a:t>
            </a:r>
            <a:endParaRPr lang="en-US" sz="1200" dirty="0"/>
          </a:p>
        </p:txBody>
      </p:sp>
      <p:sp>
        <p:nvSpPr>
          <p:cNvPr id="44" name="Text 42"/>
          <p:cNvSpPr/>
          <p:nvPr/>
        </p:nvSpPr>
        <p:spPr>
          <a:xfrm>
            <a:off x="5029200" y="4251960"/>
            <a:ext cx="146304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0.5 (default)</a:t>
            </a:r>
            <a:endParaRPr lang="en-US" sz="1200" dirty="0"/>
          </a:p>
        </p:txBody>
      </p:sp>
      <p:sp>
        <p:nvSpPr>
          <p:cNvPr id="45" name="Text 43"/>
          <p:cNvSpPr/>
          <p:nvPr/>
        </p:nvSpPr>
        <p:spPr>
          <a:xfrm>
            <a:off x="6492240" y="4251960"/>
            <a:ext cx="173736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0.509</a:t>
            </a:r>
            <a:endParaRPr lang="en-US" sz="1200" dirty="0"/>
          </a:p>
        </p:txBody>
      </p:sp>
      <p:sp>
        <p:nvSpPr>
          <p:cNvPr id="46" name="Text 44"/>
          <p:cNvSpPr/>
          <p:nvPr/>
        </p:nvSpPr>
        <p:spPr>
          <a:xfrm>
            <a:off x="8229600" y="4251960"/>
            <a:ext cx="173736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0.809</a:t>
            </a:r>
            <a:endParaRPr lang="en-US" sz="1200" dirty="0"/>
          </a:p>
        </p:txBody>
      </p:sp>
      <p:sp>
        <p:nvSpPr>
          <p:cNvPr id="47" name="Text 45"/>
          <p:cNvSpPr/>
          <p:nvPr/>
        </p:nvSpPr>
        <p:spPr>
          <a:xfrm>
            <a:off x="9966960" y="4251960"/>
            <a:ext cx="1828800" cy="420624"/>
          </a:xfrm>
          <a:prstGeom prst="rect">
            <a:avLst/>
          </a:prstGeom>
          <a:solidFill>
            <a:srgbClr val="EEF3FD"/>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0.171</a:t>
            </a:r>
            <a:endParaRPr lang="en-US" sz="1200" dirty="0"/>
          </a:p>
        </p:txBody>
      </p:sp>
      <p:sp>
        <p:nvSpPr>
          <p:cNvPr id="48" name="Text 46"/>
          <p:cNvSpPr/>
          <p:nvPr/>
        </p:nvSpPr>
        <p:spPr>
          <a:xfrm>
            <a:off x="548640" y="4672584"/>
            <a:ext cx="2743200" cy="420624"/>
          </a:xfrm>
          <a:prstGeom prst="rect">
            <a:avLst/>
          </a:prstGeom>
          <a:solidFill>
            <a:srgbClr val="FFFFFF"/>
          </a:solidFill>
          <a:ln/>
        </p:spPr>
        <p:txBody>
          <a:bodyPr wrap="square" lIns="50800" tIns="50800" rIns="50800" bIns="50800" rtlCol="0" anchor="ctr"/>
          <a:lstStyle/>
          <a:p>
            <a:pPr algn="l" indent="0" marL="0">
              <a:buNone/>
            </a:pPr>
            <a:r>
              <a:rPr lang="en-US" sz="1200" b="1" dirty="0">
                <a:solidFill>
                  <a:srgbClr val="1E2761"/>
                </a:solidFill>
                <a:latin typeface="Calibri" pitchFamily="34" charset="0"/>
                <a:ea typeface="Calibri" pitchFamily="34" charset="-122"/>
                <a:cs typeface="Calibri" pitchFamily="34" charset="-120"/>
              </a:rPr>
              <a:t>RNN (boundary-safe)</a:t>
            </a:r>
            <a:endParaRPr lang="en-US" sz="1200" dirty="0"/>
          </a:p>
        </p:txBody>
      </p:sp>
      <p:sp>
        <p:nvSpPr>
          <p:cNvPr id="49" name="Text 47"/>
          <p:cNvSpPr/>
          <p:nvPr/>
        </p:nvSpPr>
        <p:spPr>
          <a:xfrm>
            <a:off x="3291840" y="4672584"/>
            <a:ext cx="1737360" cy="420624"/>
          </a:xfrm>
          <a:prstGeom prst="rect">
            <a:avLst/>
          </a:prstGeom>
          <a:solidFill>
            <a:srgbClr val="FFFFFF"/>
          </a:solidFill>
          <a:ln/>
        </p:spPr>
        <p:txBody>
          <a:bodyPr wrap="square" lIns="50800" tIns="50800" rIns="50800" bIns="50800" rtlCol="0" anchor="ctr"/>
          <a:lstStyle/>
          <a:p>
            <a:pPr algn="l" indent="0" marL="0">
              <a:buNone/>
            </a:pPr>
            <a:r>
              <a:rPr lang="en-US" sz="1200" dirty="0">
                <a:solidFill>
                  <a:srgbClr val="1E2761"/>
                </a:solidFill>
                <a:latin typeface="Calibri" pitchFamily="34" charset="0"/>
                <a:ea typeface="Calibri" pitchFamily="34" charset="-122"/>
                <a:cs typeface="Calibri" pitchFamily="34" charset="-120"/>
              </a:rPr>
              <a:t>Ghada</a:t>
            </a:r>
            <a:endParaRPr lang="en-US" sz="1200" dirty="0"/>
          </a:p>
        </p:txBody>
      </p:sp>
      <p:sp>
        <p:nvSpPr>
          <p:cNvPr id="50" name="Text 48"/>
          <p:cNvSpPr/>
          <p:nvPr/>
        </p:nvSpPr>
        <p:spPr>
          <a:xfrm>
            <a:off x="5029200" y="4672584"/>
            <a:ext cx="146304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0.5 (default)</a:t>
            </a:r>
            <a:endParaRPr lang="en-US" sz="1200" dirty="0"/>
          </a:p>
        </p:txBody>
      </p:sp>
      <p:sp>
        <p:nvSpPr>
          <p:cNvPr id="51" name="Text 49"/>
          <p:cNvSpPr/>
          <p:nvPr/>
        </p:nvSpPr>
        <p:spPr>
          <a:xfrm>
            <a:off x="6492240" y="4672584"/>
            <a:ext cx="173736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0.496</a:t>
            </a:r>
            <a:endParaRPr lang="en-US" sz="1200" dirty="0"/>
          </a:p>
        </p:txBody>
      </p:sp>
      <p:sp>
        <p:nvSpPr>
          <p:cNvPr id="52" name="Text 50"/>
          <p:cNvSpPr/>
          <p:nvPr/>
        </p:nvSpPr>
        <p:spPr>
          <a:xfrm>
            <a:off x="8229600" y="4672584"/>
            <a:ext cx="173736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0.830</a:t>
            </a:r>
            <a:endParaRPr lang="en-US" sz="1200" dirty="0"/>
          </a:p>
        </p:txBody>
      </p:sp>
      <p:sp>
        <p:nvSpPr>
          <p:cNvPr id="53" name="Text 51"/>
          <p:cNvSpPr/>
          <p:nvPr/>
        </p:nvSpPr>
        <p:spPr>
          <a:xfrm>
            <a:off x="9966960" y="4672584"/>
            <a:ext cx="1828800" cy="420624"/>
          </a:xfrm>
          <a:prstGeom prst="rect">
            <a:avLst/>
          </a:prstGeom>
          <a:solidFill>
            <a:srgbClr val="FFFFFF"/>
          </a:solidFill>
          <a:ln/>
        </p:spPr>
        <p:txBody>
          <a:bodyPr wrap="square" lIns="50800" tIns="50800" rIns="50800" bIns="50800" rtlCol="0" anchor="ctr"/>
          <a:lstStyle/>
          <a:p>
            <a:pPr algn="ctr" indent="0" marL="0">
              <a:buNone/>
            </a:pPr>
            <a:r>
              <a:rPr lang="en-US" sz="1200" dirty="0">
                <a:solidFill>
                  <a:srgbClr val="1E2761"/>
                </a:solidFill>
                <a:latin typeface="Calibri" pitchFamily="34" charset="0"/>
                <a:ea typeface="Calibri" pitchFamily="34" charset="-122"/>
                <a:cs typeface="Calibri" pitchFamily="34" charset="-120"/>
              </a:rPr>
              <a:t>0.166</a:t>
            </a:r>
            <a:endParaRPr lang="en-US" sz="1200" dirty="0"/>
          </a:p>
        </p:txBody>
      </p:sp>
      <p:sp>
        <p:nvSpPr>
          <p:cNvPr id="54" name="Text 52"/>
          <p:cNvSpPr/>
          <p:nvPr/>
        </p:nvSpPr>
        <p:spPr>
          <a:xfrm>
            <a:off x="548640" y="5230368"/>
            <a:ext cx="11064240" cy="731520"/>
          </a:xfrm>
          <a:prstGeom prst="rect">
            <a:avLst/>
          </a:prstGeom>
          <a:noFill/>
          <a:ln/>
        </p:spPr>
        <p:txBody>
          <a:bodyPr wrap="square" rtlCol="0" anchor="ctr"/>
          <a:lstStyle/>
          <a:p>
            <a:pPr indent="0" marL="0">
              <a:buNone/>
            </a:pPr>
            <a:r>
              <a:rPr lang="en-US" sz="1150" i="1" dirty="0">
                <a:solidFill>
                  <a:srgbClr val="5B6478"/>
                </a:solidFill>
                <a:latin typeface="Calibri" pitchFamily="34" charset="0"/>
                <a:ea typeface="Calibri" pitchFamily="34" charset="-122"/>
                <a:cs typeface="Calibri" pitchFamily="34" charset="-120"/>
              </a:rPr>
              <a:t>Rigor check: re-ran the LSTM and RNN with boundary-safe windows (train/test split before windowing, not after) to rule out train/test overlap inflating results. LSTM barely moved (&lt;0.01); RNN's tuned macro F1 is now the best in the whole 6h comparison — but at less than half RF's fault recall, so it still doesn't change what we're shipping.</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C4A"/>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8A93B8"/>
                </a:solidFill>
                <a:latin typeface="Calibri" pitchFamily="34" charset="0"/>
                <a:ea typeface="Calibri" pitchFamily="34" charset="-122"/>
                <a:cs typeface="Calibri" pitchFamily="34" charset="-120"/>
              </a:rPr>
              <a:t>14</a:t>
            </a:r>
            <a:endParaRPr lang="en-US" sz="1000" dirty="0"/>
          </a:p>
        </p:txBody>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DECISION</a:t>
            </a:r>
            <a:endParaRPr lang="en-US" sz="1100" dirty="0"/>
          </a:p>
        </p:txBody>
      </p:sp>
      <p:sp>
        <p:nvSpPr>
          <p:cNvPr id="4" name="Text 2"/>
          <p:cNvSpPr/>
          <p:nvPr/>
        </p:nvSpPr>
        <p:spPr>
          <a:xfrm>
            <a:off x="548640" y="777240"/>
            <a:ext cx="10789920" cy="822960"/>
          </a:xfrm>
          <a:prstGeom prst="rect">
            <a:avLst/>
          </a:prstGeom>
          <a:noFill/>
          <a:ln/>
        </p:spPr>
        <p:txBody>
          <a:bodyPr wrap="square" rtlCol="0" anchor="ctr"/>
          <a:lstStyle/>
          <a:p>
            <a:pPr indent="0" marL="0">
              <a:buNone/>
            </a:pPr>
            <a:r>
              <a:rPr lang="en-US" sz="3000" dirty="0">
                <a:solidFill>
                  <a:srgbClr val="FFFFFF"/>
                </a:solidFill>
                <a:latin typeface="Cambria" pitchFamily="34" charset="0"/>
                <a:ea typeface="Cambria" pitchFamily="34" charset="-122"/>
                <a:cs typeface="Cambria" pitchFamily="34" charset="-120"/>
              </a:rPr>
              <a:t>Shipping Random Forest, not a neural net</a:t>
            </a:r>
            <a:endParaRPr lang="en-US" sz="3000" dirty="0"/>
          </a:p>
        </p:txBody>
      </p:sp>
      <p:sp>
        <p:nvSpPr>
          <p:cNvPr id="5" name="Shape 3"/>
          <p:cNvSpPr/>
          <p:nvPr/>
        </p:nvSpPr>
        <p:spPr>
          <a:xfrm>
            <a:off x="548640" y="1965960"/>
            <a:ext cx="3429000" cy="2651760"/>
          </a:xfrm>
          <a:prstGeom prst="roundRect">
            <a:avLst>
              <a:gd name="adj" fmla="val 2759"/>
            </a:avLst>
          </a:prstGeom>
          <a:solidFill>
            <a:srgbClr val="1E2761"/>
          </a:solidFill>
          <a:ln/>
        </p:spPr>
      </p:sp>
      <p:sp>
        <p:nvSpPr>
          <p:cNvPr id="6" name="Text 4"/>
          <p:cNvSpPr/>
          <p:nvPr/>
        </p:nvSpPr>
        <p:spPr>
          <a:xfrm>
            <a:off x="777240" y="2194560"/>
            <a:ext cx="2971800" cy="640080"/>
          </a:xfrm>
          <a:prstGeom prst="rect">
            <a:avLst/>
          </a:prstGeom>
          <a:noFill/>
          <a:ln/>
        </p:spPr>
        <p:txBody>
          <a:bodyPr wrap="square" rtlCol="0" anchor="ctr"/>
          <a:lstStyle/>
          <a:p>
            <a:pPr indent="0" marL="0">
              <a:buNone/>
            </a:pPr>
            <a:r>
              <a:rPr lang="en-US" sz="1500" b="1" dirty="0">
                <a:solidFill>
                  <a:srgbClr val="F2A93B"/>
                </a:solidFill>
                <a:latin typeface="Calibri" pitchFamily="34" charset="0"/>
                <a:ea typeface="Calibri" pitchFamily="34" charset="-122"/>
                <a:cs typeface="Calibri" pitchFamily="34" charset="-120"/>
              </a:rPr>
              <a:t>Best fault recall that fits the goal</a:t>
            </a:r>
            <a:endParaRPr lang="en-US" sz="1500" dirty="0"/>
          </a:p>
        </p:txBody>
      </p:sp>
      <p:sp>
        <p:nvSpPr>
          <p:cNvPr id="7" name="Text 5"/>
          <p:cNvSpPr/>
          <p:nvPr/>
        </p:nvSpPr>
        <p:spPr>
          <a:xfrm>
            <a:off x="777240" y="2834640"/>
            <a:ext cx="2971800" cy="1645920"/>
          </a:xfrm>
          <a:prstGeom prst="rect">
            <a:avLst/>
          </a:prstGeom>
          <a:noFill/>
          <a:ln/>
        </p:spPr>
        <p:txBody>
          <a:bodyPr wrap="square" rtlCol="0" anchor="ctr"/>
          <a:lstStyle/>
          <a:p>
            <a:pPr indent="0" marL="0">
              <a:lnSpc>
                <a:spcPct val="115000"/>
              </a:lnSpc>
              <a:buNone/>
            </a:pPr>
            <a:r>
              <a:rPr lang="en-US" sz="1250" dirty="0">
                <a:solidFill>
                  <a:srgbClr val="EEF3FD"/>
                </a:solidFill>
                <a:latin typeface="Calibri" pitchFamily="34" charset="0"/>
                <a:ea typeface="Calibri" pitchFamily="34" charset="-122"/>
                <a:cs typeface="Calibri" pitchFamily="34" charset="-120"/>
              </a:rPr>
              <a:t>RF catches 59.4% of real faults vs. 34.1% for the tuned LSTM and 31.6% for the tuned RNN — and the plan's own framing is explicit: a missed fault costs more than a false alarm.</a:t>
            </a:r>
            <a:endParaRPr lang="en-US" sz="1250" dirty="0"/>
          </a:p>
        </p:txBody>
      </p:sp>
      <p:sp>
        <p:nvSpPr>
          <p:cNvPr id="8" name="Shape 6"/>
          <p:cNvSpPr/>
          <p:nvPr/>
        </p:nvSpPr>
        <p:spPr>
          <a:xfrm>
            <a:off x="4297680" y="1965960"/>
            <a:ext cx="3429000" cy="2651760"/>
          </a:xfrm>
          <a:prstGeom prst="roundRect">
            <a:avLst>
              <a:gd name="adj" fmla="val 2759"/>
            </a:avLst>
          </a:prstGeom>
          <a:solidFill>
            <a:srgbClr val="1E2761"/>
          </a:solidFill>
          <a:ln/>
        </p:spPr>
      </p:sp>
      <p:sp>
        <p:nvSpPr>
          <p:cNvPr id="9" name="Text 7"/>
          <p:cNvSpPr/>
          <p:nvPr/>
        </p:nvSpPr>
        <p:spPr>
          <a:xfrm>
            <a:off x="4526280" y="2194560"/>
            <a:ext cx="2971800" cy="640080"/>
          </a:xfrm>
          <a:prstGeom prst="rect">
            <a:avLst/>
          </a:prstGeom>
          <a:noFill/>
          <a:ln/>
        </p:spPr>
        <p:txBody>
          <a:bodyPr wrap="square" rtlCol="0" anchor="ctr"/>
          <a:lstStyle/>
          <a:p>
            <a:pPr indent="0" marL="0">
              <a:buNone/>
            </a:pPr>
            <a:r>
              <a:rPr lang="en-US" sz="1500" b="1" dirty="0">
                <a:solidFill>
                  <a:srgbClr val="F2A93B"/>
                </a:solidFill>
                <a:latin typeface="Calibri" pitchFamily="34" charset="0"/>
                <a:ea typeface="Calibri" pitchFamily="34" charset="-122"/>
                <a:cs typeface="Calibri" pitchFamily="34" charset="-120"/>
              </a:rPr>
              <a:t>Independently reproduced</a:t>
            </a:r>
            <a:endParaRPr lang="en-US" sz="1500" dirty="0"/>
          </a:p>
        </p:txBody>
      </p:sp>
      <p:sp>
        <p:nvSpPr>
          <p:cNvPr id="10" name="Text 8"/>
          <p:cNvSpPr/>
          <p:nvPr/>
        </p:nvSpPr>
        <p:spPr>
          <a:xfrm>
            <a:off x="4526280" y="2834640"/>
            <a:ext cx="2971800" cy="1645920"/>
          </a:xfrm>
          <a:prstGeom prst="rect">
            <a:avLst/>
          </a:prstGeom>
          <a:noFill/>
          <a:ln/>
        </p:spPr>
        <p:txBody>
          <a:bodyPr wrap="square" rtlCol="0" anchor="ctr"/>
          <a:lstStyle/>
          <a:p>
            <a:pPr indent="0" marL="0">
              <a:lnSpc>
                <a:spcPct val="115000"/>
              </a:lnSpc>
              <a:buNone/>
            </a:pPr>
            <a:r>
              <a:rPr lang="en-US" sz="1250" dirty="0">
                <a:solidFill>
                  <a:srgbClr val="EEF3FD"/>
                </a:solidFill>
                <a:latin typeface="Calibri" pitchFamily="34" charset="0"/>
                <a:ea typeface="Calibri" pitchFamily="34" charset="-122"/>
                <a:cs typeface="Calibri" pitchFamily="34" charset="-120"/>
              </a:rPr>
              <a:t>Harsha's and Ghada's Random Forest runs landed within 0.001 macro F1 of each other on separate implementations — not a fluke of one person's pipeline.</a:t>
            </a:r>
            <a:endParaRPr lang="en-US" sz="1250" dirty="0"/>
          </a:p>
        </p:txBody>
      </p:sp>
      <p:sp>
        <p:nvSpPr>
          <p:cNvPr id="11" name="Shape 9"/>
          <p:cNvSpPr/>
          <p:nvPr/>
        </p:nvSpPr>
        <p:spPr>
          <a:xfrm>
            <a:off x="8046720" y="1965960"/>
            <a:ext cx="3429000" cy="2651760"/>
          </a:xfrm>
          <a:prstGeom prst="roundRect">
            <a:avLst>
              <a:gd name="adj" fmla="val 2759"/>
            </a:avLst>
          </a:prstGeom>
          <a:solidFill>
            <a:srgbClr val="1E2761"/>
          </a:solidFill>
          <a:ln/>
        </p:spPr>
      </p:sp>
      <p:sp>
        <p:nvSpPr>
          <p:cNvPr id="12" name="Text 10"/>
          <p:cNvSpPr/>
          <p:nvPr/>
        </p:nvSpPr>
        <p:spPr>
          <a:xfrm>
            <a:off x="8275320" y="2194560"/>
            <a:ext cx="2971800" cy="640080"/>
          </a:xfrm>
          <a:prstGeom prst="rect">
            <a:avLst/>
          </a:prstGeom>
          <a:noFill/>
          <a:ln/>
        </p:spPr>
        <p:txBody>
          <a:bodyPr wrap="square" rtlCol="0" anchor="ctr"/>
          <a:lstStyle/>
          <a:p>
            <a:pPr indent="0" marL="0">
              <a:buNone/>
            </a:pPr>
            <a:r>
              <a:rPr lang="en-US" sz="1500" b="1" dirty="0">
                <a:solidFill>
                  <a:srgbClr val="F2A93B"/>
                </a:solidFill>
                <a:latin typeface="Calibri" pitchFamily="34" charset="0"/>
                <a:ea typeface="Calibri" pitchFamily="34" charset="-122"/>
                <a:cs typeface="Calibri" pitchFamily="34" charset="-120"/>
              </a:rPr>
              <a:t>Simpler to ship and maintain</a:t>
            </a:r>
            <a:endParaRPr lang="en-US" sz="1500" dirty="0"/>
          </a:p>
        </p:txBody>
      </p:sp>
      <p:sp>
        <p:nvSpPr>
          <p:cNvPr id="13" name="Text 11"/>
          <p:cNvSpPr/>
          <p:nvPr/>
        </p:nvSpPr>
        <p:spPr>
          <a:xfrm>
            <a:off x="8275320" y="2834640"/>
            <a:ext cx="2971800" cy="1645920"/>
          </a:xfrm>
          <a:prstGeom prst="rect">
            <a:avLst/>
          </a:prstGeom>
          <a:noFill/>
          <a:ln/>
        </p:spPr>
        <p:txBody>
          <a:bodyPr wrap="square" rtlCol="0" anchor="ctr"/>
          <a:lstStyle/>
          <a:p>
            <a:pPr indent="0" marL="0">
              <a:lnSpc>
                <a:spcPct val="115000"/>
              </a:lnSpc>
              <a:buNone/>
            </a:pPr>
            <a:r>
              <a:rPr lang="en-US" sz="1250" dirty="0">
                <a:solidFill>
                  <a:srgbClr val="EEF3FD"/>
                </a:solidFill>
                <a:latin typeface="Calibri" pitchFamily="34" charset="0"/>
                <a:ea typeface="Calibri" pitchFamily="34" charset="-122"/>
                <a:cs typeface="Calibri" pitchFamily="34" charset="-120"/>
              </a:rPr>
              <a:t>No architecture search, no threshold tuning required to be competitive, no GPU/Keras dependency in the deployed app.</a:t>
            </a:r>
            <a:endParaRPr lang="en-US" sz="1250" dirty="0"/>
          </a:p>
        </p:txBody>
      </p:sp>
      <p:sp>
        <p:nvSpPr>
          <p:cNvPr id="14" name="Text 12"/>
          <p:cNvSpPr/>
          <p:nvPr/>
        </p:nvSpPr>
        <p:spPr>
          <a:xfrm>
            <a:off x="548640" y="4892040"/>
            <a:ext cx="11064240" cy="822960"/>
          </a:xfrm>
          <a:prstGeom prst="rect">
            <a:avLst/>
          </a:prstGeom>
          <a:noFill/>
          <a:ln/>
        </p:spPr>
        <p:txBody>
          <a:bodyPr wrap="square" rtlCol="0" anchor="ctr"/>
          <a:lstStyle/>
          <a:p>
            <a:pPr indent="0" marL="0">
              <a:buNone/>
            </a:pPr>
            <a:r>
              <a:rPr lang="en-US" sz="1300" i="1" dirty="0">
                <a:solidFill>
                  <a:srgbClr val="EEF3FD"/>
                </a:solidFill>
                <a:latin typeface="Calibri" pitchFamily="34" charset="0"/>
                <a:ea typeface="Calibri" pitchFamily="34" charset="-122"/>
                <a:cs typeface="Calibri" pitchFamily="34" charset="-120"/>
              </a:rPr>
              <a:t>We tried the required deep-learning component seriously — four architectures (LSTM x2, 1D-CNN, RNN), threshold tuning, a train/test leakage rigor check — and none of them beat a well-tuned tree model on this dataset size (~175K rows, ~9% positive). That's a finding, not a failure.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9AA3B5"/>
                </a:solidFill>
                <a:latin typeface="Calibri" pitchFamily="34" charset="0"/>
                <a:ea typeface="Calibri" pitchFamily="34" charset="-122"/>
                <a:cs typeface="Calibri" pitchFamily="34" charset="-120"/>
              </a:rPr>
              <a:t>15</a:t>
            </a:r>
            <a:endParaRPr lang="en-US" sz="1000" dirty="0"/>
          </a:p>
        </p:txBody>
      </p:sp>
      <p:sp>
        <p:nvSpPr>
          <p:cNvPr id="3" name="Text 1"/>
          <p:cNvSpPr/>
          <p:nvPr/>
        </p:nvSpPr>
        <p:spPr>
          <a:xfrm>
            <a:off x="548640" y="32004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NEXT WEEK</a:t>
            </a:r>
            <a:endParaRPr lang="en-US" sz="1100" dirty="0"/>
          </a:p>
        </p:txBody>
      </p:sp>
      <p:sp>
        <p:nvSpPr>
          <p:cNvPr id="4" name="Text 2"/>
          <p:cNvSpPr/>
          <p:nvPr/>
        </p:nvSpPr>
        <p:spPr>
          <a:xfrm>
            <a:off x="548640" y="566928"/>
            <a:ext cx="11064240" cy="640080"/>
          </a:xfrm>
          <a:prstGeom prst="rect">
            <a:avLst/>
          </a:prstGeom>
          <a:noFill/>
          <a:ln/>
        </p:spPr>
        <p:txBody>
          <a:bodyPr wrap="square" rtlCol="0" anchor="ctr"/>
          <a:lstStyle/>
          <a:p>
            <a:pPr indent="0" marL="0">
              <a:buNone/>
            </a:pPr>
            <a:r>
              <a:rPr lang="en-US" sz="3000" dirty="0">
                <a:solidFill>
                  <a:srgbClr val="1E2761"/>
                </a:solidFill>
                <a:latin typeface="Cambria" pitchFamily="34" charset="0"/>
                <a:ea typeface="Cambria" pitchFamily="34" charset="-122"/>
                <a:cs typeface="Cambria" pitchFamily="34" charset="-120"/>
              </a:rPr>
              <a:t>RAG pipeline: five steps from corpus to a gated retrieval tool</a:t>
            </a:r>
            <a:endParaRPr lang="en-US" sz="3000" dirty="0"/>
          </a:p>
        </p:txBody>
      </p:sp>
      <p:sp>
        <p:nvSpPr>
          <p:cNvPr id="5" name="Shape 3"/>
          <p:cNvSpPr/>
          <p:nvPr/>
        </p:nvSpPr>
        <p:spPr>
          <a:xfrm>
            <a:off x="548640" y="1828800"/>
            <a:ext cx="2029968" cy="3291840"/>
          </a:xfrm>
          <a:prstGeom prst="roundRect">
            <a:avLst>
              <a:gd name="adj" fmla="val 2703"/>
            </a:avLst>
          </a:prstGeom>
          <a:solidFill>
            <a:srgbClr val="FFFFFF"/>
          </a:solidFill>
          <a:ln w="12700">
            <a:solidFill>
              <a:srgbClr val="D7DEEA"/>
            </a:solidFill>
            <a:prstDash val="solid"/>
          </a:ln>
        </p:spPr>
      </p:sp>
      <p:sp>
        <p:nvSpPr>
          <p:cNvPr id="6" name="Text 4"/>
          <p:cNvSpPr/>
          <p:nvPr/>
        </p:nvSpPr>
        <p:spPr>
          <a:xfrm>
            <a:off x="731520" y="2011680"/>
            <a:ext cx="1664208" cy="457200"/>
          </a:xfrm>
          <a:prstGeom prst="rect">
            <a:avLst/>
          </a:prstGeom>
          <a:noFill/>
          <a:ln/>
        </p:spPr>
        <p:txBody>
          <a:bodyPr wrap="square" rtlCol="0" anchor="ctr"/>
          <a:lstStyle/>
          <a:p>
            <a:pPr indent="0" marL="0">
              <a:buNone/>
            </a:pPr>
            <a:r>
              <a:rPr lang="en-US" sz="2600" dirty="0">
                <a:solidFill>
                  <a:srgbClr val="D7DEEA"/>
                </a:solidFill>
                <a:latin typeface="Cambria" pitchFamily="34" charset="0"/>
                <a:ea typeface="Cambria" pitchFamily="34" charset="-122"/>
                <a:cs typeface="Cambria" pitchFamily="34" charset="-120"/>
              </a:rPr>
              <a:t>01</a:t>
            </a:r>
            <a:endParaRPr lang="en-US" sz="2600" dirty="0"/>
          </a:p>
        </p:txBody>
      </p:sp>
      <p:sp>
        <p:nvSpPr>
          <p:cNvPr id="7" name="Text 5"/>
          <p:cNvSpPr/>
          <p:nvPr/>
        </p:nvSpPr>
        <p:spPr>
          <a:xfrm>
            <a:off x="731520" y="2514600"/>
            <a:ext cx="1664208"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Chunking</a:t>
            </a:r>
            <a:endParaRPr lang="en-US" sz="1400" dirty="0"/>
          </a:p>
        </p:txBody>
      </p:sp>
      <p:sp>
        <p:nvSpPr>
          <p:cNvPr id="8" name="Text 6"/>
          <p:cNvSpPr/>
          <p:nvPr/>
        </p:nvSpPr>
        <p:spPr>
          <a:xfrm>
            <a:off x="731520" y="2926080"/>
            <a:ext cx="1664208" cy="1828800"/>
          </a:xfrm>
          <a:prstGeom prst="rect">
            <a:avLst/>
          </a:prstGeom>
          <a:noFill/>
          <a:ln/>
        </p:spPr>
        <p:txBody>
          <a:bodyPr wrap="square" rtlCol="0" anchor="ctr"/>
          <a:lstStyle/>
          <a:p>
            <a:pPr indent="0" marL="0">
              <a:buNone/>
            </a:pPr>
            <a:r>
              <a:rPr lang="en-US" sz="1050" dirty="0">
                <a:solidFill>
                  <a:srgbClr val="5B6478"/>
                </a:solidFill>
                <a:latin typeface="Calibri" pitchFamily="34" charset="0"/>
                <a:ea typeface="Calibri" pitchFamily="34" charset="-122"/>
                <a:cs typeface="Calibri" pitchFamily="34" charset="-120"/>
              </a:rPr>
              <a:t>Split the NHTSA corpus into retrievable units. Recalls are short and structured, complaints are free text — the two get chunked differently.</a:t>
            </a:r>
            <a:endParaRPr lang="en-US" sz="1050" dirty="0"/>
          </a:p>
        </p:txBody>
      </p:sp>
      <p:sp>
        <p:nvSpPr>
          <p:cNvPr id="9" name="Text 7"/>
          <p:cNvSpPr/>
          <p:nvPr/>
        </p:nvSpPr>
        <p:spPr>
          <a:xfrm>
            <a:off x="2587752" y="3291840"/>
            <a:ext cx="155448" cy="365760"/>
          </a:xfrm>
          <a:prstGeom prst="rect">
            <a:avLst/>
          </a:prstGeom>
          <a:noFill/>
          <a:ln/>
        </p:spPr>
        <p:txBody>
          <a:bodyPr wrap="square" rtlCol="0" anchor="ctr"/>
          <a:lstStyle/>
          <a:p>
            <a:pPr algn="ctr" indent="0" marL="0">
              <a:buNone/>
            </a:pPr>
            <a:r>
              <a:rPr lang="en-US" sz="1400" dirty="0">
                <a:solidFill>
                  <a:srgbClr val="9AA3B5"/>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747772" y="1828800"/>
            <a:ext cx="2029968" cy="3291840"/>
          </a:xfrm>
          <a:prstGeom prst="roundRect">
            <a:avLst>
              <a:gd name="adj" fmla="val 2703"/>
            </a:avLst>
          </a:prstGeom>
          <a:solidFill>
            <a:srgbClr val="FFFFFF"/>
          </a:solidFill>
          <a:ln w="12700">
            <a:solidFill>
              <a:srgbClr val="D7DEEA"/>
            </a:solidFill>
            <a:prstDash val="solid"/>
          </a:ln>
        </p:spPr>
      </p:sp>
      <p:sp>
        <p:nvSpPr>
          <p:cNvPr id="11" name="Text 9"/>
          <p:cNvSpPr/>
          <p:nvPr/>
        </p:nvSpPr>
        <p:spPr>
          <a:xfrm>
            <a:off x="2930652" y="2011680"/>
            <a:ext cx="1664208" cy="457200"/>
          </a:xfrm>
          <a:prstGeom prst="rect">
            <a:avLst/>
          </a:prstGeom>
          <a:noFill/>
          <a:ln/>
        </p:spPr>
        <p:txBody>
          <a:bodyPr wrap="square" rtlCol="0" anchor="ctr"/>
          <a:lstStyle/>
          <a:p>
            <a:pPr indent="0" marL="0">
              <a:buNone/>
            </a:pPr>
            <a:r>
              <a:rPr lang="en-US" sz="2600" dirty="0">
                <a:solidFill>
                  <a:srgbClr val="D7DEEA"/>
                </a:solidFill>
                <a:latin typeface="Cambria" pitchFamily="34" charset="0"/>
                <a:ea typeface="Cambria" pitchFamily="34" charset="-122"/>
                <a:cs typeface="Cambria" pitchFamily="34" charset="-120"/>
              </a:rPr>
              <a:t>02</a:t>
            </a:r>
            <a:endParaRPr lang="en-US" sz="2600" dirty="0"/>
          </a:p>
        </p:txBody>
      </p:sp>
      <p:sp>
        <p:nvSpPr>
          <p:cNvPr id="12" name="Text 10"/>
          <p:cNvSpPr/>
          <p:nvPr/>
        </p:nvSpPr>
        <p:spPr>
          <a:xfrm>
            <a:off x="2930652" y="2514600"/>
            <a:ext cx="1664208"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Embedding</a:t>
            </a:r>
            <a:endParaRPr lang="en-US" sz="1400" dirty="0"/>
          </a:p>
        </p:txBody>
      </p:sp>
      <p:sp>
        <p:nvSpPr>
          <p:cNvPr id="13" name="Text 11"/>
          <p:cNvSpPr/>
          <p:nvPr/>
        </p:nvSpPr>
        <p:spPr>
          <a:xfrm>
            <a:off x="2930652" y="2926080"/>
            <a:ext cx="1664208" cy="1828800"/>
          </a:xfrm>
          <a:prstGeom prst="rect">
            <a:avLst/>
          </a:prstGeom>
          <a:noFill/>
          <a:ln/>
        </p:spPr>
        <p:txBody>
          <a:bodyPr wrap="square" rtlCol="0" anchor="ctr"/>
          <a:lstStyle/>
          <a:p>
            <a:pPr indent="0" marL="0">
              <a:buNone/>
            </a:pPr>
            <a:r>
              <a:rPr lang="en-US" sz="1050" dirty="0">
                <a:solidFill>
                  <a:srgbClr val="5B6478"/>
                </a:solidFill>
                <a:latin typeface="Calibri" pitchFamily="34" charset="0"/>
                <a:ea typeface="Calibri" pitchFamily="34" charset="-122"/>
                <a:cs typeface="Calibri" pitchFamily="34" charset="-120"/>
              </a:rPr>
              <a:t>Convert each chunk into a vector with a local embedding model, cached to disk so the corpus is only embedded once.</a:t>
            </a:r>
            <a:endParaRPr lang="en-US" sz="1050" dirty="0"/>
          </a:p>
        </p:txBody>
      </p:sp>
      <p:sp>
        <p:nvSpPr>
          <p:cNvPr id="14" name="Text 12"/>
          <p:cNvSpPr/>
          <p:nvPr/>
        </p:nvSpPr>
        <p:spPr>
          <a:xfrm>
            <a:off x="4786884" y="3291840"/>
            <a:ext cx="155448" cy="365760"/>
          </a:xfrm>
          <a:prstGeom prst="rect">
            <a:avLst/>
          </a:prstGeom>
          <a:noFill/>
          <a:ln/>
        </p:spPr>
        <p:txBody>
          <a:bodyPr wrap="square" rtlCol="0" anchor="ctr"/>
          <a:lstStyle/>
          <a:p>
            <a:pPr algn="ctr" indent="0" marL="0">
              <a:buNone/>
            </a:pPr>
            <a:r>
              <a:rPr lang="en-US" sz="1400" dirty="0">
                <a:solidFill>
                  <a:srgbClr val="9AA3B5"/>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4946904" y="1828800"/>
            <a:ext cx="2029968" cy="3291840"/>
          </a:xfrm>
          <a:prstGeom prst="roundRect">
            <a:avLst>
              <a:gd name="adj" fmla="val 2703"/>
            </a:avLst>
          </a:prstGeom>
          <a:solidFill>
            <a:srgbClr val="FFFFFF"/>
          </a:solidFill>
          <a:ln w="12700">
            <a:solidFill>
              <a:srgbClr val="D7DEEA"/>
            </a:solidFill>
            <a:prstDash val="solid"/>
          </a:ln>
        </p:spPr>
      </p:sp>
      <p:sp>
        <p:nvSpPr>
          <p:cNvPr id="16" name="Text 14"/>
          <p:cNvSpPr/>
          <p:nvPr/>
        </p:nvSpPr>
        <p:spPr>
          <a:xfrm>
            <a:off x="5129784" y="2011680"/>
            <a:ext cx="1664208" cy="457200"/>
          </a:xfrm>
          <a:prstGeom prst="rect">
            <a:avLst/>
          </a:prstGeom>
          <a:noFill/>
          <a:ln/>
        </p:spPr>
        <p:txBody>
          <a:bodyPr wrap="square" rtlCol="0" anchor="ctr"/>
          <a:lstStyle/>
          <a:p>
            <a:pPr indent="0" marL="0">
              <a:buNone/>
            </a:pPr>
            <a:r>
              <a:rPr lang="en-US" sz="2600" dirty="0">
                <a:solidFill>
                  <a:srgbClr val="D7DEEA"/>
                </a:solidFill>
                <a:latin typeface="Cambria" pitchFamily="34" charset="0"/>
                <a:ea typeface="Cambria" pitchFamily="34" charset="-122"/>
                <a:cs typeface="Cambria" pitchFamily="34" charset="-120"/>
              </a:rPr>
              <a:t>03</a:t>
            </a:r>
            <a:endParaRPr lang="en-US" sz="2600" dirty="0"/>
          </a:p>
        </p:txBody>
      </p:sp>
      <p:sp>
        <p:nvSpPr>
          <p:cNvPr id="17" name="Text 15"/>
          <p:cNvSpPr/>
          <p:nvPr/>
        </p:nvSpPr>
        <p:spPr>
          <a:xfrm>
            <a:off x="5129784" y="2514600"/>
            <a:ext cx="1664208"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Storing</a:t>
            </a:r>
            <a:endParaRPr lang="en-US" sz="1400" dirty="0"/>
          </a:p>
        </p:txBody>
      </p:sp>
      <p:sp>
        <p:nvSpPr>
          <p:cNvPr id="18" name="Text 16"/>
          <p:cNvSpPr/>
          <p:nvPr/>
        </p:nvSpPr>
        <p:spPr>
          <a:xfrm>
            <a:off x="5129784" y="2926080"/>
            <a:ext cx="1664208" cy="1828800"/>
          </a:xfrm>
          <a:prstGeom prst="rect">
            <a:avLst/>
          </a:prstGeom>
          <a:noFill/>
          <a:ln/>
        </p:spPr>
        <p:txBody>
          <a:bodyPr wrap="square" rtlCol="0" anchor="ctr"/>
          <a:lstStyle/>
          <a:p>
            <a:pPr indent="0" marL="0">
              <a:buNone/>
            </a:pPr>
            <a:r>
              <a:rPr lang="en-US" sz="1050" dirty="0">
                <a:solidFill>
                  <a:srgbClr val="5B6478"/>
                </a:solidFill>
                <a:latin typeface="Calibri" pitchFamily="34" charset="0"/>
                <a:ea typeface="Calibri" pitchFamily="34" charset="-122"/>
                <a:cs typeface="Calibri" pitchFamily="34" charset="-120"/>
              </a:rPr>
              <a:t>Index the vectors for similarity search. At this corpus size a hosted vector DB is unnecessary; pgvector in Supabase is enough.</a:t>
            </a:r>
            <a:endParaRPr lang="en-US" sz="1050" dirty="0"/>
          </a:p>
        </p:txBody>
      </p:sp>
      <p:sp>
        <p:nvSpPr>
          <p:cNvPr id="19" name="Text 17"/>
          <p:cNvSpPr/>
          <p:nvPr/>
        </p:nvSpPr>
        <p:spPr>
          <a:xfrm>
            <a:off x="6986016" y="3291840"/>
            <a:ext cx="155448" cy="365760"/>
          </a:xfrm>
          <a:prstGeom prst="rect">
            <a:avLst/>
          </a:prstGeom>
          <a:noFill/>
          <a:ln/>
        </p:spPr>
        <p:txBody>
          <a:bodyPr wrap="square" rtlCol="0" anchor="ctr"/>
          <a:lstStyle/>
          <a:p>
            <a:pPr algn="ctr" indent="0" marL="0">
              <a:buNone/>
            </a:pPr>
            <a:r>
              <a:rPr lang="en-US" sz="1400" dirty="0">
                <a:solidFill>
                  <a:srgbClr val="9AA3B5"/>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7146036" y="1828800"/>
            <a:ext cx="2029968" cy="3291840"/>
          </a:xfrm>
          <a:prstGeom prst="roundRect">
            <a:avLst>
              <a:gd name="adj" fmla="val 2703"/>
            </a:avLst>
          </a:prstGeom>
          <a:solidFill>
            <a:srgbClr val="FFFFFF"/>
          </a:solidFill>
          <a:ln w="12700">
            <a:solidFill>
              <a:srgbClr val="D7DEEA"/>
            </a:solidFill>
            <a:prstDash val="solid"/>
          </a:ln>
        </p:spPr>
      </p:sp>
      <p:sp>
        <p:nvSpPr>
          <p:cNvPr id="21" name="Text 19"/>
          <p:cNvSpPr/>
          <p:nvPr/>
        </p:nvSpPr>
        <p:spPr>
          <a:xfrm>
            <a:off x="7328916" y="2011680"/>
            <a:ext cx="1664208" cy="457200"/>
          </a:xfrm>
          <a:prstGeom prst="rect">
            <a:avLst/>
          </a:prstGeom>
          <a:noFill/>
          <a:ln/>
        </p:spPr>
        <p:txBody>
          <a:bodyPr wrap="square" rtlCol="0" anchor="ctr"/>
          <a:lstStyle/>
          <a:p>
            <a:pPr indent="0" marL="0">
              <a:buNone/>
            </a:pPr>
            <a:r>
              <a:rPr lang="en-US" sz="2600" dirty="0">
                <a:solidFill>
                  <a:srgbClr val="D7DEEA"/>
                </a:solidFill>
                <a:latin typeface="Cambria" pitchFamily="34" charset="0"/>
                <a:ea typeface="Cambria" pitchFamily="34" charset="-122"/>
                <a:cs typeface="Cambria" pitchFamily="34" charset="-120"/>
              </a:rPr>
              <a:t>04</a:t>
            </a:r>
            <a:endParaRPr lang="en-US" sz="2600" dirty="0"/>
          </a:p>
        </p:txBody>
      </p:sp>
      <p:sp>
        <p:nvSpPr>
          <p:cNvPr id="22" name="Text 20"/>
          <p:cNvSpPr/>
          <p:nvPr/>
        </p:nvSpPr>
        <p:spPr>
          <a:xfrm>
            <a:off x="7328916" y="2514600"/>
            <a:ext cx="1664208"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Retrieval</a:t>
            </a:r>
            <a:endParaRPr lang="en-US" sz="1400" dirty="0"/>
          </a:p>
        </p:txBody>
      </p:sp>
      <p:sp>
        <p:nvSpPr>
          <p:cNvPr id="23" name="Text 21"/>
          <p:cNvSpPr/>
          <p:nvPr/>
        </p:nvSpPr>
        <p:spPr>
          <a:xfrm>
            <a:off x="7328916" y="2926080"/>
            <a:ext cx="1664208" cy="1828800"/>
          </a:xfrm>
          <a:prstGeom prst="rect">
            <a:avLst/>
          </a:prstGeom>
          <a:noFill/>
          <a:ln/>
        </p:spPr>
        <p:txBody>
          <a:bodyPr wrap="square" rtlCol="0" anchor="ctr"/>
          <a:lstStyle/>
          <a:p>
            <a:pPr indent="0" marL="0">
              <a:buNone/>
            </a:pPr>
            <a:r>
              <a:rPr lang="en-US" sz="1050" dirty="0">
                <a:solidFill>
                  <a:srgbClr val="5B6478"/>
                </a:solidFill>
                <a:latin typeface="Calibri" pitchFamily="34" charset="0"/>
                <a:ea typeface="Calibri" pitchFamily="34" charset="-122"/>
                <a:cs typeface="Calibri" pitchFamily="34" charset="-120"/>
              </a:rPr>
              <a:t>Given a fault code or symptom, return the top-k most similar chunks with their source record for citation.</a:t>
            </a:r>
            <a:endParaRPr lang="en-US" sz="1050" dirty="0"/>
          </a:p>
        </p:txBody>
      </p:sp>
      <p:sp>
        <p:nvSpPr>
          <p:cNvPr id="24" name="Text 22"/>
          <p:cNvSpPr/>
          <p:nvPr/>
        </p:nvSpPr>
        <p:spPr>
          <a:xfrm>
            <a:off x="9185148" y="3291840"/>
            <a:ext cx="155448" cy="365760"/>
          </a:xfrm>
          <a:prstGeom prst="rect">
            <a:avLst/>
          </a:prstGeom>
          <a:noFill/>
          <a:ln/>
        </p:spPr>
        <p:txBody>
          <a:bodyPr wrap="square" rtlCol="0" anchor="ctr"/>
          <a:lstStyle/>
          <a:p>
            <a:pPr algn="ctr" indent="0" marL="0">
              <a:buNone/>
            </a:pPr>
            <a:r>
              <a:rPr lang="en-US" sz="1400" dirty="0">
                <a:solidFill>
                  <a:srgbClr val="9AA3B5"/>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9345168" y="1828800"/>
            <a:ext cx="2029968" cy="3291840"/>
          </a:xfrm>
          <a:prstGeom prst="roundRect">
            <a:avLst>
              <a:gd name="adj" fmla="val 2703"/>
            </a:avLst>
          </a:prstGeom>
          <a:solidFill>
            <a:srgbClr val="1E2761"/>
          </a:solidFill>
          <a:ln/>
        </p:spPr>
      </p:sp>
      <p:sp>
        <p:nvSpPr>
          <p:cNvPr id="26" name="Text 24"/>
          <p:cNvSpPr/>
          <p:nvPr/>
        </p:nvSpPr>
        <p:spPr>
          <a:xfrm>
            <a:off x="9528048" y="2011680"/>
            <a:ext cx="1664208" cy="457200"/>
          </a:xfrm>
          <a:prstGeom prst="rect">
            <a:avLst/>
          </a:prstGeom>
          <a:noFill/>
          <a:ln/>
        </p:spPr>
        <p:txBody>
          <a:bodyPr wrap="square" rtlCol="0" anchor="ctr"/>
          <a:lstStyle/>
          <a:p>
            <a:pPr indent="0" marL="0">
              <a:buNone/>
            </a:pPr>
            <a:r>
              <a:rPr lang="en-US" sz="2600" dirty="0">
                <a:solidFill>
                  <a:srgbClr val="F2A93B"/>
                </a:solidFill>
                <a:latin typeface="Cambria" pitchFamily="34" charset="0"/>
                <a:ea typeface="Cambria" pitchFamily="34" charset="-122"/>
                <a:cs typeface="Cambria" pitchFamily="34" charset="-120"/>
              </a:rPr>
              <a:t>05</a:t>
            </a:r>
            <a:endParaRPr lang="en-US" sz="2600" dirty="0"/>
          </a:p>
        </p:txBody>
      </p:sp>
      <p:sp>
        <p:nvSpPr>
          <p:cNvPr id="27" name="Text 25"/>
          <p:cNvSpPr/>
          <p:nvPr/>
        </p:nvSpPr>
        <p:spPr>
          <a:xfrm>
            <a:off x="9528048" y="2514600"/>
            <a:ext cx="1664208"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Testing quality</a:t>
            </a:r>
            <a:endParaRPr lang="en-US" sz="1400" dirty="0"/>
          </a:p>
        </p:txBody>
      </p:sp>
      <p:sp>
        <p:nvSpPr>
          <p:cNvPr id="28" name="Text 26"/>
          <p:cNvSpPr/>
          <p:nvPr/>
        </p:nvSpPr>
        <p:spPr>
          <a:xfrm>
            <a:off x="9528048" y="2926080"/>
            <a:ext cx="1664208" cy="1828800"/>
          </a:xfrm>
          <a:prstGeom prst="rect">
            <a:avLst/>
          </a:prstGeom>
          <a:noFill/>
          <a:ln/>
        </p:spPr>
        <p:txBody>
          <a:bodyPr wrap="square" rtlCol="0" anchor="ctr"/>
          <a:lstStyle/>
          <a:p>
            <a:pPr indent="0" marL="0">
              <a:buNone/>
            </a:pPr>
            <a:r>
              <a:rPr lang="en-US" sz="1050" dirty="0">
                <a:solidFill>
                  <a:srgbClr val="EEF3FD"/>
                </a:solidFill>
                <a:latin typeface="Calibri" pitchFamily="34" charset="0"/>
                <a:ea typeface="Calibri" pitchFamily="34" charset="-122"/>
                <a:cs typeface="Calibri" pitchFamily="34" charset="-120"/>
              </a:rPr>
              <a:t>Run known fault codes against the index and confirm the right record comes back. Decides whether retrieval is trusted enough to reach the agent.</a:t>
            </a:r>
            <a:endParaRPr lang="en-US" sz="1050" dirty="0"/>
          </a:p>
        </p:txBody>
      </p:sp>
      <p:sp>
        <p:nvSpPr>
          <p:cNvPr id="29" name="Text 27"/>
          <p:cNvSpPr/>
          <p:nvPr/>
        </p:nvSpPr>
        <p:spPr>
          <a:xfrm>
            <a:off x="9528048" y="4754880"/>
            <a:ext cx="1664208" cy="274320"/>
          </a:xfrm>
          <a:prstGeom prst="rect">
            <a:avLst/>
          </a:prstGeom>
          <a:noFill/>
          <a:ln/>
        </p:spPr>
        <p:txBody>
          <a:bodyPr wrap="square"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GATE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C4A"/>
        </a:solidFill>
      </p:bgPr>
    </p:bg>
    <p:spTree>
      <p:nvGrpSpPr>
        <p:cNvPr id="1" name=""/>
        <p:cNvGrpSpPr/>
        <p:nvPr/>
      </p:nvGrpSpPr>
      <p:grpSpPr>
        <a:xfrm>
          <a:off x="0" y="0"/>
          <a:ext cx="0" cy="0"/>
          <a:chOff x="0" y="0"/>
          <a:chExt cx="0" cy="0"/>
        </a:xfrm>
      </p:grpSpPr>
      <p:sp>
        <p:nvSpPr>
          <p:cNvPr id="2" name="Text 0"/>
          <p:cNvSpPr/>
          <p:nvPr/>
        </p:nvSpPr>
        <p:spPr>
          <a:xfrm>
            <a:off x="11612880" y="6446520"/>
            <a:ext cx="365760" cy="274320"/>
          </a:xfrm>
          <a:prstGeom prst="rect">
            <a:avLst/>
          </a:prstGeom>
          <a:noFill/>
          <a:ln/>
        </p:spPr>
        <p:txBody>
          <a:bodyPr wrap="square" rtlCol="0" anchor="ctr"/>
          <a:lstStyle/>
          <a:p>
            <a:pPr algn="r" indent="0" marL="0">
              <a:buNone/>
            </a:pPr>
            <a:r>
              <a:rPr lang="en-US" sz="1000" dirty="0">
                <a:solidFill>
                  <a:srgbClr val="8A93B8"/>
                </a:solidFill>
                <a:latin typeface="Calibri" pitchFamily="34" charset="0"/>
                <a:ea typeface="Calibri" pitchFamily="34" charset="-122"/>
                <a:cs typeface="Calibri" pitchFamily="34" charset="-120"/>
              </a:rPr>
              <a:t>16</a:t>
            </a:r>
            <a:endParaRPr lang="en-US" sz="1000" dirty="0"/>
          </a:p>
        </p:txBody>
      </p:sp>
      <p:sp>
        <p:nvSpPr>
          <p:cNvPr id="3" name="Text 1"/>
          <p:cNvSpPr/>
          <p:nvPr/>
        </p:nvSpPr>
        <p:spPr>
          <a:xfrm>
            <a:off x="548640" y="640080"/>
            <a:ext cx="9144000" cy="274320"/>
          </a:xfrm>
          <a:prstGeom prst="rect">
            <a:avLst/>
          </a:prstGeom>
          <a:noFill/>
          <a:ln/>
        </p:spPr>
        <p:txBody>
          <a:bodyPr wrap="square" rtlCol="0" anchor="ctr"/>
          <a:lstStyle/>
          <a:p>
            <a:pPr indent="0" marL="0">
              <a:buNone/>
            </a:pPr>
            <a:r>
              <a:rPr lang="en-US" sz="1100" b="1" spc="200" kern="0" dirty="0">
                <a:solidFill>
                  <a:srgbClr val="F2A93B"/>
                </a:solidFill>
                <a:latin typeface="Calibri" pitchFamily="34" charset="0"/>
                <a:ea typeface="Calibri" pitchFamily="34" charset="-122"/>
                <a:cs typeface="Calibri" pitchFamily="34" charset="-120"/>
              </a:rPr>
              <a:t>TEAM &amp; RESOURCES</a:t>
            </a:r>
            <a:endParaRPr lang="en-US" sz="1100" dirty="0"/>
          </a:p>
        </p:txBody>
      </p:sp>
      <p:sp>
        <p:nvSpPr>
          <p:cNvPr id="4" name="Text 2"/>
          <p:cNvSpPr/>
          <p:nvPr/>
        </p:nvSpPr>
        <p:spPr>
          <a:xfrm>
            <a:off x="548640" y="960120"/>
            <a:ext cx="10789920" cy="640080"/>
          </a:xfrm>
          <a:prstGeom prst="rect">
            <a:avLst/>
          </a:prstGeom>
          <a:noFill/>
          <a:ln/>
        </p:spPr>
        <p:txBody>
          <a:bodyPr wrap="square" rtlCol="0" anchor="ctr"/>
          <a:lstStyle/>
          <a:p>
            <a:pPr indent="0" marL="0">
              <a:buNone/>
            </a:pPr>
            <a:r>
              <a:rPr lang="en-US" sz="2800" dirty="0">
                <a:solidFill>
                  <a:srgbClr val="FFFFFF"/>
                </a:solidFill>
                <a:latin typeface="Cambria" pitchFamily="34" charset="0"/>
                <a:ea typeface="Cambria" pitchFamily="34" charset="-122"/>
                <a:cs typeface="Cambria" pitchFamily="34" charset="-120"/>
              </a:rPr>
              <a:t>Thanks, happy to take questions</a:t>
            </a:r>
            <a:endParaRPr lang="en-US" sz="2800" dirty="0"/>
          </a:p>
        </p:txBody>
      </p:sp>
      <p:sp>
        <p:nvSpPr>
          <p:cNvPr id="5" name="Shape 3"/>
          <p:cNvSpPr/>
          <p:nvPr/>
        </p:nvSpPr>
        <p:spPr>
          <a:xfrm>
            <a:off x="548640" y="2066544"/>
            <a:ext cx="201168" cy="201168"/>
          </a:xfrm>
          <a:prstGeom prst="roundRect">
            <a:avLst>
              <a:gd name="adj" fmla="val 18182"/>
            </a:avLst>
          </a:prstGeom>
          <a:solidFill>
            <a:srgbClr val="F2A93B"/>
          </a:solidFill>
          <a:ln/>
        </p:spPr>
      </p:sp>
      <p:sp>
        <p:nvSpPr>
          <p:cNvPr id="6" name="Text 4"/>
          <p:cNvSpPr/>
          <p:nvPr/>
        </p:nvSpPr>
        <p:spPr>
          <a:xfrm>
            <a:off x="960120" y="2011680"/>
            <a:ext cx="10515600" cy="548640"/>
          </a:xfrm>
          <a:prstGeom prst="rect">
            <a:avLst/>
          </a:prstGeom>
          <a:noFill/>
          <a:ln/>
        </p:spPr>
        <p:txBody>
          <a:bodyPr wrap="square" rtlCol="0" anchor="ctr"/>
          <a:lstStyle/>
          <a:p>
            <a:pPr indent="0" marL="0">
              <a:buNone/>
            </a:pPr>
            <a:r>
              <a:rPr lang="en-US" sz="1400" dirty="0">
                <a:solidFill>
                  <a:srgbClr val="EEF3FD"/>
                </a:solidFill>
                <a:latin typeface="Calibri" pitchFamily="34" charset="0"/>
                <a:ea typeface="Calibri" pitchFamily="34" charset="-122"/>
                <a:cs typeface="Calibri" pitchFamily="34" charset="-120"/>
              </a:rPr>
              <a:t>Team: NodePair — Harsha (classifier/data), Ghada (RAG/agent, ensemble + RNN), Hüseyin (frontend/deployment, CNN/LSTM comparison)</a:t>
            </a:r>
            <a:endParaRPr lang="en-US" sz="1400" dirty="0"/>
          </a:p>
        </p:txBody>
      </p:sp>
      <p:sp>
        <p:nvSpPr>
          <p:cNvPr id="7" name="Shape 5"/>
          <p:cNvSpPr/>
          <p:nvPr/>
        </p:nvSpPr>
        <p:spPr>
          <a:xfrm>
            <a:off x="548640" y="2843784"/>
            <a:ext cx="201168" cy="201168"/>
          </a:xfrm>
          <a:prstGeom prst="roundRect">
            <a:avLst>
              <a:gd name="adj" fmla="val 18182"/>
            </a:avLst>
          </a:prstGeom>
          <a:solidFill>
            <a:srgbClr val="F2A93B"/>
          </a:solidFill>
          <a:ln/>
        </p:spPr>
      </p:sp>
      <p:sp>
        <p:nvSpPr>
          <p:cNvPr id="8" name="Text 6"/>
          <p:cNvSpPr/>
          <p:nvPr/>
        </p:nvSpPr>
        <p:spPr>
          <a:xfrm>
            <a:off x="960120" y="2788920"/>
            <a:ext cx="10515600" cy="548640"/>
          </a:xfrm>
          <a:prstGeom prst="rect">
            <a:avLst/>
          </a:prstGeom>
          <a:noFill/>
          <a:ln/>
        </p:spPr>
        <p:txBody>
          <a:bodyPr wrap="square" rtlCol="0" anchor="ctr"/>
          <a:lstStyle/>
          <a:p>
            <a:pPr indent="0" marL="0">
              <a:buNone/>
            </a:pPr>
            <a:r>
              <a:rPr lang="en-US" sz="1400" dirty="0">
                <a:solidFill>
                  <a:srgbClr val="EEF3FD"/>
                </a:solidFill>
                <a:latin typeface="Calibri" pitchFamily="34" charset="0"/>
                <a:ea typeface="Calibri" pitchFamily="34" charset="-122"/>
                <a:cs typeface="Calibri" pitchFamily="34" charset="-120"/>
              </a:rPr>
              <a:t>Repo: github.com/harshavardhanratnala-hvr/agentic-ai-vehicle-fault-diagnosis-and-repair-copilot</a:t>
            </a:r>
            <a:endParaRPr lang="en-US" sz="1400" dirty="0"/>
          </a:p>
        </p:txBody>
      </p:sp>
      <p:sp>
        <p:nvSpPr>
          <p:cNvPr id="9" name="Shape 7"/>
          <p:cNvSpPr/>
          <p:nvPr/>
        </p:nvSpPr>
        <p:spPr>
          <a:xfrm>
            <a:off x="548640" y="3621024"/>
            <a:ext cx="201168" cy="201168"/>
          </a:xfrm>
          <a:prstGeom prst="roundRect">
            <a:avLst>
              <a:gd name="adj" fmla="val 18182"/>
            </a:avLst>
          </a:prstGeom>
          <a:solidFill>
            <a:srgbClr val="F2A93B"/>
          </a:solidFill>
          <a:ln/>
        </p:spPr>
      </p:sp>
      <p:sp>
        <p:nvSpPr>
          <p:cNvPr id="10" name="Text 8"/>
          <p:cNvSpPr/>
          <p:nvPr/>
        </p:nvSpPr>
        <p:spPr>
          <a:xfrm>
            <a:off x="960120" y="3566160"/>
            <a:ext cx="10515600" cy="548640"/>
          </a:xfrm>
          <a:prstGeom prst="rect">
            <a:avLst/>
          </a:prstGeom>
          <a:noFill/>
          <a:ln/>
        </p:spPr>
        <p:txBody>
          <a:bodyPr wrap="square" rtlCol="0" anchor="ctr"/>
          <a:lstStyle/>
          <a:p>
            <a:pPr indent="0" marL="0">
              <a:buNone/>
            </a:pPr>
            <a:r>
              <a:rPr lang="en-US" sz="1400" dirty="0">
                <a:solidFill>
                  <a:srgbClr val="EEF3FD"/>
                </a:solidFill>
                <a:latin typeface="Calibri" pitchFamily="34" charset="0"/>
                <a:ea typeface="Calibri" pitchFamily="34" charset="-122"/>
                <a:cs typeface="Calibri" pitchFamily="34" charset="-120"/>
              </a:rPr>
              <a:t>Board: GitHub Projects, 4 milestones (one per week), ~28 issues</a:t>
            </a:r>
            <a:endParaRPr lang="en-US" sz="1400" dirty="0"/>
          </a:p>
        </p:txBody>
      </p:sp>
      <p:sp>
        <p:nvSpPr>
          <p:cNvPr id="11" name="Shape 9"/>
          <p:cNvSpPr/>
          <p:nvPr/>
        </p:nvSpPr>
        <p:spPr>
          <a:xfrm>
            <a:off x="548640" y="4398264"/>
            <a:ext cx="201168" cy="201168"/>
          </a:xfrm>
          <a:prstGeom prst="roundRect">
            <a:avLst>
              <a:gd name="adj" fmla="val 18182"/>
            </a:avLst>
          </a:prstGeom>
          <a:solidFill>
            <a:srgbClr val="F2A93B"/>
          </a:solidFill>
          <a:ln/>
        </p:spPr>
      </p:sp>
      <p:sp>
        <p:nvSpPr>
          <p:cNvPr id="12" name="Text 10"/>
          <p:cNvSpPr/>
          <p:nvPr/>
        </p:nvSpPr>
        <p:spPr>
          <a:xfrm>
            <a:off x="960120" y="4343400"/>
            <a:ext cx="10515600" cy="548640"/>
          </a:xfrm>
          <a:prstGeom prst="rect">
            <a:avLst/>
          </a:prstGeom>
          <a:noFill/>
          <a:ln/>
        </p:spPr>
        <p:txBody>
          <a:bodyPr wrap="square" rtlCol="0" anchor="ctr"/>
          <a:lstStyle/>
          <a:p>
            <a:pPr indent="0" marL="0">
              <a:buNone/>
            </a:pPr>
            <a:r>
              <a:rPr lang="en-US" sz="1400" dirty="0">
                <a:solidFill>
                  <a:srgbClr val="EEF3FD"/>
                </a:solidFill>
                <a:latin typeface="Calibri" pitchFamily="34" charset="0"/>
                <a:ea typeface="Calibri" pitchFamily="34" charset="-122"/>
                <a:cs typeface="Calibri" pitchFamily="34" charset="-120"/>
              </a:rPr>
              <a:t>Docs: Capstone_Project_Plan.md (source of truth), Pitch_and_Explainer.md (full FAQ)</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2026-08-05T10:18:41Z</dcterms:created>
  <dcterms:modified xsi:type="dcterms:W3CDTF">2026-08-05T10:18:41Z</dcterms:modified>
</cp:coreProperties>
</file>