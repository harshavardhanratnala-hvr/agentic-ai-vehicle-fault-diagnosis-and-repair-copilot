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one-liner: this is an AI mechanic's assistant. Emphasize it shows its reasoning and cites sources -- that's the trust angle for both coach and general audience.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this in something relatable: a dashboard warning light means nothing to most drivers, and even shops spend hours on diagnostic guesswork.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elevator pitch slide. Let the quote breathe -- read it aloud, then point to the three steps as literally what the agent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right, top to bottom: input triggers the orchestrator, which decides to call up to three tools, then the dashboard shows both the trace and the ticket.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'why is this hard / valuable.' The agent makes a decision at each step instead of following a fixed 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out loud to the coach: existing precedent validates the problem is real, not that the idea is unoriginal. Then pivot immediately to the differentiator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scope so the coach sees this is bounded and shippable, then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77640" y="685800"/>
            <a:ext cx="1188720" cy="1188720"/>
          </a:xfrm>
          <a:prstGeom prst="ellipse">
            <a:avLst/>
          </a:prstGeom>
          <a:solidFill>
            <a:srgbClr val="161C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6707" y="994867"/>
            <a:ext cx="570586" cy="57058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977640" y="685800"/>
            <a:ext cx="1188720" cy="1188720"/>
          </a:xfrm>
          <a:prstGeom prst="ellipse">
            <a:avLst/>
          </a:prstGeom>
          <a:solidFill>
            <a:srgbClr val="161C4A"/>
          </a:solidFill>
          <a:ln w="28575">
            <a:solidFill>
              <a:srgbClr val="F2A93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977640" y="685800"/>
            <a:ext cx="1188720" cy="1188720"/>
          </a:xfrm>
          <a:prstGeom prst="ellipse">
            <a:avLst/>
          </a:prstGeom>
          <a:solidFill>
            <a:srgbClr val="161C4A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707" y="994867"/>
            <a:ext cx="570586" cy="570586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977640" y="685800"/>
            <a:ext cx="1188720" cy="1188720"/>
          </a:xfrm>
          <a:prstGeom prst="ellipse">
            <a:avLst/>
          </a:prstGeom>
          <a:solidFill>
            <a:srgbClr val="3A4380">
              <a:alpha val="0"/>
            </a:srgbClr>
          </a:solidFill>
          <a:ln w="28575">
            <a:solidFill>
              <a:srgbClr val="F2A93B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31520" y="205740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Vehicle Fault Diagnosis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Repair Copilot</a:t>
            </a:r>
            <a:endParaRPr lang="en-US" sz="3400" dirty="0"/>
          </a:p>
        </p:txBody>
      </p:sp>
      <p:sp>
        <p:nvSpPr>
          <p:cNvPr id="9" name="Text 5"/>
          <p:cNvSpPr/>
          <p:nvPr/>
        </p:nvSpPr>
        <p:spPr>
          <a:xfrm>
            <a:off x="1097280" y="324612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mechanic's assistant that diagnoses, cites its sources, and shows its reasoning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31520" y="4480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E9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 ·  neue fische Data Science &amp; AI Bootcamp  ·  Harsha Vardhan Ratnala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457200" cy="73152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800"/>
              </a:spcAft>
              <a:buSzPct val="100000"/>
              <a:buChar char="●"/>
            </a:pPr>
            <a:r>
              <a:rPr lang="en-US" sz="1600" dirty="0">
                <a:solidFill>
                  <a:srgbClr val="2B3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signals happen constantly — trouble codes, abnormal sensor readings.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800"/>
              </a:spcAft>
              <a:buSzPct val="100000"/>
              <a:buChar char="●"/>
            </a:pPr>
            <a:r>
              <a:rPr lang="en-US" sz="1600" dirty="0">
                <a:solidFill>
                  <a:srgbClr val="2B3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 signal into a diagnosis today requires a human cross-referencing manufacturer bulletins and recall databases.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600" dirty="0">
                <a:solidFill>
                  <a:srgbClr val="2B3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process is slow, inconsistent, and doesn't scale.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806440" y="1371600"/>
            <a:ext cx="27432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B103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92240" y="1965960"/>
            <a:ext cx="1371600" cy="1371600"/>
          </a:xfrm>
          <a:prstGeom prst="ellipse">
            <a:avLst/>
          </a:prstGeom>
          <a:solidFill>
            <a:srgbClr val="FDECC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8856" y="2322576"/>
            <a:ext cx="658368" cy="6583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89320" y="3429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received.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to read it.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732520" y="4800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Building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8046720" cy="1234440"/>
          </a:xfrm>
          <a:prstGeom prst="roundRect">
            <a:avLst>
              <a:gd name="adj" fmla="val 888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27000" dist="38100" dir="2700000">
              <a:srgbClr val="0B1030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234440"/>
            <a:ext cx="7406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 AI mechanic’s assistant — give it a car’s warning signal, and it figures out what’s likely wrong, pulls up real recall and repair records, and writes a diagnosis you can trust because it shows its sources.”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371600" y="2788920"/>
            <a:ext cx="1005840" cy="10058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3118" y="3050438"/>
            <a:ext cx="482803" cy="482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886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4251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fault model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140964" y="3163824"/>
            <a:ext cx="164592" cy="16459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0" name="Shape 7"/>
          <p:cNvSpPr/>
          <p:nvPr/>
        </p:nvSpPr>
        <p:spPr>
          <a:xfrm>
            <a:off x="4069080" y="2788920"/>
            <a:ext cx="1005840" cy="10058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0598" y="3050438"/>
            <a:ext cx="482803" cy="482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74720" y="3886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474720" y="4251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over NHTSA records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838444" y="3163824"/>
            <a:ext cx="164592" cy="16459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5" name="Shape 11"/>
          <p:cNvSpPr/>
          <p:nvPr/>
        </p:nvSpPr>
        <p:spPr>
          <a:xfrm>
            <a:off x="6766560" y="2788920"/>
            <a:ext cx="1005840" cy="10058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8078" y="3050438"/>
            <a:ext cx="482803" cy="48280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172200" y="3886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172200" y="4251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repair ticket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8732520" y="4800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0" y="105156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EEF3FD"/>
          </a:solidFill>
          <a:ln/>
          <a:effectLst>
            <a:outerShdw sx="100000" sy="100000" kx="0" ky="0" algn="bl" rotWithShape="0" blurRad="127000" dist="38100" dir="2700000">
              <a:srgbClr val="0B1030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200400" y="1051560"/>
            <a:ext cx="274320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/ DTC Input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0" y="1572768"/>
            <a:ext cx="0" cy="292608"/>
          </a:xfrm>
          <a:prstGeom prst="line">
            <a:avLst/>
          </a:prstGeom>
          <a:noFill/>
          <a:ln w="19050">
            <a:solidFill>
              <a:srgbClr val="5B647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0" y="1901952"/>
            <a:ext cx="3657600" cy="594360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27000" dist="38100" dir="2700000">
              <a:srgbClr val="0B103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0" y="1901952"/>
            <a:ext cx="3657600" cy="5943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Orchestrator (LLM)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2514600"/>
            <a:ext cx="0" cy="256032"/>
          </a:xfrm>
          <a:prstGeom prst="line">
            <a:avLst/>
          </a:prstGeom>
          <a:noFill/>
          <a:ln w="19050">
            <a:solidFill>
              <a:srgbClr val="5B647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78892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B1030">
                <a:alpha val="18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926080"/>
            <a:ext cx="457200" cy="4572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07008" y="288950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Fault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07008" y="3200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classifier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319272" y="278892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B1030">
                <a:alpha val="1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2" y="292608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977640" y="288950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Recalls &amp; TSBs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3977640" y="3200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NHTSA corpus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089904" y="278892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B1030">
                <a:alpha val="18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064" y="2926080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48272" y="288950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Ticket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748272" y="3200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repair writeup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572000" y="3840480"/>
            <a:ext cx="0" cy="256032"/>
          </a:xfrm>
          <a:prstGeom prst="line">
            <a:avLst/>
          </a:prstGeom>
          <a:noFill/>
          <a:ln w="19050">
            <a:solidFill>
              <a:srgbClr val="5B647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2286000" y="4114800"/>
            <a:ext cx="4572000" cy="548640"/>
          </a:xfrm>
          <a:prstGeom prst="roundRect">
            <a:avLst>
              <a:gd name="adj" fmla="val 16667"/>
            </a:avLst>
          </a:prstGeom>
          <a:solidFill>
            <a:srgbClr val="EEF3FD"/>
          </a:solidFill>
          <a:ln/>
          <a:effectLst>
            <a:outerShdw sx="100000" sy="100000" kx="0" ky="0" algn="bl" rotWithShape="0" blurRad="127000" dist="38100" dir="2700000">
              <a:srgbClr val="0B1030">
                <a:alpha val="1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2286000" y="4114800"/>
            <a:ext cx="457200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— reasoning trace + final ticket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8732520" y="4800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Agentic Matters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B1030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417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Pipeline</a:t>
            </a:r>
            <a:endParaRPr lang="en-US" sz="1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965960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920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script, one pass through</a:t>
            </a:r>
            <a:endParaRPr lang="en-US" sz="12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532888"/>
            <a:ext cx="292608" cy="2926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80160" y="24871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→ template output</a:t>
            </a:r>
            <a:endParaRPr lang="en-US" sz="12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099816"/>
            <a:ext cx="292608" cy="2926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80160" y="305409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visible reasoning</a:t>
            </a:r>
            <a:endParaRPr lang="en-US" sz="12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666744"/>
            <a:ext cx="292608" cy="29260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80160" y="362102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as “just a chatbot”</a:t>
            </a:r>
            <a:endParaRPr lang="en-US" sz="1250" dirty="0"/>
          </a:p>
        </p:txBody>
      </p:sp>
      <p:sp>
        <p:nvSpPr>
          <p:cNvPr id="13" name="Shape 7"/>
          <p:cNvSpPr/>
          <p:nvPr/>
        </p:nvSpPr>
        <p:spPr>
          <a:xfrm>
            <a:off x="4754880" y="123444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27000" dist="38100" dir="2700000">
              <a:srgbClr val="0B1030">
                <a:alpha val="18000"/>
              </a:srgbClr>
            </a:outerShdw>
          </a:effectLst>
        </p:spPr>
      </p:sp>
      <p:sp>
        <p:nvSpPr>
          <p:cNvPr id="14" name="Text 8"/>
          <p:cNvSpPr/>
          <p:nvPr/>
        </p:nvSpPr>
        <p:spPr>
          <a:xfrm>
            <a:off x="5029200" y="1417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Agentic Approach</a:t>
            </a:r>
            <a:endParaRPr lang="en-US" sz="16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1965960"/>
            <a:ext cx="292608" cy="2926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486400" y="1920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decides which tool to call next</a:t>
            </a:r>
            <a:endParaRPr lang="en-US" sz="125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532888"/>
            <a:ext cx="292608" cy="292608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5486400" y="24871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→ retrieve → generate, adaptively</a:t>
            </a:r>
            <a:endParaRPr lang="en-US" sz="125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74920" y="3099816"/>
            <a:ext cx="292608" cy="292608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5486400" y="305409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trace shown in the UI</a:t>
            </a:r>
            <a:endParaRPr lang="en-US" sz="1250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4920" y="3666744"/>
            <a:ext cx="292608" cy="292608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5486400" y="3621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cited, escalates when unsure</a:t>
            </a:r>
            <a:endParaRPr lang="en-US" sz="1250" dirty="0"/>
          </a:p>
        </p:txBody>
      </p:sp>
      <p:sp>
        <p:nvSpPr>
          <p:cNvPr id="23" name="Text 13"/>
          <p:cNvSpPr/>
          <p:nvPr/>
        </p:nvSpPr>
        <p:spPr>
          <a:xfrm>
            <a:off x="8732520" y="4800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Space Is Real — Good News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62432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B1030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86484" y="1371600"/>
            <a:ext cx="548640" cy="548640"/>
          </a:xfrm>
          <a:prstGeom prst="ellipse">
            <a:avLst/>
          </a:prstGeom>
          <a:solidFill>
            <a:srgbClr val="EEF3F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9130" y="1514246"/>
            <a:ext cx="263347" cy="2633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2029968"/>
            <a:ext cx="2350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AI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13232" y="2423160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app cross-referencing OBD-II codes against NHTSA recall data.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355848" y="1188720"/>
            <a:ext cx="262432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B1030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393692" y="1371600"/>
            <a:ext cx="548640" cy="548640"/>
          </a:xfrm>
          <a:prstGeom prst="ellipse">
            <a:avLst/>
          </a:prstGeom>
          <a:solidFill>
            <a:srgbClr val="EEF3F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6338" y="151424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493008" y="2029968"/>
            <a:ext cx="2350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Recon (99P Labs)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3520440" y="2423160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ML + RAG system forecasting safety recalls from NHTSA data.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163056" y="1188720"/>
            <a:ext cx="262432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B1030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200900" y="1371600"/>
            <a:ext cx="548640" cy="548640"/>
          </a:xfrm>
          <a:prstGeom prst="ellipse">
            <a:avLst/>
          </a:prstGeom>
          <a:solidFill>
            <a:srgbClr val="EEF3F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3546" y="151424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300216" y="2029968"/>
            <a:ext cx="2350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RAG (Springer, 2025)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327648" y="2423160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classifier + multi-step RAG for generating diagnostic reports.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48640" y="3611880"/>
            <a:ext cx="8046720" cy="1051560"/>
          </a:xfrm>
          <a:prstGeom prst="roundRect">
            <a:avLst>
              <a:gd name="adj" fmla="val 8696"/>
            </a:avLst>
          </a:prstGeom>
          <a:solidFill>
            <a:srgbClr val="EEF3FD"/>
          </a:solidFill>
          <a:ln/>
          <a:effectLst>
            <a:outerShdw sx="100000" sy="100000" kx="0" ky="0" algn="bl" rotWithShape="0" blurRad="127000" dist="38100" dir="2700000">
              <a:srgbClr val="0B1030">
                <a:alpha val="18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22960" y="3611880"/>
            <a:ext cx="7498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edge: </a:t>
            </a:r>
            <a:pPr indent="0" marL="0">
              <a:buNone/>
            </a:pPr>
            <a:r>
              <a:rPr lang="en-US" sz="1300" dirty="0">
                <a:solidFill>
                  <a:srgbClr val="2B3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orchestration with a visible reasoning trace, plus full-stack ownership end-to-end — not a single vendor API.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732520" y="4800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4-Week 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rgbClr val="2A337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472184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13441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subsystem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28016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braking, battery/EV, or engine cooling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40080" y="1993392"/>
            <a:ext cx="457200" cy="457200"/>
          </a:xfrm>
          <a:prstGeom prst="ellipse">
            <a:avLst/>
          </a:prstGeom>
          <a:solidFill>
            <a:srgbClr val="2A337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093976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80160" y="1965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fault classifier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280160" y="22677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→ small neural net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40080" y="2615184"/>
            <a:ext cx="457200" cy="457200"/>
          </a:xfrm>
          <a:prstGeom prst="ellipse">
            <a:avLst/>
          </a:prstGeom>
          <a:solidFill>
            <a:srgbClr val="2A337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715768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80160" y="25877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NHTSA-grounded retrieval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80160" y="28895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recalls, complaints, TSBs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40080" y="3236976"/>
            <a:ext cx="457200" cy="457200"/>
          </a:xfrm>
          <a:prstGeom prst="ellipse">
            <a:avLst/>
          </a:prstGeom>
          <a:solidFill>
            <a:srgbClr val="2A337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337560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280160" y="32095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ticket generation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1280160" y="3511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tool-calling loop + guardrails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40080" y="3858768"/>
            <a:ext cx="457200" cy="457200"/>
          </a:xfrm>
          <a:prstGeom prst="ellipse">
            <a:avLst/>
          </a:prstGeom>
          <a:solidFill>
            <a:srgbClr val="2A337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3959352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280160" y="38313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dashboard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1280160" y="41330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view + ops metrics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5120640" y="137160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161C4A"/>
          </a:solidFill>
          <a:ln/>
          <a:effectLst>
            <a:outerShdw sx="100000" sy="100000" kx="0" ky="0" algn="bl" rotWithShape="0" blurRad="127000" dist="38100" dir="2700000">
              <a:srgbClr val="0B1030">
                <a:alpha val="18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6355080" y="1691640"/>
            <a:ext cx="1005840" cy="1005840"/>
          </a:xfrm>
          <a:prstGeom prst="ellipse">
            <a:avLst/>
          </a:prstGeom>
          <a:solidFill>
            <a:srgbClr val="2A3372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6598" y="1953158"/>
            <a:ext cx="482803" cy="482803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303520" y="2880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diagnose smarter.</a:t>
            </a:r>
            <a:endParaRPr lang="en-US" sz="1800" dirty="0"/>
          </a:p>
        </p:txBody>
      </p:sp>
      <p:sp>
        <p:nvSpPr>
          <p:cNvPr id="27" name="Text 19"/>
          <p:cNvSpPr/>
          <p:nvPr/>
        </p:nvSpPr>
        <p:spPr>
          <a:xfrm>
            <a:off x="5303520" y="3429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&amp; questions welcome</a:t>
            </a:r>
            <a:endParaRPr lang="en-US" sz="1200" dirty="0"/>
          </a:p>
        </p:txBody>
      </p:sp>
      <p:sp>
        <p:nvSpPr>
          <p:cNvPr id="28" name="Text 20"/>
          <p:cNvSpPr/>
          <p:nvPr/>
        </p:nvSpPr>
        <p:spPr>
          <a:xfrm>
            <a:off x="5303520" y="38862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9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 Vardhan Ratnala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8732520" y="4800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Vehicle Fault Diagnosis &amp; Repair Copilot</dc:title>
  <dc:subject>PptxGenJS Presentation</dc:subject>
  <dc:creator>Harsha Vardhan Ratnala</dc:creator>
  <cp:lastModifiedBy>Harsha Vardhan Ratnala</cp:lastModifiedBy>
  <cp:revision>1</cp:revision>
  <dcterms:created xsi:type="dcterms:W3CDTF">2026-07-09T16:05:39Z</dcterms:created>
  <dcterms:modified xsi:type="dcterms:W3CDTF">2026-07-09T16:05:39Z</dcterms:modified>
</cp:coreProperties>
</file>