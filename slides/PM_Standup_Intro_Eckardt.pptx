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Arial"/>
              </a:defRPr>
            </a:pPr>
            <a:r>
              <a:rPr sz="1300" b="0" i="0" u="none" strike="noStrike">
                <a:solidFill>
                  <a:srgbClr val="FFFFFF"/>
                </a:solidFill>
                <a:latin typeface="Arial"/>
              </a:rPr>
              <a:t>Macro F1, Random Forest</a:t>
            </a:r>
          </a:p>
        </c:rich>
      </c:tx>
      <c:layout/>
      <c:overlay val="0"/>
    </c:title>
    <c:autoTitleDeleted val="0"/>
    <c:plotArea>
      <c:layout/>
      <c:barChart>
        <c:barDir val="col"/>
        <c:grouping val="clustered"/>
        <c:varyColors val="0"/>
        <c:ser>
          <c:idx val="0"/>
          <c:order val="0"/>
          <c:tx>
            <c:strRef>
              <c:f>Sheet1!$B$1</c:f>
              <c:strCache>
                <c:ptCount val="1"/>
                <c:pt idx="0">
                  <c:v>Macro F1</c:v>
                </c:pt>
              </c:strCache>
            </c:strRef>
          </c:tx>
          <c:spPr>
            <a:solidFill>
              <a:srgbClr val="CADCFC"/>
            </a:solidFill>
            <a:effectLst/>
          </c:spPr>
          <c:invertIfNegative val="0"/>
          <c:dLbls>
            <c:numFmt formatCode="0.0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CADCFC"/>
              </a:solidFill>
              <a:effectLst/>
            </c:spPr>
          </c:dPt>
          <c:dPt>
            <c:idx val="1"/>
            <c:invertIfNegative val="0"/>
            <c:bubble3D val="0"/>
            <c:spPr>
              <a:solidFill>
                <a:srgbClr val="F2A93B"/>
              </a:solidFill>
              <a:effectLst/>
            </c:spPr>
          </c:dPt>
          <c:cat>
            <c:multiLvlStrRef>
              <c:f>Sheet1!$A$2:$A$3</c:f>
              <c:multiLvlStrCache>
                <c:ptCount val="2"/>
                <c:lvl>
                  <c:pt idx="0">
                    <c:v>Instant
classification</c:v>
                  </c:pt>
                  <c:pt idx="1">
                    <c:v>Forecast
(6h ahead)</c:v>
                  </c:pt>
                </c:lvl>
              </c:multiLvlStrCache>
            </c:multiLvlStrRef>
          </c:cat>
          <c:val>
            <c:numRef>
              <c:f>Sheet1!$B$2:$B$3</c:f>
              <c:numCache>
                <c:formatCode>General</c:formatCode>
                <c:ptCount val="2"/>
                <c:pt idx="0">
                  <c:v>1</c:v>
                </c:pt>
                <c:pt idx="1">
                  <c:v>0.599</c:v>
                </c:pt>
              </c:numCache>
            </c:numRef>
          </c:val>
        </c:ser>
        <c:dLbls>
          <c:numFmt formatCode="0.0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ADCFC"/>
                </a:solidFill>
                <a:latin typeface="Arial"/>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12700" cap="flat">
              <a:solidFill>
                <a:srgbClr val="2A34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ADCFC"/>
                </a:solidFill>
                <a:latin typeface="Arial"/>
              </a:defRPr>
            </a:pPr>
            <a:endParaRPr lang="en-US"/>
          </a:p>
        </c:txPr>
        <c:crossAx val="2094734554"/>
        <c:crosses val="autoZero"/>
        <c:crossBetween val="between"/>
      </c:valAx>
      <c:spPr>
        <a:solidFill>
          <a:srgbClr val="161C4A"/>
        </a:solidFill>
        <a:ln>
          <a:noFill/>
        </a:ln>
        <a:effectLst/>
      </c:spPr>
    </c:plotArea>
    <c:plotVisOnly val="1"/>
    <c:dispBlanksAs val="span"/>
  </c:chart>
  <c:spPr>
    <a:solidFill>
      <a:srgbClr val="161C4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Eckardt, welcome. Since our usual coach is out this week, quick level set for you. I'll walk through the problem we're solving, what we're building, where we actually are right now, a key change we made this week based on feedback, and what's coming next. Should take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actually has two halves, and it's worth being upfront about both. First, catching trouble early: a fault often shows up as a slow trend in sensor data well before any code fires, and today nobody is watching closely enough to catch that early. Second, once a code does fire, figuring out what it means and what to do about it today needs a human expert cross-referencing manuals and recall databases by hand. We're building an AI copilot that covers both: forecast trouble early, and explain it fully once it's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there are two ways into the same agent. On the fleet manager side, continuous telemetry feeds the forecasting classifier, catching trouble before it becomes a breakdown. On the service center side, a fault code has already fired, so that feeds straight into the same pipeline. Either way, the agent decides for itself which of three tools to call: classify the fault, search NHTSA recall and complaint records, or write up a cited repair ticket. The dashboard shows the reasoning trace, not just the final answer. That visible decision making is the agentic part that's the novel skill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personas, one headline. The fleet manager is our primary story, someone deciding whether a vehicle is safe to keep driving right now. The dealer engineer asks a different question but gets the same underlying agent output, so it's a this generalizes line, not a second demo track. Deliberately not consumer facing yet. That's a scope cut, not a limitation, since a driver facing safety call needs a much higher trust bar than a professional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status, and worth being upfront about timing here. Officially we're still in Week 1 on the program calendar, our kickoff was very recent, but we did preparation work ahead of time, so we're already through most of what the plan allotted to Week 2. We've locked the subsystem to Battery/EV, cleaned and labeled the classifier dataset, and pulled and filtered the NHTSA recall/complaint corpus for RAG. The baseline classifier is trained, but here's the honest part: the first version of it needed a real rework, which is the main thing I want to walk you through, since it's the most substantive thing that happened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thing to walk Eckardt through. Our first classifier looked suspiciously perfect, 1.000 macro F1. Our coach flagged that we were treating independent hourly rows when this is really 4 continuous time series, and the dataset's own README confirms it's meant for forecasting, not instant classification. We rebuilt it properly: new rolling/lag features, and a new target asking whether a fault will happen in the next 6 hours instead of right now. The score dropped to a real ~0.60, and that drop is the correct, expected outcome, not a step backward. We're bringing this up proactively because it shows the team catching and fixing a real methodological issue, not hiding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note on how we're approaching rigor generally, since this is as much a process story as a results story. Every dataset we use gets signal tested before we commit to it. We check for leakage explicitly rather than assuming it away. And when we form a hypothesis about our own results, we test it rather than just asserting it, including the case last slide, where our hypothesis turned out to be wrong and we said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and quick note on timing: everything on this slide is technically still Week 1 on the program calendar, we did prep work ahead of kickoff, so we're already through most of what the plan allotted to Week 2. Rest of this stretch finishes off the classifier follow ups and gets RAG retrieval working over the NHTSA corpus. The official Week 2 and 3 milestones on the calendar are the agent loop itself, with guardrails so it can't invent a repair that isn't in a real record. Week 4 is the dashboard, deployment, and a real evaluation with documented test cases, ending in the final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Wrapping up: team split, repo link, project board, and where the full documentation lives if you want to dig into anything deeper.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1920240"/>
            <a:ext cx="10515600" cy="457200"/>
          </a:xfrm>
          <a:prstGeom prst="rect">
            <a:avLst/>
          </a:prstGeom>
          <a:noFill/>
          <a:ln/>
        </p:spPr>
        <p:txBody>
          <a:bodyPr wrap="square" rtlCol="0" anchor="ctr"/>
          <a:lstStyle/>
          <a:p>
            <a:pPr indent="0" marL="0">
              <a:buNone/>
            </a:pPr>
            <a:r>
              <a:rPr lang="en-US" sz="1500" b="1" spc="200" kern="0" dirty="0">
                <a:solidFill>
                  <a:srgbClr val="F2A93B"/>
                </a:solidFill>
              </a:rPr>
              <a:t>PM STANDUP  ·  INTRODUCTION FOR ECKARDT</a:t>
            </a:r>
            <a:endParaRPr lang="en-US" sz="1500" dirty="0"/>
          </a:p>
        </p:txBody>
      </p:sp>
      <p:sp>
        <p:nvSpPr>
          <p:cNvPr id="3" name="Text 1"/>
          <p:cNvSpPr/>
          <p:nvPr/>
        </p:nvSpPr>
        <p:spPr>
          <a:xfrm>
            <a:off x="822960" y="2651760"/>
            <a:ext cx="10515600" cy="11887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Vehicle Fault Diagnosis &amp; Repair Copilot</a:t>
            </a:r>
            <a:endParaRPr lang="en-US" sz="3400" dirty="0"/>
          </a:p>
        </p:txBody>
      </p:sp>
      <p:sp>
        <p:nvSpPr>
          <p:cNvPr id="4" name="Text 2"/>
          <p:cNvSpPr/>
          <p:nvPr/>
        </p:nvSpPr>
        <p:spPr>
          <a:xfrm>
            <a:off x="822960" y="4297680"/>
            <a:ext cx="10515600" cy="365760"/>
          </a:xfrm>
          <a:prstGeom prst="rect">
            <a:avLst/>
          </a:prstGeom>
          <a:noFill/>
          <a:ln/>
        </p:spPr>
        <p:txBody>
          <a:bodyPr wrap="square" rtlCol="0" anchor="ctr"/>
          <a:lstStyle/>
          <a:p>
            <a:pPr indent="0" marL="0">
              <a:buNone/>
            </a:pPr>
            <a:r>
              <a:rPr lang="en-US" sz="1400" dirty="0">
                <a:solidFill>
                  <a:srgbClr val="CADCFC"/>
                </a:solidFill>
              </a:rPr>
              <a:t>Team NodePair: Harsha, Ghada &amp; Hüseyin  ·  neue fische Data Science &amp; AI Bootcamp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100" kern="0" dirty="0">
                <a:solidFill>
                  <a:srgbClr val="F2A93B"/>
                </a:solidFill>
              </a:rPr>
              <a:t>THE PROBLEM</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indent="0" marL="0">
              <a:buNone/>
            </a:pPr>
            <a:r>
              <a:rPr lang="en-US" sz="3000" b="1" dirty="0">
                <a:solidFill>
                  <a:srgbClr val="161C4A"/>
                </a:solidFill>
                <a:latin typeface="Cambria" pitchFamily="34" charset="0"/>
                <a:ea typeface="Cambria" pitchFamily="34" charset="-122"/>
                <a:cs typeface="Cambria" pitchFamily="34" charset="-120"/>
              </a:rPr>
              <a:t>Why this project exists</a:t>
            </a:r>
            <a:endParaRPr lang="en-US" sz="3000" dirty="0"/>
          </a:p>
        </p:txBody>
      </p:sp>
      <p:sp>
        <p:nvSpPr>
          <p:cNvPr id="4" name="Text 2"/>
          <p:cNvSpPr/>
          <p:nvPr/>
        </p:nvSpPr>
        <p:spPr>
          <a:xfrm>
            <a:off x="548640" y="1737360"/>
            <a:ext cx="10789920" cy="1463040"/>
          </a:xfrm>
          <a:prstGeom prst="rect">
            <a:avLst/>
          </a:prstGeom>
          <a:noFill/>
          <a:ln/>
        </p:spPr>
        <p:txBody>
          <a:bodyPr wrap="square" rtlCol="0" anchor="ctr"/>
          <a:lstStyle/>
          <a:p>
            <a:pPr indent="0" marL="0">
              <a:buNone/>
            </a:pPr>
            <a:r>
              <a:rPr lang="en-US" sz="1600" dirty="0">
                <a:solidFill>
                  <a:srgbClr val="5B6478"/>
                </a:solidFill>
              </a:rPr>
              <a:t>Vehicle problems show up in two ways, and both are handled badly today. Sometimes a fault code fires and a human has to interpret it by hand, cross-referencing manufacturer bulletins and recall databases. And sometimes the warning signs are there in the sensor trend well before any code fires, but nobody is watching closely enough to catch it early. Both are slow, manual, and inconsistent.</a:t>
            </a:r>
            <a:endParaRPr lang="en-US" sz="1600" dirty="0"/>
          </a:p>
        </p:txBody>
      </p:sp>
      <p:sp>
        <p:nvSpPr>
          <p:cNvPr id="5" name="Shape 3"/>
          <p:cNvSpPr/>
          <p:nvPr/>
        </p:nvSpPr>
        <p:spPr>
          <a:xfrm>
            <a:off x="548640" y="3383280"/>
            <a:ext cx="10789920" cy="1737360"/>
          </a:xfrm>
          <a:prstGeom prst="roundRect">
            <a:avLst>
              <a:gd name="adj" fmla="val 4211"/>
            </a:avLst>
          </a:prstGeom>
          <a:solidFill>
            <a:srgbClr val="1E2761"/>
          </a:solidFill>
          <a:ln w="12700">
            <a:solidFill>
              <a:srgbClr val="1E2761"/>
            </a:solidFill>
            <a:prstDash val="solid"/>
          </a:ln>
        </p:spPr>
      </p:sp>
      <p:sp>
        <p:nvSpPr>
          <p:cNvPr id="6" name="Text 4"/>
          <p:cNvSpPr/>
          <p:nvPr/>
        </p:nvSpPr>
        <p:spPr>
          <a:xfrm>
            <a:off x="914400" y="3566160"/>
            <a:ext cx="10058400" cy="1371600"/>
          </a:xfrm>
          <a:prstGeom prst="rect">
            <a:avLst/>
          </a:prstGeom>
          <a:noFill/>
          <a:ln/>
        </p:spPr>
        <p:txBody>
          <a:bodyPr wrap="square" rtlCol="0" anchor="ctr"/>
          <a:lstStyle/>
          <a:p>
            <a:pPr indent="0" marL="0">
              <a:buNone/>
            </a:pPr>
            <a:r>
              <a:rPr lang="en-US" sz="1600" i="1" dirty="0">
                <a:solidFill>
                  <a:srgbClr val="FFFFFF"/>
                </a:solidFill>
                <a:latin typeface="Cambria" pitchFamily="34" charset="0"/>
                <a:ea typeface="Cambria" pitchFamily="34" charset="-122"/>
                <a:cs typeface="Cambria" pitchFamily="34" charset="-120"/>
              </a:rPr>
              <a:t>“We built an AI copilot that watches a vehicle's telemetry to catch trouble before it becomes a breakdown, and, once a fault is known, automatically figures out what's wrong, pulls up real recall and repair records for that exact problem, and writes a diagnosis you can trust because it shows its sources.”</a:t>
            </a:r>
            <a:endParaRPr lang="en-US" sz="1600" dirty="0"/>
          </a:p>
        </p:txBody>
      </p:sp>
      <p:sp>
        <p:nvSpPr>
          <p:cNvPr id="7" name="Text 5"/>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100" kern="0" dirty="0">
                <a:solidFill>
                  <a:srgbClr val="F2A93B"/>
                </a:solidFill>
              </a:rPr>
              <a:t>THE SYSTEM</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indent="0" marL="0">
              <a:buNone/>
            </a:pPr>
            <a:r>
              <a:rPr lang="en-US" sz="3000" b="1" dirty="0">
                <a:solidFill>
                  <a:srgbClr val="161C4A"/>
                </a:solidFill>
                <a:latin typeface="Cambria" pitchFamily="34" charset="0"/>
                <a:ea typeface="Cambria" pitchFamily="34" charset="-122"/>
                <a:cs typeface="Cambria" pitchFamily="34" charset="-120"/>
              </a:rPr>
              <a:t>What we're building</a:t>
            </a:r>
            <a:endParaRPr lang="en-US" sz="3000" dirty="0"/>
          </a:p>
        </p:txBody>
      </p:sp>
      <p:sp>
        <p:nvSpPr>
          <p:cNvPr id="4" name="Shape 2"/>
          <p:cNvSpPr/>
          <p:nvPr/>
        </p:nvSpPr>
        <p:spPr>
          <a:xfrm>
            <a:off x="548640" y="1691640"/>
            <a:ext cx="2606040" cy="868680"/>
          </a:xfrm>
          <a:prstGeom prst="roundRect">
            <a:avLst>
              <a:gd name="adj" fmla="val 8421"/>
            </a:avLst>
          </a:prstGeom>
          <a:solidFill>
            <a:srgbClr val="FFFFFF"/>
          </a:solidFill>
          <a:ln w="12700">
            <a:solidFill>
              <a:srgbClr val="E4E8F0"/>
            </a:solidFill>
            <a:prstDash val="solid"/>
          </a:ln>
        </p:spPr>
      </p:sp>
      <p:sp>
        <p:nvSpPr>
          <p:cNvPr id="5" name="Text 3"/>
          <p:cNvSpPr/>
          <p:nvPr/>
        </p:nvSpPr>
        <p:spPr>
          <a:xfrm>
            <a:off x="713232" y="1810512"/>
            <a:ext cx="2286000" cy="320040"/>
          </a:xfrm>
          <a:prstGeom prst="rect">
            <a:avLst/>
          </a:prstGeom>
          <a:noFill/>
          <a:ln/>
        </p:spPr>
        <p:txBody>
          <a:bodyPr wrap="square" rtlCol="0" anchor="ctr"/>
          <a:lstStyle/>
          <a:p>
            <a:pPr indent="0" marL="0">
              <a:buNone/>
            </a:pPr>
            <a:r>
              <a:rPr lang="en-US" sz="1250" b="1" dirty="0">
                <a:solidFill>
                  <a:srgbClr val="161C4A"/>
                </a:solidFill>
              </a:rPr>
              <a:t>Continuous telemetry</a:t>
            </a:r>
            <a:endParaRPr lang="en-US" sz="1250" dirty="0"/>
          </a:p>
        </p:txBody>
      </p:sp>
      <p:sp>
        <p:nvSpPr>
          <p:cNvPr id="6" name="Text 4"/>
          <p:cNvSpPr/>
          <p:nvPr/>
        </p:nvSpPr>
        <p:spPr>
          <a:xfrm>
            <a:off x="713232" y="2121408"/>
            <a:ext cx="2286000" cy="411480"/>
          </a:xfrm>
          <a:prstGeom prst="rect">
            <a:avLst/>
          </a:prstGeom>
          <a:noFill/>
          <a:ln/>
        </p:spPr>
        <p:txBody>
          <a:bodyPr wrap="square" rtlCol="0" anchor="ctr"/>
          <a:lstStyle/>
          <a:p>
            <a:pPr indent="0" marL="0">
              <a:buNone/>
            </a:pPr>
            <a:r>
              <a:rPr lang="en-US" sz="1000" dirty="0">
                <a:solidFill>
                  <a:srgbClr val="5B6478"/>
                </a:solidFill>
              </a:rPr>
              <a:t>Fleet manager side, forecasts trouble before it happens</a:t>
            </a:r>
            <a:endParaRPr lang="en-US" sz="1000" dirty="0"/>
          </a:p>
        </p:txBody>
      </p:sp>
      <p:sp>
        <p:nvSpPr>
          <p:cNvPr id="7" name="Shape 5"/>
          <p:cNvSpPr/>
          <p:nvPr/>
        </p:nvSpPr>
        <p:spPr>
          <a:xfrm>
            <a:off x="548640" y="2743200"/>
            <a:ext cx="2606040" cy="868680"/>
          </a:xfrm>
          <a:prstGeom prst="roundRect">
            <a:avLst>
              <a:gd name="adj" fmla="val 8421"/>
            </a:avLst>
          </a:prstGeom>
          <a:solidFill>
            <a:srgbClr val="FFFFFF"/>
          </a:solidFill>
          <a:ln w="12700">
            <a:solidFill>
              <a:srgbClr val="E4E8F0"/>
            </a:solidFill>
            <a:prstDash val="solid"/>
          </a:ln>
        </p:spPr>
      </p:sp>
      <p:sp>
        <p:nvSpPr>
          <p:cNvPr id="8" name="Text 6"/>
          <p:cNvSpPr/>
          <p:nvPr/>
        </p:nvSpPr>
        <p:spPr>
          <a:xfrm>
            <a:off x="713232" y="2862072"/>
            <a:ext cx="2286000" cy="320040"/>
          </a:xfrm>
          <a:prstGeom prst="rect">
            <a:avLst/>
          </a:prstGeom>
          <a:noFill/>
          <a:ln/>
        </p:spPr>
        <p:txBody>
          <a:bodyPr wrap="square" rtlCol="0" anchor="ctr"/>
          <a:lstStyle/>
          <a:p>
            <a:pPr indent="0" marL="0">
              <a:buNone/>
            </a:pPr>
            <a:r>
              <a:rPr lang="en-US" sz="1250" b="1" dirty="0">
                <a:solidFill>
                  <a:srgbClr val="161C4A"/>
                </a:solidFill>
              </a:rPr>
              <a:t>Sensor / DTC trigger</a:t>
            </a:r>
            <a:endParaRPr lang="en-US" sz="1250" dirty="0"/>
          </a:p>
        </p:txBody>
      </p:sp>
      <p:sp>
        <p:nvSpPr>
          <p:cNvPr id="9" name="Text 7"/>
          <p:cNvSpPr/>
          <p:nvPr/>
        </p:nvSpPr>
        <p:spPr>
          <a:xfrm>
            <a:off x="713232" y="3172968"/>
            <a:ext cx="2286000" cy="411480"/>
          </a:xfrm>
          <a:prstGeom prst="rect">
            <a:avLst/>
          </a:prstGeom>
          <a:noFill/>
          <a:ln/>
        </p:spPr>
        <p:txBody>
          <a:bodyPr wrap="square" rtlCol="0" anchor="ctr"/>
          <a:lstStyle/>
          <a:p>
            <a:pPr indent="0" marL="0">
              <a:buNone/>
            </a:pPr>
            <a:r>
              <a:rPr lang="en-US" sz="1000" dirty="0">
                <a:solidFill>
                  <a:srgbClr val="5B6478"/>
                </a:solidFill>
              </a:rPr>
              <a:t>Service center side, a code has already fired</a:t>
            </a:r>
            <a:endParaRPr lang="en-US" sz="1000" dirty="0"/>
          </a:p>
        </p:txBody>
      </p:sp>
      <p:sp>
        <p:nvSpPr>
          <p:cNvPr id="10" name="Text 8"/>
          <p:cNvSpPr/>
          <p:nvPr/>
        </p:nvSpPr>
        <p:spPr>
          <a:xfrm>
            <a:off x="3246120" y="2148840"/>
            <a:ext cx="457200" cy="1280160"/>
          </a:xfrm>
          <a:prstGeom prst="rect">
            <a:avLst/>
          </a:prstGeom>
          <a:noFill/>
          <a:ln/>
        </p:spPr>
        <p:txBody>
          <a:bodyPr wrap="square" rtlCol="0" anchor="ctr"/>
          <a:lstStyle/>
          <a:p>
            <a:pPr algn="ctr" indent="0" marL="0">
              <a:buNone/>
            </a:pPr>
            <a:r>
              <a:rPr lang="en-US" sz="2000" b="1" dirty="0">
                <a:solidFill>
                  <a:srgbClr val="F2A93B"/>
                </a:solidFill>
              </a:rPr>
              <a:t>&gt;</a:t>
            </a:r>
            <a:endParaRPr lang="en-US" sz="2000" dirty="0"/>
          </a:p>
        </p:txBody>
      </p:sp>
      <p:sp>
        <p:nvSpPr>
          <p:cNvPr id="11" name="Shape 9"/>
          <p:cNvSpPr/>
          <p:nvPr/>
        </p:nvSpPr>
        <p:spPr>
          <a:xfrm>
            <a:off x="3794760" y="2148840"/>
            <a:ext cx="2331720" cy="1280160"/>
          </a:xfrm>
          <a:prstGeom prst="roundRect">
            <a:avLst>
              <a:gd name="adj" fmla="val 5714"/>
            </a:avLst>
          </a:prstGeom>
          <a:solidFill>
            <a:srgbClr val="1E2761"/>
          </a:solidFill>
          <a:ln w="12700">
            <a:solidFill>
              <a:srgbClr val="1E2761"/>
            </a:solidFill>
            <a:prstDash val="solid"/>
          </a:ln>
        </p:spPr>
      </p:sp>
      <p:sp>
        <p:nvSpPr>
          <p:cNvPr id="12" name="Text 10"/>
          <p:cNvSpPr/>
          <p:nvPr/>
        </p:nvSpPr>
        <p:spPr>
          <a:xfrm>
            <a:off x="3959352" y="2286000"/>
            <a:ext cx="2002536" cy="548640"/>
          </a:xfrm>
          <a:prstGeom prst="rect">
            <a:avLst/>
          </a:prstGeom>
          <a:noFill/>
          <a:ln/>
        </p:spPr>
        <p:txBody>
          <a:bodyPr wrap="square" rtlCol="0" anchor="ctr"/>
          <a:lstStyle/>
          <a:p>
            <a:pPr indent="0" marL="0">
              <a:buNone/>
            </a:pPr>
            <a:r>
              <a:rPr lang="en-US" sz="1300" b="1" dirty="0">
                <a:solidFill>
                  <a:srgbClr val="FFFFFF"/>
                </a:solidFill>
              </a:rPr>
              <a:t>Agent Orchestrator (LLM)</a:t>
            </a:r>
            <a:endParaRPr lang="en-US" sz="1300" dirty="0"/>
          </a:p>
        </p:txBody>
      </p:sp>
      <p:sp>
        <p:nvSpPr>
          <p:cNvPr id="13" name="Text 11"/>
          <p:cNvSpPr/>
          <p:nvPr/>
        </p:nvSpPr>
        <p:spPr>
          <a:xfrm>
            <a:off x="3959352" y="2834640"/>
            <a:ext cx="2002536" cy="502920"/>
          </a:xfrm>
          <a:prstGeom prst="rect">
            <a:avLst/>
          </a:prstGeom>
          <a:noFill/>
          <a:ln/>
        </p:spPr>
        <p:txBody>
          <a:bodyPr wrap="square" rtlCol="0" anchor="ctr"/>
          <a:lstStyle/>
          <a:p>
            <a:pPr indent="0" marL="0">
              <a:buNone/>
            </a:pPr>
            <a:r>
              <a:rPr lang="en-US" sz="1050" dirty="0">
                <a:solidFill>
                  <a:srgbClr val="CADCFC"/>
                </a:solidFill>
              </a:rPr>
              <a:t>Decides which tool to call next, not a fixed script</a:t>
            </a:r>
            <a:endParaRPr lang="en-US" sz="1050" dirty="0"/>
          </a:p>
        </p:txBody>
      </p:sp>
      <p:sp>
        <p:nvSpPr>
          <p:cNvPr id="14" name="Text 12"/>
          <p:cNvSpPr/>
          <p:nvPr/>
        </p:nvSpPr>
        <p:spPr>
          <a:xfrm>
            <a:off x="6144768" y="2560320"/>
            <a:ext cx="228600" cy="457200"/>
          </a:xfrm>
          <a:prstGeom prst="rect">
            <a:avLst/>
          </a:prstGeom>
          <a:noFill/>
          <a:ln/>
        </p:spPr>
        <p:txBody>
          <a:bodyPr wrap="square" rtlCol="0" anchor="ctr"/>
          <a:lstStyle/>
          <a:p>
            <a:pPr algn="ctr" indent="0" marL="0">
              <a:buNone/>
            </a:pPr>
            <a:r>
              <a:rPr lang="en-US" sz="2000" b="1" dirty="0">
                <a:solidFill>
                  <a:srgbClr val="F2A93B"/>
                </a:solidFill>
              </a:rPr>
              <a:t>&gt;</a:t>
            </a:r>
            <a:endParaRPr lang="en-US" sz="2000" dirty="0"/>
          </a:p>
        </p:txBody>
      </p:sp>
      <p:sp>
        <p:nvSpPr>
          <p:cNvPr id="15" name="Shape 13"/>
          <p:cNvSpPr/>
          <p:nvPr/>
        </p:nvSpPr>
        <p:spPr>
          <a:xfrm>
            <a:off x="6492240" y="2148840"/>
            <a:ext cx="2331720" cy="1280160"/>
          </a:xfrm>
          <a:prstGeom prst="roundRect">
            <a:avLst>
              <a:gd name="adj" fmla="val 5714"/>
            </a:avLst>
          </a:prstGeom>
          <a:solidFill>
            <a:srgbClr val="1E2761"/>
          </a:solidFill>
          <a:ln w="12700">
            <a:solidFill>
              <a:srgbClr val="1E2761"/>
            </a:solidFill>
            <a:prstDash val="solid"/>
          </a:ln>
        </p:spPr>
      </p:sp>
      <p:sp>
        <p:nvSpPr>
          <p:cNvPr id="16" name="Text 14"/>
          <p:cNvSpPr/>
          <p:nvPr/>
        </p:nvSpPr>
        <p:spPr>
          <a:xfrm>
            <a:off x="6656832" y="2286000"/>
            <a:ext cx="2002536" cy="548640"/>
          </a:xfrm>
          <a:prstGeom prst="rect">
            <a:avLst/>
          </a:prstGeom>
          <a:noFill/>
          <a:ln/>
        </p:spPr>
        <p:txBody>
          <a:bodyPr wrap="square" rtlCol="0" anchor="ctr"/>
          <a:lstStyle/>
          <a:p>
            <a:pPr indent="0" marL="0">
              <a:buNone/>
            </a:pPr>
            <a:r>
              <a:rPr lang="en-US" sz="1300" b="1" dirty="0">
                <a:solidFill>
                  <a:srgbClr val="FFFFFF"/>
                </a:solidFill>
              </a:rPr>
              <a:t>3 tools: Classify, Retrieve, Generate</a:t>
            </a:r>
            <a:endParaRPr lang="en-US" sz="1300" dirty="0"/>
          </a:p>
        </p:txBody>
      </p:sp>
      <p:sp>
        <p:nvSpPr>
          <p:cNvPr id="17" name="Text 15"/>
          <p:cNvSpPr/>
          <p:nvPr/>
        </p:nvSpPr>
        <p:spPr>
          <a:xfrm>
            <a:off x="6656832" y="2834640"/>
            <a:ext cx="2002536" cy="502920"/>
          </a:xfrm>
          <a:prstGeom prst="rect">
            <a:avLst/>
          </a:prstGeom>
          <a:noFill/>
          <a:ln/>
        </p:spPr>
        <p:txBody>
          <a:bodyPr wrap="square" rtlCol="0" anchor="ctr"/>
          <a:lstStyle/>
          <a:p>
            <a:pPr indent="0" marL="0">
              <a:buNone/>
            </a:pPr>
            <a:r>
              <a:rPr lang="en-US" sz="1050" dirty="0">
                <a:solidFill>
                  <a:srgbClr val="CADCFC"/>
                </a:solidFill>
              </a:rPr>
              <a:t>Fault classifier, NHTSA search, cited ticket</a:t>
            </a:r>
            <a:endParaRPr lang="en-US" sz="1050" dirty="0"/>
          </a:p>
        </p:txBody>
      </p:sp>
      <p:sp>
        <p:nvSpPr>
          <p:cNvPr id="18" name="Text 16"/>
          <p:cNvSpPr/>
          <p:nvPr/>
        </p:nvSpPr>
        <p:spPr>
          <a:xfrm>
            <a:off x="8842248" y="2560320"/>
            <a:ext cx="228600" cy="457200"/>
          </a:xfrm>
          <a:prstGeom prst="rect">
            <a:avLst/>
          </a:prstGeom>
          <a:noFill/>
          <a:ln/>
        </p:spPr>
        <p:txBody>
          <a:bodyPr wrap="square" rtlCol="0" anchor="ctr"/>
          <a:lstStyle/>
          <a:p>
            <a:pPr algn="ctr" indent="0" marL="0">
              <a:buNone/>
            </a:pPr>
            <a:r>
              <a:rPr lang="en-US" sz="2000" b="1" dirty="0">
                <a:solidFill>
                  <a:srgbClr val="F2A93B"/>
                </a:solidFill>
              </a:rPr>
              <a:t>&gt;</a:t>
            </a:r>
            <a:endParaRPr lang="en-US" sz="2000" dirty="0"/>
          </a:p>
        </p:txBody>
      </p:sp>
      <p:sp>
        <p:nvSpPr>
          <p:cNvPr id="19" name="Shape 17"/>
          <p:cNvSpPr/>
          <p:nvPr/>
        </p:nvSpPr>
        <p:spPr>
          <a:xfrm>
            <a:off x="9189720" y="2148840"/>
            <a:ext cx="2331720" cy="1280160"/>
          </a:xfrm>
          <a:prstGeom prst="roundRect">
            <a:avLst>
              <a:gd name="adj" fmla="val 5714"/>
            </a:avLst>
          </a:prstGeom>
          <a:solidFill>
            <a:srgbClr val="FFFFFF"/>
          </a:solidFill>
          <a:ln w="12700">
            <a:solidFill>
              <a:srgbClr val="E4E8F0"/>
            </a:solidFill>
            <a:prstDash val="solid"/>
          </a:ln>
        </p:spPr>
      </p:sp>
      <p:sp>
        <p:nvSpPr>
          <p:cNvPr id="20" name="Text 18"/>
          <p:cNvSpPr/>
          <p:nvPr/>
        </p:nvSpPr>
        <p:spPr>
          <a:xfrm>
            <a:off x="9354312" y="2286000"/>
            <a:ext cx="2002536" cy="548640"/>
          </a:xfrm>
          <a:prstGeom prst="rect">
            <a:avLst/>
          </a:prstGeom>
          <a:noFill/>
          <a:ln/>
        </p:spPr>
        <p:txBody>
          <a:bodyPr wrap="square" rtlCol="0" anchor="ctr"/>
          <a:lstStyle/>
          <a:p>
            <a:pPr indent="0" marL="0">
              <a:buNone/>
            </a:pPr>
            <a:r>
              <a:rPr lang="en-US" sz="1300" b="1" dirty="0">
                <a:solidFill>
                  <a:srgbClr val="161C4A"/>
                </a:solidFill>
              </a:rPr>
              <a:t>Dashboard</a:t>
            </a:r>
            <a:endParaRPr lang="en-US" sz="1300" dirty="0"/>
          </a:p>
        </p:txBody>
      </p:sp>
      <p:sp>
        <p:nvSpPr>
          <p:cNvPr id="21" name="Text 19"/>
          <p:cNvSpPr/>
          <p:nvPr/>
        </p:nvSpPr>
        <p:spPr>
          <a:xfrm>
            <a:off x="9354312" y="2834640"/>
            <a:ext cx="2002536" cy="502920"/>
          </a:xfrm>
          <a:prstGeom prst="rect">
            <a:avLst/>
          </a:prstGeom>
          <a:noFill/>
          <a:ln/>
        </p:spPr>
        <p:txBody>
          <a:bodyPr wrap="square" rtlCol="0" anchor="ctr"/>
          <a:lstStyle/>
          <a:p>
            <a:pPr indent="0" marL="0">
              <a:buNone/>
            </a:pPr>
            <a:r>
              <a:rPr lang="en-US" sz="1050" dirty="0">
                <a:solidFill>
                  <a:srgbClr val="5B6478"/>
                </a:solidFill>
              </a:rPr>
              <a:t>Shows reasoning trace + final ticket, not just an answer</a:t>
            </a:r>
            <a:endParaRPr lang="en-US" sz="1050" dirty="0"/>
          </a:p>
        </p:txBody>
      </p:sp>
      <p:sp>
        <p:nvSpPr>
          <p:cNvPr id="22" name="Text 20"/>
          <p:cNvSpPr/>
          <p:nvPr/>
        </p:nvSpPr>
        <p:spPr>
          <a:xfrm>
            <a:off x="548640" y="3794760"/>
            <a:ext cx="10789920" cy="1188720"/>
          </a:xfrm>
          <a:prstGeom prst="rect">
            <a:avLst/>
          </a:prstGeom>
          <a:noFill/>
          <a:ln/>
        </p:spPr>
        <p:txBody>
          <a:bodyPr wrap="square" rtlCol="0" anchor="ctr"/>
          <a:lstStyle/>
          <a:p>
            <a:pPr indent="0" marL="0">
              <a:buNone/>
            </a:pPr>
            <a:r>
              <a:rPr lang="en-US" sz="1350" dirty="0">
                <a:solidFill>
                  <a:srgbClr val="5B6478"/>
                </a:solidFill>
              </a:rPr>
              <a:t>Two ways in, one agent: forecasting catches trouble early for the fleet manager, a DTC trigger handles a fault that's already known for the service center engineer. Both feed the same classify, retrieve, generate loop. What makes it “agentic”: the LLM decides at each step whether to classify, retrieve, or write, like a junior engineer working the problem, not a fixed pipeline.</a:t>
            </a:r>
            <a:endParaRPr lang="en-US" sz="1350" dirty="0"/>
          </a:p>
        </p:txBody>
      </p:sp>
      <p:sp>
        <p:nvSpPr>
          <p:cNvPr id="23" name="Text 21"/>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100" kern="0" dirty="0">
                <a:solidFill>
                  <a:srgbClr val="F2A93B"/>
                </a:solidFill>
              </a:rPr>
              <a:t>TARGET USER</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indent="0" marL="0">
              <a:buNone/>
            </a:pPr>
            <a:r>
              <a:rPr lang="en-US" sz="3000" b="1" dirty="0">
                <a:solidFill>
                  <a:srgbClr val="161C4A"/>
                </a:solidFill>
                <a:latin typeface="Cambria" pitchFamily="34" charset="0"/>
                <a:ea typeface="Cambria" pitchFamily="34" charset="-122"/>
                <a:cs typeface="Cambria" pitchFamily="34" charset="-120"/>
              </a:rPr>
              <a:t>Who this is for, and why</a:t>
            </a:r>
            <a:endParaRPr lang="en-US" sz="3000" dirty="0"/>
          </a:p>
        </p:txBody>
      </p:sp>
      <p:sp>
        <p:nvSpPr>
          <p:cNvPr id="4" name="Shape 2"/>
          <p:cNvSpPr/>
          <p:nvPr/>
        </p:nvSpPr>
        <p:spPr>
          <a:xfrm>
            <a:off x="548640" y="1737360"/>
            <a:ext cx="5212080" cy="3566160"/>
          </a:xfrm>
          <a:prstGeom prst="roundRect">
            <a:avLst>
              <a:gd name="adj" fmla="val 2051"/>
            </a:avLst>
          </a:prstGeom>
          <a:solidFill>
            <a:srgbClr val="1E2761"/>
          </a:solidFill>
          <a:ln w="12700">
            <a:solidFill>
              <a:srgbClr val="1E2761"/>
            </a:solidFill>
            <a:prstDash val="solid"/>
          </a:ln>
        </p:spPr>
      </p:sp>
      <p:sp>
        <p:nvSpPr>
          <p:cNvPr id="5" name="Text 3"/>
          <p:cNvSpPr/>
          <p:nvPr/>
        </p:nvSpPr>
        <p:spPr>
          <a:xfrm>
            <a:off x="868680" y="1965960"/>
            <a:ext cx="4572000" cy="457200"/>
          </a:xfrm>
          <a:prstGeom prst="rect">
            <a:avLst/>
          </a:prstGeom>
          <a:noFill/>
          <a:ln/>
        </p:spPr>
        <p:txBody>
          <a:bodyPr wrap="square" rtlCol="0" anchor="ctr"/>
          <a:lstStyle/>
          <a:p>
            <a:pPr indent="0" marL="0">
              <a:buNone/>
            </a:pPr>
            <a:r>
              <a:rPr lang="en-US" sz="1700" b="1" dirty="0">
                <a:solidFill>
                  <a:srgbClr val="FFFFFF"/>
                </a:solidFill>
              </a:rPr>
              <a:t>Fleet maintenance manager</a:t>
            </a:r>
            <a:endParaRPr lang="en-US" sz="1700" dirty="0"/>
          </a:p>
        </p:txBody>
      </p:sp>
      <p:sp>
        <p:nvSpPr>
          <p:cNvPr id="6" name="Text 4"/>
          <p:cNvSpPr/>
          <p:nvPr/>
        </p:nvSpPr>
        <p:spPr>
          <a:xfrm>
            <a:off x="868680" y="2395728"/>
            <a:ext cx="4572000" cy="274320"/>
          </a:xfrm>
          <a:prstGeom prst="rect">
            <a:avLst/>
          </a:prstGeom>
          <a:noFill/>
          <a:ln/>
        </p:spPr>
        <p:txBody>
          <a:bodyPr wrap="square" rtlCol="0" anchor="ctr"/>
          <a:lstStyle/>
          <a:p>
            <a:pPr indent="0" marL="0">
              <a:buNone/>
            </a:pPr>
            <a:r>
              <a:rPr lang="en-US" sz="1100" b="1" spc="100" kern="0" dirty="0">
                <a:solidFill>
                  <a:srgbClr val="F2A93B"/>
                </a:solidFill>
              </a:rPr>
              <a:t>PRIMARY</a:t>
            </a:r>
            <a:endParaRPr lang="en-US" sz="1100" dirty="0"/>
          </a:p>
        </p:txBody>
      </p:sp>
      <p:sp>
        <p:nvSpPr>
          <p:cNvPr id="7" name="Text 5"/>
          <p:cNvSpPr/>
          <p:nvPr/>
        </p:nvSpPr>
        <p:spPr>
          <a:xfrm>
            <a:off x="868680" y="2788920"/>
            <a:ext cx="4572000" cy="2286000"/>
          </a:xfrm>
          <a:prstGeom prst="rect">
            <a:avLst/>
          </a:prstGeom>
          <a:noFill/>
          <a:ln/>
        </p:spPr>
        <p:txBody>
          <a:bodyPr wrap="square" rtlCol="0" anchor="ctr"/>
          <a:lstStyle/>
          <a:p>
            <a:pPr indent="0" marL="0">
              <a:buNone/>
            </a:pPr>
            <a:r>
              <a:rPr lang="en-US" sz="1400" dirty="0">
                <a:solidFill>
                  <a:srgbClr val="CADCFC"/>
                </a:solidFill>
              </a:rPr>
              <a:t>Runs a fleet of delivery vans/trucks. Their question: “Is this vehicle safe to keep driving today, or do I pull it off the road right now?” A go/no-go triage call, not a repair job.</a:t>
            </a:r>
            <a:endParaRPr lang="en-US" sz="1400" dirty="0"/>
          </a:p>
        </p:txBody>
      </p:sp>
      <p:sp>
        <p:nvSpPr>
          <p:cNvPr id="8" name="Shape 6"/>
          <p:cNvSpPr/>
          <p:nvPr/>
        </p:nvSpPr>
        <p:spPr>
          <a:xfrm>
            <a:off x="6126480" y="1737360"/>
            <a:ext cx="5212080" cy="3566160"/>
          </a:xfrm>
          <a:prstGeom prst="roundRect">
            <a:avLst>
              <a:gd name="adj" fmla="val 2051"/>
            </a:avLst>
          </a:prstGeom>
          <a:solidFill>
            <a:srgbClr val="FFFFFF"/>
          </a:solidFill>
          <a:ln w="12700">
            <a:solidFill>
              <a:srgbClr val="E4E8F0"/>
            </a:solidFill>
            <a:prstDash val="solid"/>
          </a:ln>
        </p:spPr>
      </p:sp>
      <p:sp>
        <p:nvSpPr>
          <p:cNvPr id="9" name="Text 7"/>
          <p:cNvSpPr/>
          <p:nvPr/>
        </p:nvSpPr>
        <p:spPr>
          <a:xfrm>
            <a:off x="6446520" y="1965960"/>
            <a:ext cx="4572000" cy="457200"/>
          </a:xfrm>
          <a:prstGeom prst="rect">
            <a:avLst/>
          </a:prstGeom>
          <a:noFill/>
          <a:ln/>
        </p:spPr>
        <p:txBody>
          <a:bodyPr wrap="square" rtlCol="0" anchor="ctr"/>
          <a:lstStyle/>
          <a:p>
            <a:pPr indent="0" marL="0">
              <a:buNone/>
            </a:pPr>
            <a:r>
              <a:rPr lang="en-US" sz="1700" b="1" dirty="0">
                <a:solidFill>
                  <a:srgbClr val="161C4A"/>
                </a:solidFill>
              </a:rPr>
              <a:t>OEM / dealer diagnostic engineer</a:t>
            </a:r>
            <a:endParaRPr lang="en-US" sz="1700" dirty="0"/>
          </a:p>
        </p:txBody>
      </p:sp>
      <p:sp>
        <p:nvSpPr>
          <p:cNvPr id="10" name="Text 8"/>
          <p:cNvSpPr/>
          <p:nvPr/>
        </p:nvSpPr>
        <p:spPr>
          <a:xfrm>
            <a:off x="6446520" y="2395728"/>
            <a:ext cx="4572000" cy="274320"/>
          </a:xfrm>
          <a:prstGeom prst="rect">
            <a:avLst/>
          </a:prstGeom>
          <a:noFill/>
          <a:ln/>
        </p:spPr>
        <p:txBody>
          <a:bodyPr wrap="square" rtlCol="0" anchor="ctr"/>
          <a:lstStyle/>
          <a:p>
            <a:pPr indent="0" marL="0">
              <a:buNone/>
            </a:pPr>
            <a:r>
              <a:rPr lang="en-US" sz="1100" b="1" spc="100" kern="0" dirty="0">
                <a:solidFill>
                  <a:srgbClr val="F2A93B"/>
                </a:solidFill>
              </a:rPr>
              <a:t>SECONDARY</a:t>
            </a:r>
            <a:endParaRPr lang="en-US" sz="1100" dirty="0"/>
          </a:p>
        </p:txBody>
      </p:sp>
      <p:sp>
        <p:nvSpPr>
          <p:cNvPr id="11" name="Text 9"/>
          <p:cNvSpPr/>
          <p:nvPr/>
        </p:nvSpPr>
        <p:spPr>
          <a:xfrm>
            <a:off x="6446520" y="2788920"/>
            <a:ext cx="4572000" cy="2286000"/>
          </a:xfrm>
          <a:prstGeom prst="rect">
            <a:avLst/>
          </a:prstGeom>
          <a:noFill/>
          <a:ln/>
        </p:spPr>
        <p:txBody>
          <a:bodyPr wrap="square" rtlCol="0" anchor="ctr"/>
          <a:lstStyle/>
          <a:p>
            <a:pPr indent="0" marL="0">
              <a:buNone/>
            </a:pPr>
            <a:r>
              <a:rPr lang="en-US" sz="1400" dirty="0">
                <a:solidFill>
                  <a:srgbClr val="5B6478"/>
                </a:solidFill>
              </a:rPr>
              <a:t>Works at a shop, already has the vehicle in for service. Their question: “What's the root cause, has this been seen before, is there a recall or bulletin, what's the fix?”</a:t>
            </a:r>
            <a:endParaRPr lang="en-US" sz="1400" dirty="0"/>
          </a:p>
        </p:txBody>
      </p:sp>
      <p:sp>
        <p:nvSpPr>
          <p:cNvPr id="12" name="Text 10"/>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100" kern="0" dirty="0">
                <a:solidFill>
                  <a:srgbClr val="F2A93B"/>
                </a:solidFill>
              </a:rPr>
              <a:t>STATUS</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indent="0" marL="0">
              <a:buNone/>
            </a:pPr>
            <a:r>
              <a:rPr lang="en-US" sz="3000" b="1" dirty="0">
                <a:solidFill>
                  <a:srgbClr val="161C4A"/>
                </a:solidFill>
                <a:latin typeface="Cambria" pitchFamily="34" charset="0"/>
                <a:ea typeface="Cambria" pitchFamily="34" charset="-122"/>
                <a:cs typeface="Cambria" pitchFamily="34" charset="-120"/>
              </a:rPr>
              <a:t>Where we actually are</a:t>
            </a:r>
            <a:endParaRPr lang="en-US" sz="3000" dirty="0"/>
          </a:p>
        </p:txBody>
      </p:sp>
      <p:sp>
        <p:nvSpPr>
          <p:cNvPr id="4" name="Text 2"/>
          <p:cNvSpPr/>
          <p:nvPr/>
        </p:nvSpPr>
        <p:spPr>
          <a:xfrm>
            <a:off x="548640" y="1417320"/>
            <a:ext cx="10789920" cy="457200"/>
          </a:xfrm>
          <a:prstGeom prst="rect">
            <a:avLst/>
          </a:prstGeom>
          <a:noFill/>
          <a:ln/>
        </p:spPr>
        <p:txBody>
          <a:bodyPr wrap="square" rtlCol="0" anchor="ctr"/>
          <a:lstStyle/>
          <a:p>
            <a:pPr indent="0" marL="0">
              <a:buNone/>
            </a:pPr>
            <a:r>
              <a:rPr lang="en-US" sz="1250" i="1" dirty="0">
                <a:solidFill>
                  <a:srgbClr val="F2A93B"/>
                </a:solidFill>
              </a:rPr>
              <a:t>Officially still Week 1 on the program calendar. We did prep work ahead of kickoff, so we're already through most of what the plan allotted to Week 2.</a:t>
            </a:r>
            <a:endParaRPr lang="en-US" sz="1250" dirty="0"/>
          </a:p>
        </p:txBody>
      </p:sp>
      <p:sp>
        <p:nvSpPr>
          <p:cNvPr id="5" name="Shape 3"/>
          <p:cNvSpPr/>
          <p:nvPr/>
        </p:nvSpPr>
        <p:spPr>
          <a:xfrm>
            <a:off x="548640" y="2258568"/>
            <a:ext cx="146304" cy="146304"/>
          </a:xfrm>
          <a:prstGeom prst="ellipse">
            <a:avLst/>
          </a:prstGeom>
          <a:solidFill>
            <a:srgbClr val="3F7D5C"/>
          </a:solidFill>
          <a:ln w="12700">
            <a:solidFill>
              <a:srgbClr val="3F7D5C"/>
            </a:solidFill>
            <a:prstDash val="solid"/>
          </a:ln>
        </p:spPr>
      </p:sp>
      <p:sp>
        <p:nvSpPr>
          <p:cNvPr id="6" name="Text 4"/>
          <p:cNvSpPr/>
          <p:nvPr/>
        </p:nvSpPr>
        <p:spPr>
          <a:xfrm>
            <a:off x="868680" y="2148840"/>
            <a:ext cx="3108960" cy="457200"/>
          </a:xfrm>
          <a:prstGeom prst="rect">
            <a:avLst/>
          </a:prstGeom>
          <a:noFill/>
          <a:ln/>
        </p:spPr>
        <p:txBody>
          <a:bodyPr wrap="square" rtlCol="0" anchor="ctr"/>
          <a:lstStyle/>
          <a:p>
            <a:pPr indent="0" marL="0">
              <a:buNone/>
            </a:pPr>
            <a:r>
              <a:rPr lang="en-US" sz="1400" b="1" dirty="0">
                <a:solidFill>
                  <a:srgbClr val="161C4A"/>
                </a:solidFill>
              </a:rPr>
              <a:t>Subsystem locked</a:t>
            </a:r>
            <a:endParaRPr lang="en-US" sz="1400" dirty="0"/>
          </a:p>
        </p:txBody>
      </p:sp>
      <p:sp>
        <p:nvSpPr>
          <p:cNvPr id="7" name="Text 5"/>
          <p:cNvSpPr/>
          <p:nvPr/>
        </p:nvSpPr>
        <p:spPr>
          <a:xfrm>
            <a:off x="4114800" y="2148840"/>
            <a:ext cx="7223760" cy="457200"/>
          </a:xfrm>
          <a:prstGeom prst="rect">
            <a:avLst/>
          </a:prstGeom>
          <a:noFill/>
          <a:ln/>
        </p:spPr>
        <p:txBody>
          <a:bodyPr wrap="square" rtlCol="0" anchor="ctr"/>
          <a:lstStyle/>
          <a:p>
            <a:pPr indent="0" marL="0">
              <a:buNone/>
            </a:pPr>
            <a:r>
              <a:rPr lang="en-US" sz="1350" dirty="0">
                <a:solidFill>
                  <a:srgbClr val="5B6478"/>
                </a:solidFill>
              </a:rPr>
              <a:t>Battery / EV</a:t>
            </a:r>
            <a:endParaRPr lang="en-US" sz="1350" dirty="0"/>
          </a:p>
        </p:txBody>
      </p:sp>
      <p:sp>
        <p:nvSpPr>
          <p:cNvPr id="8" name="Shape 6"/>
          <p:cNvSpPr/>
          <p:nvPr/>
        </p:nvSpPr>
        <p:spPr>
          <a:xfrm>
            <a:off x="548640" y="2852928"/>
            <a:ext cx="146304" cy="146304"/>
          </a:xfrm>
          <a:prstGeom prst="ellipse">
            <a:avLst/>
          </a:prstGeom>
          <a:solidFill>
            <a:srgbClr val="3F7D5C"/>
          </a:solidFill>
          <a:ln w="12700">
            <a:solidFill>
              <a:srgbClr val="3F7D5C"/>
            </a:solidFill>
            <a:prstDash val="solid"/>
          </a:ln>
        </p:spPr>
      </p:sp>
      <p:sp>
        <p:nvSpPr>
          <p:cNvPr id="9" name="Text 7"/>
          <p:cNvSpPr/>
          <p:nvPr/>
        </p:nvSpPr>
        <p:spPr>
          <a:xfrm>
            <a:off x="868680" y="2743200"/>
            <a:ext cx="3108960" cy="457200"/>
          </a:xfrm>
          <a:prstGeom prst="rect">
            <a:avLst/>
          </a:prstGeom>
          <a:noFill/>
          <a:ln/>
        </p:spPr>
        <p:txBody>
          <a:bodyPr wrap="square" rtlCol="0" anchor="ctr"/>
          <a:lstStyle/>
          <a:p>
            <a:pPr indent="0" marL="0">
              <a:buNone/>
            </a:pPr>
            <a:r>
              <a:rPr lang="en-US" sz="1400" b="1" dirty="0">
                <a:solidFill>
                  <a:srgbClr val="161C4A"/>
                </a:solidFill>
              </a:rPr>
              <a:t>Classifier dataset</a:t>
            </a:r>
            <a:endParaRPr lang="en-US" sz="1400" dirty="0"/>
          </a:p>
        </p:txBody>
      </p:sp>
      <p:sp>
        <p:nvSpPr>
          <p:cNvPr id="10" name="Text 8"/>
          <p:cNvSpPr/>
          <p:nvPr/>
        </p:nvSpPr>
        <p:spPr>
          <a:xfrm>
            <a:off x="4114800" y="2743200"/>
            <a:ext cx="7223760" cy="457200"/>
          </a:xfrm>
          <a:prstGeom prst="rect">
            <a:avLst/>
          </a:prstGeom>
          <a:noFill/>
          <a:ln/>
        </p:spPr>
        <p:txBody>
          <a:bodyPr wrap="square" rtlCol="0" anchor="ctr"/>
          <a:lstStyle/>
          <a:p>
            <a:pPr indent="0" marL="0">
              <a:buNone/>
            </a:pPr>
            <a:r>
              <a:rPr lang="en-US" sz="1350" dirty="0">
                <a:solidFill>
                  <a:srgbClr val="5B6478"/>
                </a:solidFill>
              </a:rPr>
              <a:t>175,200 rows, 4 EVs x 5 years hourly. Cleaned, labeled, EDA'd</a:t>
            </a:r>
            <a:endParaRPr lang="en-US" sz="1350" dirty="0"/>
          </a:p>
        </p:txBody>
      </p:sp>
      <p:sp>
        <p:nvSpPr>
          <p:cNvPr id="11" name="Shape 9"/>
          <p:cNvSpPr/>
          <p:nvPr/>
        </p:nvSpPr>
        <p:spPr>
          <a:xfrm>
            <a:off x="548640" y="3447288"/>
            <a:ext cx="146304" cy="146304"/>
          </a:xfrm>
          <a:prstGeom prst="ellipse">
            <a:avLst/>
          </a:prstGeom>
          <a:solidFill>
            <a:srgbClr val="3F7D5C"/>
          </a:solidFill>
          <a:ln w="12700">
            <a:solidFill>
              <a:srgbClr val="3F7D5C"/>
            </a:solidFill>
            <a:prstDash val="solid"/>
          </a:ln>
        </p:spPr>
      </p:sp>
      <p:sp>
        <p:nvSpPr>
          <p:cNvPr id="12" name="Text 10"/>
          <p:cNvSpPr/>
          <p:nvPr/>
        </p:nvSpPr>
        <p:spPr>
          <a:xfrm>
            <a:off x="868680" y="3337560"/>
            <a:ext cx="3108960" cy="457200"/>
          </a:xfrm>
          <a:prstGeom prst="rect">
            <a:avLst/>
          </a:prstGeom>
          <a:noFill/>
          <a:ln/>
        </p:spPr>
        <p:txBody>
          <a:bodyPr wrap="square" rtlCol="0" anchor="ctr"/>
          <a:lstStyle/>
          <a:p>
            <a:pPr indent="0" marL="0">
              <a:buNone/>
            </a:pPr>
            <a:r>
              <a:rPr lang="en-US" sz="1400" b="1" dirty="0">
                <a:solidFill>
                  <a:srgbClr val="161C4A"/>
                </a:solidFill>
              </a:rPr>
              <a:t>NHTSA RAG corpus</a:t>
            </a:r>
            <a:endParaRPr lang="en-US" sz="1400" dirty="0"/>
          </a:p>
        </p:txBody>
      </p:sp>
      <p:sp>
        <p:nvSpPr>
          <p:cNvPr id="13" name="Text 11"/>
          <p:cNvSpPr/>
          <p:nvPr/>
        </p:nvSpPr>
        <p:spPr>
          <a:xfrm>
            <a:off x="4114800" y="3337560"/>
            <a:ext cx="7223760" cy="457200"/>
          </a:xfrm>
          <a:prstGeom prst="rect">
            <a:avLst/>
          </a:prstGeom>
          <a:noFill/>
          <a:ln/>
        </p:spPr>
        <p:txBody>
          <a:bodyPr wrap="square" rtlCol="0" anchor="ctr"/>
          <a:lstStyle/>
          <a:p>
            <a:pPr indent="0" marL="0">
              <a:buNone/>
            </a:pPr>
            <a:r>
              <a:rPr lang="en-US" sz="1350" dirty="0">
                <a:solidFill>
                  <a:srgbClr val="5B6478"/>
                </a:solidFill>
              </a:rPr>
              <a:t>202 recalls plus 3,329 complaints, filtered to battery/electrical tags</a:t>
            </a:r>
            <a:endParaRPr lang="en-US" sz="1350" dirty="0"/>
          </a:p>
        </p:txBody>
      </p:sp>
      <p:sp>
        <p:nvSpPr>
          <p:cNvPr id="14" name="Shape 12"/>
          <p:cNvSpPr/>
          <p:nvPr/>
        </p:nvSpPr>
        <p:spPr>
          <a:xfrm>
            <a:off x="548640" y="4041648"/>
            <a:ext cx="146304" cy="146304"/>
          </a:xfrm>
          <a:prstGeom prst="ellipse">
            <a:avLst/>
          </a:prstGeom>
          <a:solidFill>
            <a:srgbClr val="F2A93B"/>
          </a:solidFill>
          <a:ln w="12700">
            <a:solidFill>
              <a:srgbClr val="F2A93B"/>
            </a:solidFill>
            <a:prstDash val="solid"/>
          </a:ln>
        </p:spPr>
      </p:sp>
      <p:sp>
        <p:nvSpPr>
          <p:cNvPr id="15" name="Text 13"/>
          <p:cNvSpPr/>
          <p:nvPr/>
        </p:nvSpPr>
        <p:spPr>
          <a:xfrm>
            <a:off x="868680" y="3931920"/>
            <a:ext cx="3108960" cy="457200"/>
          </a:xfrm>
          <a:prstGeom prst="rect">
            <a:avLst/>
          </a:prstGeom>
          <a:noFill/>
          <a:ln/>
        </p:spPr>
        <p:txBody>
          <a:bodyPr wrap="square" rtlCol="0" anchor="ctr"/>
          <a:lstStyle/>
          <a:p>
            <a:pPr indent="0" marL="0">
              <a:buNone/>
            </a:pPr>
            <a:r>
              <a:rPr lang="en-US" sz="1400" b="1" dirty="0">
                <a:solidFill>
                  <a:srgbClr val="161C4A"/>
                </a:solidFill>
              </a:rPr>
              <a:t>Baseline classifier</a:t>
            </a:r>
            <a:endParaRPr lang="en-US" sz="1400" dirty="0"/>
          </a:p>
        </p:txBody>
      </p:sp>
      <p:sp>
        <p:nvSpPr>
          <p:cNvPr id="16" name="Text 14"/>
          <p:cNvSpPr/>
          <p:nvPr/>
        </p:nvSpPr>
        <p:spPr>
          <a:xfrm>
            <a:off x="4114800" y="3931920"/>
            <a:ext cx="7223760" cy="457200"/>
          </a:xfrm>
          <a:prstGeom prst="rect">
            <a:avLst/>
          </a:prstGeom>
          <a:noFill/>
          <a:ln/>
        </p:spPr>
        <p:txBody>
          <a:bodyPr wrap="square" rtlCol="0" anchor="ctr"/>
          <a:lstStyle/>
          <a:p>
            <a:pPr indent="0" marL="0">
              <a:buNone/>
            </a:pPr>
            <a:r>
              <a:rPr lang="en-US" sz="1350" dirty="0">
                <a:solidFill>
                  <a:srgbClr val="5B6478"/>
                </a:solidFill>
              </a:rPr>
              <a:t>Trained, but the result needed a rework (next slide)</a:t>
            </a:r>
            <a:endParaRPr lang="en-US" sz="1350" dirty="0"/>
          </a:p>
        </p:txBody>
      </p:sp>
      <p:sp>
        <p:nvSpPr>
          <p:cNvPr id="17" name="Shape 15"/>
          <p:cNvSpPr/>
          <p:nvPr/>
        </p:nvSpPr>
        <p:spPr>
          <a:xfrm>
            <a:off x="548640" y="4636008"/>
            <a:ext cx="146304" cy="146304"/>
          </a:xfrm>
          <a:prstGeom prst="ellipse">
            <a:avLst/>
          </a:prstGeom>
          <a:solidFill>
            <a:srgbClr val="5B6478"/>
          </a:solidFill>
          <a:ln w="12700">
            <a:solidFill>
              <a:srgbClr val="5B6478"/>
            </a:solidFill>
            <a:prstDash val="solid"/>
          </a:ln>
        </p:spPr>
      </p:sp>
      <p:sp>
        <p:nvSpPr>
          <p:cNvPr id="18" name="Text 16"/>
          <p:cNvSpPr/>
          <p:nvPr/>
        </p:nvSpPr>
        <p:spPr>
          <a:xfrm>
            <a:off x="868680" y="4526280"/>
            <a:ext cx="3108960" cy="457200"/>
          </a:xfrm>
          <a:prstGeom prst="rect">
            <a:avLst/>
          </a:prstGeom>
          <a:noFill/>
          <a:ln/>
        </p:spPr>
        <p:txBody>
          <a:bodyPr wrap="square" rtlCol="0" anchor="ctr"/>
          <a:lstStyle/>
          <a:p>
            <a:pPr indent="0" marL="0">
              <a:buNone/>
            </a:pPr>
            <a:r>
              <a:rPr lang="en-US" sz="1400" b="1" dirty="0">
                <a:solidFill>
                  <a:srgbClr val="161C4A"/>
                </a:solidFill>
              </a:rPr>
              <a:t>RAG embeddings, agent, dashboard</a:t>
            </a:r>
            <a:endParaRPr lang="en-US" sz="1400" dirty="0"/>
          </a:p>
        </p:txBody>
      </p:sp>
      <p:sp>
        <p:nvSpPr>
          <p:cNvPr id="19" name="Text 17"/>
          <p:cNvSpPr/>
          <p:nvPr/>
        </p:nvSpPr>
        <p:spPr>
          <a:xfrm>
            <a:off x="4114800" y="4526280"/>
            <a:ext cx="7223760" cy="457200"/>
          </a:xfrm>
          <a:prstGeom prst="rect">
            <a:avLst/>
          </a:prstGeom>
          <a:noFill/>
          <a:ln/>
        </p:spPr>
        <p:txBody>
          <a:bodyPr wrap="square" rtlCol="0" anchor="ctr"/>
          <a:lstStyle/>
          <a:p>
            <a:pPr indent="0" marL="0">
              <a:buNone/>
            </a:pPr>
            <a:r>
              <a:rPr lang="en-US" sz="1350" dirty="0">
                <a:solidFill>
                  <a:srgbClr val="5B6478"/>
                </a:solidFill>
              </a:rPr>
              <a:t>Not started yet. Coming up next (see roadmap)</a:t>
            </a:r>
            <a:endParaRPr lang="en-US" sz="1350" dirty="0"/>
          </a:p>
        </p:txBody>
      </p:sp>
      <p:sp>
        <p:nvSpPr>
          <p:cNvPr id="20" name="Text 18"/>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C4A"/>
        </a:solidFill>
      </p:bgPr>
    </p:bg>
    <p:spTree>
      <p:nvGrpSpPr>
        <p:cNvPr id="1" name=""/>
        <p:cNvGrpSpPr/>
        <p:nvPr/>
      </p:nvGrpSpPr>
      <p:grpSpPr>
        <a:xfrm>
          <a:off x="0" y="0"/>
          <a:ext cx="0" cy="0"/>
          <a:chOff x="0" y="0"/>
          <a:chExt cx="0" cy="0"/>
        </a:xfrm>
      </p:grpSpPr>
      <p:sp>
        <p:nvSpPr>
          <p:cNvPr id="2" name="Text 0"/>
          <p:cNvSpPr/>
          <p:nvPr/>
        </p:nvSpPr>
        <p:spPr>
          <a:xfrm>
            <a:off x="822960" y="502920"/>
            <a:ext cx="10058400" cy="365760"/>
          </a:xfrm>
          <a:prstGeom prst="rect">
            <a:avLst/>
          </a:prstGeom>
          <a:noFill/>
          <a:ln/>
        </p:spPr>
        <p:txBody>
          <a:bodyPr wrap="square" rtlCol="0" anchor="ctr"/>
          <a:lstStyle/>
          <a:p>
            <a:pPr indent="0" marL="0">
              <a:buNone/>
            </a:pPr>
            <a:r>
              <a:rPr lang="en-US" sz="1300" b="1" spc="200" kern="0" dirty="0">
                <a:solidFill>
                  <a:srgbClr val="F2A93B"/>
                </a:solidFill>
              </a:rPr>
              <a:t>THIS WEEK'S KEY FINDING</a:t>
            </a:r>
            <a:endParaRPr lang="en-US" sz="1300" dirty="0"/>
          </a:p>
        </p:txBody>
      </p:sp>
      <p:sp>
        <p:nvSpPr>
          <p:cNvPr id="3" name="Text 1"/>
          <p:cNvSpPr/>
          <p:nvPr/>
        </p:nvSpPr>
        <p:spPr>
          <a:xfrm>
            <a:off x="822960" y="868680"/>
            <a:ext cx="10515600" cy="7315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perfect score that wasn't measuring anything hard</a:t>
            </a:r>
            <a:endParaRPr lang="en-US" sz="2600" dirty="0"/>
          </a:p>
        </p:txBody>
      </p:sp>
      <p:sp>
        <p:nvSpPr>
          <p:cNvPr id="4" name="Text 2"/>
          <p:cNvSpPr/>
          <p:nvPr/>
        </p:nvSpPr>
        <p:spPr>
          <a:xfrm>
            <a:off x="822960" y="1783080"/>
            <a:ext cx="10515600" cy="1188720"/>
          </a:xfrm>
          <a:prstGeom prst="rect">
            <a:avLst/>
          </a:prstGeom>
          <a:noFill/>
          <a:ln/>
        </p:spPr>
        <p:txBody>
          <a:bodyPr wrap="square" rtlCol="0" anchor="ctr"/>
          <a:lstStyle/>
          <a:p>
            <a:pPr indent="0" marL="0">
              <a:buNone/>
            </a:pPr>
            <a:r>
              <a:rPr lang="en-US" sz="1500" dirty="0">
                <a:solidFill>
                  <a:srgbClr val="CADCFC"/>
                </a:solidFill>
              </a:rPr>
              <a:t>Our first classifier scored a suspicious 1.000 macro F1 by treating each hourly sensor reading as an independent sample. Our coach caught the real issue: 4 vehicles logged hourly over 5 years is 4 continuous time series, not 175,000 unrelated rows, and the dataset's own documentation confirms it was built for forecasting, not instant classification.</a:t>
            </a:r>
            <a:endParaRPr lang="en-US" sz="1500" dirty="0"/>
          </a:p>
        </p:txBody>
      </p:sp>
      <p:graphicFrame>
        <p:nvGraphicFramePr>
          <p:cNvPr id="5" name="Chart 0" descr=""/>
          <p:cNvGraphicFramePr/>
          <p:nvPr/>
        </p:nvGraphicFramePr>
        <p:xfrm>
          <a:off x="822960" y="3108960"/>
          <a:ext cx="4937760" cy="2834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126480" y="3108960"/>
            <a:ext cx="5212080" cy="2834640"/>
          </a:xfrm>
          <a:prstGeom prst="roundRect">
            <a:avLst>
              <a:gd name="adj" fmla="val 2581"/>
            </a:avLst>
          </a:prstGeom>
          <a:solidFill>
            <a:srgbClr val="1E2761"/>
          </a:solidFill>
          <a:ln w="12700">
            <a:solidFill>
              <a:srgbClr val="1E2761"/>
            </a:solidFill>
            <a:prstDash val="solid"/>
          </a:ln>
        </p:spPr>
      </p:sp>
      <p:sp>
        <p:nvSpPr>
          <p:cNvPr id="7" name="Text 4"/>
          <p:cNvSpPr/>
          <p:nvPr/>
        </p:nvSpPr>
        <p:spPr>
          <a:xfrm>
            <a:off x="6446520" y="3337560"/>
            <a:ext cx="4572000" cy="457200"/>
          </a:xfrm>
          <a:prstGeom prst="rect">
            <a:avLst/>
          </a:prstGeom>
          <a:noFill/>
          <a:ln/>
        </p:spPr>
        <p:txBody>
          <a:bodyPr wrap="square" rtlCol="0" anchor="ctr"/>
          <a:lstStyle/>
          <a:p>
            <a:pPr indent="0" marL="0">
              <a:buNone/>
            </a:pPr>
            <a:r>
              <a:rPr lang="en-US" sz="1500" b="1" dirty="0">
                <a:solidFill>
                  <a:srgbClr val="FFFFFF"/>
                </a:solidFill>
              </a:rPr>
              <a:t>Fixed it properly, not around it</a:t>
            </a:r>
            <a:endParaRPr lang="en-US" sz="1500" dirty="0"/>
          </a:p>
        </p:txBody>
      </p:sp>
      <p:sp>
        <p:nvSpPr>
          <p:cNvPr id="8" name="Text 5"/>
          <p:cNvSpPr/>
          <p:nvPr/>
        </p:nvSpPr>
        <p:spPr>
          <a:xfrm>
            <a:off x="6446520" y="3794760"/>
            <a:ext cx="4572000" cy="2011680"/>
          </a:xfrm>
          <a:prstGeom prst="rect">
            <a:avLst/>
          </a:prstGeom>
          <a:noFill/>
          <a:ln/>
        </p:spPr>
        <p:txBody>
          <a:bodyPr wrap="square" rtlCol="0" anchor="ctr"/>
          <a:lstStyle/>
          <a:p>
            <a:pPr marL="342900" indent="-342900">
              <a:spcAft>
                <a:spcPts val="800"/>
              </a:spcAft>
              <a:buSzPct val="100000"/>
              <a:buChar char="•"/>
            </a:pPr>
            <a:r>
              <a:rPr lang="en-US" sz="1250" dirty="0">
                <a:solidFill>
                  <a:srgbClr val="CADCFC"/>
                </a:solidFill>
              </a:rPr>
              <a:t>Rebuilt with rolling/lag features plus a forward looking target: “will a fault happen in the next 6h?”</a:t>
            </a:r>
            <a:endParaRPr lang="en-US" sz="1250" dirty="0"/>
          </a:p>
          <a:p>
            <a:pPr marL="342900" indent="-342900">
              <a:spcAft>
                <a:spcPts val="800"/>
              </a:spcAft>
              <a:buSzPct val="100000"/>
              <a:buChar char="•"/>
            </a:pPr>
            <a:r>
              <a:rPr lang="en-US" sz="1250" dirty="0">
                <a:solidFill>
                  <a:srgbClr val="CADCFC"/>
                </a:solidFill>
              </a:rPr>
              <a:t>Score dropped to a real, honest ~0.60. Expected, since forecasting ahead is genuinely harder than recognizing a fault that already fired</a:t>
            </a:r>
            <a:endParaRPr lang="en-US" sz="1250" dirty="0"/>
          </a:p>
          <a:p>
            <a:pPr marL="342900" indent="-342900">
              <a:spcAft>
                <a:spcPts val="800"/>
              </a:spcAft>
              <a:buSzPct val="100000"/>
              <a:buChar char="•"/>
            </a:pPr>
            <a:r>
              <a:rPr lang="en-US" sz="1250" dirty="0">
                <a:solidFill>
                  <a:srgbClr val="CADCFC"/>
                </a:solidFill>
              </a:rPr>
              <a:t>Same dataset, same team, no timeline lost</a:t>
            </a:r>
            <a:endParaRPr lang="en-US" sz="1250" dirty="0"/>
          </a:p>
        </p:txBody>
      </p:sp>
      <p:sp>
        <p:nvSpPr>
          <p:cNvPr id="9" name="Text 6"/>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100" kern="0" dirty="0">
                <a:solidFill>
                  <a:srgbClr val="F2A93B"/>
                </a:solidFill>
              </a:rPr>
              <a:t>PROCESS</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indent="0" marL="0">
              <a:buNone/>
            </a:pPr>
            <a:r>
              <a:rPr lang="en-US" sz="3000" b="1" dirty="0">
                <a:solidFill>
                  <a:srgbClr val="161C4A"/>
                </a:solidFill>
                <a:latin typeface="Cambria" pitchFamily="34" charset="0"/>
                <a:ea typeface="Cambria" pitchFamily="34" charset="-122"/>
                <a:cs typeface="Cambria" pitchFamily="34" charset="-120"/>
              </a:rPr>
              <a:t>How we've been working</a:t>
            </a:r>
            <a:endParaRPr lang="en-US" sz="3000" dirty="0"/>
          </a:p>
        </p:txBody>
      </p:sp>
      <p:sp>
        <p:nvSpPr>
          <p:cNvPr id="4" name="Shape 2"/>
          <p:cNvSpPr/>
          <p:nvPr/>
        </p:nvSpPr>
        <p:spPr>
          <a:xfrm>
            <a:off x="548640" y="1828800"/>
            <a:ext cx="3520440" cy="3566160"/>
          </a:xfrm>
          <a:prstGeom prst="roundRect">
            <a:avLst>
              <a:gd name="adj" fmla="val 2078"/>
            </a:avLst>
          </a:prstGeom>
          <a:solidFill>
            <a:srgbClr val="FFFFFF"/>
          </a:solidFill>
          <a:ln w="12700">
            <a:solidFill>
              <a:srgbClr val="E4E8F0"/>
            </a:solidFill>
            <a:prstDash val="solid"/>
          </a:ln>
        </p:spPr>
      </p:sp>
      <p:sp>
        <p:nvSpPr>
          <p:cNvPr id="5" name="Text 3"/>
          <p:cNvSpPr/>
          <p:nvPr/>
        </p:nvSpPr>
        <p:spPr>
          <a:xfrm>
            <a:off x="822960" y="2103120"/>
            <a:ext cx="2971800" cy="822960"/>
          </a:xfrm>
          <a:prstGeom prst="rect">
            <a:avLst/>
          </a:prstGeom>
          <a:noFill/>
          <a:ln/>
        </p:spPr>
        <p:txBody>
          <a:bodyPr wrap="square" rtlCol="0" anchor="ctr"/>
          <a:lstStyle/>
          <a:p>
            <a:pPr indent="0" marL="0">
              <a:buNone/>
            </a:pPr>
            <a:r>
              <a:rPr lang="en-US" sz="1550" b="1" dirty="0">
                <a:solidFill>
                  <a:srgbClr val="161C4A"/>
                </a:solidFill>
              </a:rPr>
              <a:t>Every dataset earns its spot</a:t>
            </a:r>
            <a:endParaRPr lang="en-US" sz="1550" dirty="0"/>
          </a:p>
        </p:txBody>
      </p:sp>
      <p:sp>
        <p:nvSpPr>
          <p:cNvPr id="6" name="Text 4"/>
          <p:cNvSpPr/>
          <p:nvPr/>
        </p:nvSpPr>
        <p:spPr>
          <a:xfrm>
            <a:off x="822960" y="2926080"/>
            <a:ext cx="2971800" cy="2286000"/>
          </a:xfrm>
          <a:prstGeom prst="rect">
            <a:avLst/>
          </a:prstGeom>
          <a:noFill/>
          <a:ln/>
        </p:spPr>
        <p:txBody>
          <a:bodyPr wrap="square" rtlCol="0" anchor="ctr"/>
          <a:lstStyle/>
          <a:p>
            <a:pPr indent="0" marL="0">
              <a:buNone/>
            </a:pPr>
            <a:r>
              <a:rPr lang="en-US" sz="1300" dirty="0">
                <a:solidFill>
                  <a:srgbClr val="5B6478"/>
                </a:solidFill>
              </a:rPr>
              <a:t>Our original dataset vanished from Kaggle mid prep. Every replacement candidate gets signal tested (AUC vs. coin flip) before we commit. One lookalike candidate failed this test and was rejected.</a:t>
            </a:r>
            <a:endParaRPr lang="en-US" sz="1300" dirty="0"/>
          </a:p>
        </p:txBody>
      </p:sp>
      <p:sp>
        <p:nvSpPr>
          <p:cNvPr id="7" name="Shape 5"/>
          <p:cNvSpPr/>
          <p:nvPr/>
        </p:nvSpPr>
        <p:spPr>
          <a:xfrm>
            <a:off x="4251960" y="1828800"/>
            <a:ext cx="3520440" cy="3566160"/>
          </a:xfrm>
          <a:prstGeom prst="roundRect">
            <a:avLst>
              <a:gd name="adj" fmla="val 2078"/>
            </a:avLst>
          </a:prstGeom>
          <a:solidFill>
            <a:srgbClr val="FFFFFF"/>
          </a:solidFill>
          <a:ln w="12700">
            <a:solidFill>
              <a:srgbClr val="E4E8F0"/>
            </a:solidFill>
            <a:prstDash val="solid"/>
          </a:ln>
        </p:spPr>
      </p:sp>
      <p:sp>
        <p:nvSpPr>
          <p:cNvPr id="8" name="Text 6"/>
          <p:cNvSpPr/>
          <p:nvPr/>
        </p:nvSpPr>
        <p:spPr>
          <a:xfrm>
            <a:off x="4526280" y="2103120"/>
            <a:ext cx="2971800" cy="822960"/>
          </a:xfrm>
          <a:prstGeom prst="rect">
            <a:avLst/>
          </a:prstGeom>
          <a:noFill/>
          <a:ln/>
        </p:spPr>
        <p:txBody>
          <a:bodyPr wrap="square" rtlCol="0" anchor="ctr"/>
          <a:lstStyle/>
          <a:p>
            <a:pPr indent="0" marL="0">
              <a:buNone/>
            </a:pPr>
            <a:r>
              <a:rPr lang="en-US" sz="1550" b="1" dirty="0">
                <a:solidFill>
                  <a:srgbClr val="161C4A"/>
                </a:solidFill>
              </a:rPr>
              <a:t>Leakage checked, not assumed</a:t>
            </a:r>
            <a:endParaRPr lang="en-US" sz="1550" dirty="0"/>
          </a:p>
        </p:txBody>
      </p:sp>
      <p:sp>
        <p:nvSpPr>
          <p:cNvPr id="9" name="Text 7"/>
          <p:cNvSpPr/>
          <p:nvPr/>
        </p:nvSpPr>
        <p:spPr>
          <a:xfrm>
            <a:off x="4526280" y="2926080"/>
            <a:ext cx="2971800" cy="2286000"/>
          </a:xfrm>
          <a:prstGeom prst="rect">
            <a:avLst/>
          </a:prstGeom>
          <a:noFill/>
          <a:ln/>
        </p:spPr>
        <p:txBody>
          <a:bodyPr wrap="square" rtlCol="0" anchor="ctr"/>
          <a:lstStyle/>
          <a:p>
            <a:pPr indent="0" marL="0">
              <a:buNone/>
            </a:pPr>
            <a:r>
              <a:rPr lang="en-US" sz="1300" dirty="0">
                <a:solidFill>
                  <a:srgbClr val="5B6478"/>
                </a:solidFill>
              </a:rPr>
              <a:t>Chronological per vehicle splits, feature derivation checks, no resampling before splitting. Each one verified, not just asserted.</a:t>
            </a:r>
            <a:endParaRPr lang="en-US" sz="1300" dirty="0"/>
          </a:p>
        </p:txBody>
      </p:sp>
      <p:sp>
        <p:nvSpPr>
          <p:cNvPr id="10" name="Shape 8"/>
          <p:cNvSpPr/>
          <p:nvPr/>
        </p:nvSpPr>
        <p:spPr>
          <a:xfrm>
            <a:off x="7955280" y="1828800"/>
            <a:ext cx="3520440" cy="3566160"/>
          </a:xfrm>
          <a:prstGeom prst="roundRect">
            <a:avLst>
              <a:gd name="adj" fmla="val 2078"/>
            </a:avLst>
          </a:prstGeom>
          <a:solidFill>
            <a:srgbClr val="FFFFFF"/>
          </a:solidFill>
          <a:ln w="12700">
            <a:solidFill>
              <a:srgbClr val="E4E8F0"/>
            </a:solidFill>
            <a:prstDash val="solid"/>
          </a:ln>
        </p:spPr>
      </p:sp>
      <p:sp>
        <p:nvSpPr>
          <p:cNvPr id="11" name="Text 9"/>
          <p:cNvSpPr/>
          <p:nvPr/>
        </p:nvSpPr>
        <p:spPr>
          <a:xfrm>
            <a:off x="8229600" y="2103120"/>
            <a:ext cx="2971800" cy="822960"/>
          </a:xfrm>
          <a:prstGeom prst="rect">
            <a:avLst/>
          </a:prstGeom>
          <a:noFill/>
          <a:ln/>
        </p:spPr>
        <p:txBody>
          <a:bodyPr wrap="square" rtlCol="0" anchor="ctr"/>
          <a:lstStyle/>
          <a:p>
            <a:pPr indent="0" marL="0">
              <a:buNone/>
            </a:pPr>
            <a:r>
              <a:rPr lang="en-US" sz="1550" b="1" dirty="0">
                <a:solidFill>
                  <a:srgbClr val="161C4A"/>
                </a:solidFill>
              </a:rPr>
              <a:t>Hypotheses get tested, not just stated</a:t>
            </a:r>
            <a:endParaRPr lang="en-US" sz="1550" dirty="0"/>
          </a:p>
        </p:txBody>
      </p:sp>
      <p:sp>
        <p:nvSpPr>
          <p:cNvPr id="12" name="Text 10"/>
          <p:cNvSpPr/>
          <p:nvPr/>
        </p:nvSpPr>
        <p:spPr>
          <a:xfrm>
            <a:off x="8229600" y="2926080"/>
            <a:ext cx="2971800" cy="2286000"/>
          </a:xfrm>
          <a:prstGeom prst="rect">
            <a:avLst/>
          </a:prstGeom>
          <a:noFill/>
          <a:ln/>
        </p:spPr>
        <p:txBody>
          <a:bodyPr wrap="square" rtlCol="0" anchor="ctr"/>
          <a:lstStyle/>
          <a:p>
            <a:pPr indent="0" marL="0">
              <a:buNone/>
            </a:pPr>
            <a:r>
              <a:rPr lang="en-US" sz="1300" dirty="0">
                <a:solidFill>
                  <a:srgbClr val="5B6478"/>
                </a:solidFill>
              </a:rPr>
              <a:t>When we suspected two features were a fake “vehicle identity” signal, we tested it directly with permutation importance, and found we were wrong. We said so.</a:t>
            </a:r>
            <a:endParaRPr lang="en-US" sz="1300" dirty="0"/>
          </a:p>
        </p:txBody>
      </p:sp>
      <p:sp>
        <p:nvSpPr>
          <p:cNvPr id="13" name="Text 11"/>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65760"/>
            <a:ext cx="8229600" cy="320040"/>
          </a:xfrm>
          <a:prstGeom prst="rect">
            <a:avLst/>
          </a:prstGeom>
          <a:noFill/>
          <a:ln/>
        </p:spPr>
        <p:txBody>
          <a:bodyPr wrap="square" rtlCol="0" anchor="ctr"/>
          <a:lstStyle/>
          <a:p>
            <a:pPr indent="0" marL="0">
              <a:buNone/>
            </a:pPr>
            <a:r>
              <a:rPr lang="en-US" sz="1200" b="1" spc="100" kern="0" dirty="0">
                <a:solidFill>
                  <a:srgbClr val="F2A93B"/>
                </a:solidFill>
              </a:rPr>
              <a:t>ROADMAP</a:t>
            </a:r>
            <a:endParaRPr lang="en-US" sz="1200" dirty="0"/>
          </a:p>
        </p:txBody>
      </p:sp>
      <p:sp>
        <p:nvSpPr>
          <p:cNvPr id="3" name="Text 1"/>
          <p:cNvSpPr/>
          <p:nvPr/>
        </p:nvSpPr>
        <p:spPr>
          <a:xfrm>
            <a:off x="548640" y="685800"/>
            <a:ext cx="10789920" cy="822960"/>
          </a:xfrm>
          <a:prstGeom prst="rect">
            <a:avLst/>
          </a:prstGeom>
          <a:noFill/>
          <a:ln/>
        </p:spPr>
        <p:txBody>
          <a:bodyPr wrap="square" rtlCol="0" anchor="ctr"/>
          <a:lstStyle/>
          <a:p>
            <a:pPr indent="0" marL="0">
              <a:buNone/>
            </a:pPr>
            <a:r>
              <a:rPr lang="en-US" sz="3000" b="1" dirty="0">
                <a:solidFill>
                  <a:srgbClr val="161C4A"/>
                </a:solidFill>
                <a:latin typeface="Cambria" pitchFamily="34" charset="0"/>
                <a:ea typeface="Cambria" pitchFamily="34" charset="-122"/>
                <a:cs typeface="Cambria" pitchFamily="34" charset="-120"/>
              </a:rPr>
              <a:t>What's next</a:t>
            </a:r>
            <a:endParaRPr lang="en-US" sz="3000" dirty="0"/>
          </a:p>
        </p:txBody>
      </p:sp>
      <p:sp>
        <p:nvSpPr>
          <p:cNvPr id="4" name="Shape 2"/>
          <p:cNvSpPr/>
          <p:nvPr/>
        </p:nvSpPr>
        <p:spPr>
          <a:xfrm>
            <a:off x="548640" y="1783080"/>
            <a:ext cx="2103120" cy="1097280"/>
          </a:xfrm>
          <a:prstGeom prst="roundRect">
            <a:avLst>
              <a:gd name="adj" fmla="val 6667"/>
            </a:avLst>
          </a:prstGeom>
          <a:solidFill>
            <a:srgbClr val="1E2761"/>
          </a:solidFill>
          <a:ln w="12700">
            <a:solidFill>
              <a:srgbClr val="1E2761"/>
            </a:solidFill>
            <a:prstDash val="solid"/>
          </a:ln>
        </p:spPr>
      </p:sp>
      <p:sp>
        <p:nvSpPr>
          <p:cNvPr id="5" name="Text 3"/>
          <p:cNvSpPr/>
          <p:nvPr/>
        </p:nvSpPr>
        <p:spPr>
          <a:xfrm>
            <a:off x="548640" y="1783080"/>
            <a:ext cx="2103120" cy="1097280"/>
          </a:xfrm>
          <a:prstGeom prst="rect">
            <a:avLst/>
          </a:prstGeom>
          <a:noFill/>
          <a:ln/>
        </p:spPr>
        <p:txBody>
          <a:bodyPr wrap="square" rtlCol="0" anchor="ctr"/>
          <a:lstStyle/>
          <a:p>
            <a:pPr algn="ctr" indent="0" marL="0">
              <a:buNone/>
            </a:pPr>
            <a:r>
              <a:rPr lang="en-US" sz="1350" b="1" dirty="0">
                <a:solidFill>
                  <a:srgbClr val="FFFFFF"/>
                </a:solidFill>
              </a:rPr>
              <a:t>Now</a:t>
            </a:r>
            <a:endParaRPr lang="en-US" sz="1350" dirty="0"/>
          </a:p>
          <a:p>
            <a:pPr algn="ctr" indent="0" marL="0">
              <a:buNone/>
            </a:pPr>
            <a:r>
              <a:rPr lang="en-US" sz="1350" b="1" dirty="0">
                <a:solidFill>
                  <a:srgbClr val="FFFFFF"/>
                </a:solidFill>
              </a:rPr>
              <a:t>(ahead of</a:t>
            </a:r>
            <a:endParaRPr lang="en-US" sz="1350" dirty="0"/>
          </a:p>
          <a:p>
            <a:pPr algn="ctr" indent="0" marL="0">
              <a:buNone/>
            </a:pPr>
            <a:r>
              <a:rPr lang="en-US" sz="1350" b="1" dirty="0">
                <a:solidFill>
                  <a:srgbClr val="FFFFFF"/>
                </a:solidFill>
              </a:rPr>
              <a:t>schedule)</a:t>
            </a:r>
            <a:endParaRPr lang="en-US" sz="1350" dirty="0"/>
          </a:p>
        </p:txBody>
      </p:sp>
      <p:sp>
        <p:nvSpPr>
          <p:cNvPr id="6" name="Text 4"/>
          <p:cNvSpPr/>
          <p:nvPr/>
        </p:nvSpPr>
        <p:spPr>
          <a:xfrm>
            <a:off x="2834640" y="1828800"/>
            <a:ext cx="8503920" cy="1005840"/>
          </a:xfrm>
          <a:prstGeom prst="rect">
            <a:avLst/>
          </a:prstGeom>
          <a:noFill/>
          <a:ln/>
        </p:spPr>
        <p:txBody>
          <a:bodyPr wrap="square" rtlCol="0" anchor="ctr"/>
          <a:lstStyle/>
          <a:p>
            <a:pPr indent="0" marL="0">
              <a:buNone/>
            </a:pPr>
            <a:r>
              <a:rPr lang="en-US" sz="1250" dirty="0">
                <a:solidFill>
                  <a:srgbClr val="5B6478"/>
                </a:solidFill>
              </a:rPr>
              <a:t>Finish forecasting classifier follow ups (12h window, small neural net). Embed NHTSA corpus, build RAG retrieval, test retrieval quality. Officially Week 1 work on the calendar, already through most of what the plan allotted to Week 2</a:t>
            </a:r>
            <a:endParaRPr lang="en-US" sz="1250" dirty="0"/>
          </a:p>
        </p:txBody>
      </p:sp>
      <p:sp>
        <p:nvSpPr>
          <p:cNvPr id="7" name="Shape 5"/>
          <p:cNvSpPr/>
          <p:nvPr/>
        </p:nvSpPr>
        <p:spPr>
          <a:xfrm>
            <a:off x="548640" y="3154680"/>
            <a:ext cx="2103120" cy="1097280"/>
          </a:xfrm>
          <a:prstGeom prst="roundRect">
            <a:avLst>
              <a:gd name="adj" fmla="val 6667"/>
            </a:avLst>
          </a:prstGeom>
          <a:solidFill>
            <a:srgbClr val="1E2761"/>
          </a:solidFill>
          <a:ln w="12700">
            <a:solidFill>
              <a:srgbClr val="1E2761"/>
            </a:solidFill>
            <a:prstDash val="solid"/>
          </a:ln>
        </p:spPr>
      </p:sp>
      <p:sp>
        <p:nvSpPr>
          <p:cNvPr id="8" name="Text 6"/>
          <p:cNvSpPr/>
          <p:nvPr/>
        </p:nvSpPr>
        <p:spPr>
          <a:xfrm>
            <a:off x="548640" y="3154680"/>
            <a:ext cx="2103120" cy="1097280"/>
          </a:xfrm>
          <a:prstGeom prst="rect">
            <a:avLst/>
          </a:prstGeom>
          <a:noFill/>
          <a:ln/>
        </p:spPr>
        <p:txBody>
          <a:bodyPr wrap="square" rtlCol="0" anchor="ctr"/>
          <a:lstStyle/>
          <a:p>
            <a:pPr algn="ctr" indent="0" marL="0">
              <a:buNone/>
            </a:pPr>
            <a:r>
              <a:rPr lang="en-US" sz="1350" b="1" dirty="0">
                <a:solidFill>
                  <a:srgbClr val="FFFFFF"/>
                </a:solidFill>
              </a:rPr>
              <a:t>Week 2 / 3</a:t>
            </a:r>
            <a:endParaRPr lang="en-US" sz="1350" dirty="0"/>
          </a:p>
          <a:p>
            <a:pPr algn="ctr" indent="0" marL="0">
              <a:buNone/>
            </a:pPr>
            <a:r>
              <a:rPr lang="en-US" sz="1350" b="1" dirty="0">
                <a:solidFill>
                  <a:srgbClr val="FFFFFF"/>
                </a:solidFill>
              </a:rPr>
              <a:t>(program</a:t>
            </a:r>
            <a:endParaRPr lang="en-US" sz="1350" dirty="0"/>
          </a:p>
          <a:p>
            <a:pPr algn="ctr" indent="0" marL="0">
              <a:buNone/>
            </a:pPr>
            <a:r>
              <a:rPr lang="en-US" sz="1350" b="1" dirty="0">
                <a:solidFill>
                  <a:srgbClr val="FFFFFF"/>
                </a:solidFill>
              </a:rPr>
              <a:t>calendar)</a:t>
            </a:r>
            <a:endParaRPr lang="en-US" sz="1350" dirty="0"/>
          </a:p>
        </p:txBody>
      </p:sp>
      <p:sp>
        <p:nvSpPr>
          <p:cNvPr id="9" name="Text 7"/>
          <p:cNvSpPr/>
          <p:nvPr/>
        </p:nvSpPr>
        <p:spPr>
          <a:xfrm>
            <a:off x="2834640" y="3200400"/>
            <a:ext cx="8503920" cy="1005840"/>
          </a:xfrm>
          <a:prstGeom prst="rect">
            <a:avLst/>
          </a:prstGeom>
          <a:noFill/>
          <a:ln/>
        </p:spPr>
        <p:txBody>
          <a:bodyPr wrap="square" rtlCol="0" anchor="ctr"/>
          <a:lstStyle/>
          <a:p>
            <a:pPr indent="0" marL="0">
              <a:buNone/>
            </a:pPr>
            <a:r>
              <a:rPr lang="en-US" sz="1250" dirty="0">
                <a:solidFill>
                  <a:srgbClr val="5B6478"/>
                </a:solidFill>
              </a:rPr>
              <a:t>Build the tool calling agent loop (classify, retrieve, generate). Add guardrails against invented remedies. Log every agent run</a:t>
            </a:r>
            <a:endParaRPr lang="en-US" sz="1250" dirty="0"/>
          </a:p>
        </p:txBody>
      </p:sp>
      <p:sp>
        <p:nvSpPr>
          <p:cNvPr id="10" name="Shape 8"/>
          <p:cNvSpPr/>
          <p:nvPr/>
        </p:nvSpPr>
        <p:spPr>
          <a:xfrm>
            <a:off x="548640" y="4526280"/>
            <a:ext cx="2103120" cy="1097280"/>
          </a:xfrm>
          <a:prstGeom prst="roundRect">
            <a:avLst>
              <a:gd name="adj" fmla="val 6667"/>
            </a:avLst>
          </a:prstGeom>
          <a:solidFill>
            <a:srgbClr val="1E2761"/>
          </a:solidFill>
          <a:ln w="12700">
            <a:solidFill>
              <a:srgbClr val="1E2761"/>
            </a:solidFill>
            <a:prstDash val="solid"/>
          </a:ln>
        </p:spPr>
      </p:sp>
      <p:sp>
        <p:nvSpPr>
          <p:cNvPr id="11" name="Text 9"/>
          <p:cNvSpPr/>
          <p:nvPr/>
        </p:nvSpPr>
        <p:spPr>
          <a:xfrm>
            <a:off x="548640" y="4526280"/>
            <a:ext cx="2103120" cy="1097280"/>
          </a:xfrm>
          <a:prstGeom prst="rect">
            <a:avLst/>
          </a:prstGeom>
          <a:noFill/>
          <a:ln/>
        </p:spPr>
        <p:txBody>
          <a:bodyPr wrap="square" rtlCol="0" anchor="ctr"/>
          <a:lstStyle/>
          <a:p>
            <a:pPr algn="ctr" indent="0" marL="0">
              <a:buNone/>
            </a:pPr>
            <a:r>
              <a:rPr lang="en-US" sz="1350" b="1" dirty="0">
                <a:solidFill>
                  <a:srgbClr val="FFFFFF"/>
                </a:solidFill>
              </a:rPr>
              <a:t>Week 4</a:t>
            </a:r>
            <a:endParaRPr lang="en-US" sz="1350" dirty="0"/>
          </a:p>
          <a:p>
            <a:pPr algn="ctr" indent="0" marL="0">
              <a:buNone/>
            </a:pPr>
            <a:r>
              <a:rPr lang="en-US" sz="1350" b="1" dirty="0">
                <a:solidFill>
                  <a:srgbClr val="FFFFFF"/>
                </a:solidFill>
              </a:rPr>
              <a:t>(program</a:t>
            </a:r>
            <a:endParaRPr lang="en-US" sz="1350" dirty="0"/>
          </a:p>
          <a:p>
            <a:pPr algn="ctr" indent="0" marL="0">
              <a:buNone/>
            </a:pPr>
            <a:r>
              <a:rPr lang="en-US" sz="1350" b="1" dirty="0">
                <a:solidFill>
                  <a:srgbClr val="FFFFFF"/>
                </a:solidFill>
              </a:rPr>
              <a:t>calendar)</a:t>
            </a:r>
            <a:endParaRPr lang="en-US" sz="1350" dirty="0"/>
          </a:p>
        </p:txBody>
      </p:sp>
      <p:sp>
        <p:nvSpPr>
          <p:cNvPr id="12" name="Text 10"/>
          <p:cNvSpPr/>
          <p:nvPr/>
        </p:nvSpPr>
        <p:spPr>
          <a:xfrm>
            <a:off x="2834640" y="4572000"/>
            <a:ext cx="8503920" cy="1005840"/>
          </a:xfrm>
          <a:prstGeom prst="rect">
            <a:avLst/>
          </a:prstGeom>
          <a:noFill/>
          <a:ln/>
        </p:spPr>
        <p:txBody>
          <a:bodyPr wrap="square" rtlCol="0" anchor="ctr"/>
          <a:lstStyle/>
          <a:p>
            <a:pPr indent="0" marL="0">
              <a:buNone/>
            </a:pPr>
            <a:r>
              <a:rPr lang="en-US" sz="1250" dirty="0">
                <a:solidFill>
                  <a:srgbClr val="5B6478"/>
                </a:solidFill>
              </a:rPr>
              <a:t>Streamlit dashboard (fault, reasoning trace, ticket). Deploy. Run real evaluation with documented test cases. Final presentation</a:t>
            </a:r>
            <a:endParaRPr lang="en-US" sz="1250" dirty="0"/>
          </a:p>
        </p:txBody>
      </p:sp>
      <p:sp>
        <p:nvSpPr>
          <p:cNvPr id="13" name="Text 11"/>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640080"/>
            <a:ext cx="10058400" cy="365760"/>
          </a:xfrm>
          <a:prstGeom prst="rect">
            <a:avLst/>
          </a:prstGeom>
          <a:noFill/>
          <a:ln/>
        </p:spPr>
        <p:txBody>
          <a:bodyPr wrap="square" rtlCol="0" anchor="ctr"/>
          <a:lstStyle/>
          <a:p>
            <a:pPr indent="0" marL="0">
              <a:buNone/>
            </a:pPr>
            <a:r>
              <a:rPr lang="en-US" sz="1300" b="1" spc="200" kern="0" dirty="0">
                <a:solidFill>
                  <a:srgbClr val="F2A93B"/>
                </a:solidFill>
              </a:rPr>
              <a:t>TEAM &amp; RESOURCES</a:t>
            </a:r>
            <a:endParaRPr lang="en-US" sz="1300" dirty="0"/>
          </a:p>
        </p:txBody>
      </p:sp>
      <p:sp>
        <p:nvSpPr>
          <p:cNvPr id="3" name="Text 1"/>
          <p:cNvSpPr/>
          <p:nvPr/>
        </p:nvSpPr>
        <p:spPr>
          <a:xfrm>
            <a:off x="822960" y="1051560"/>
            <a:ext cx="10515600" cy="7315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Thanks, Eckardt. Happy to take questions</a:t>
            </a:r>
            <a:endParaRPr lang="en-US" sz="2600" dirty="0"/>
          </a:p>
        </p:txBody>
      </p:sp>
      <p:sp>
        <p:nvSpPr>
          <p:cNvPr id="4" name="Shape 2"/>
          <p:cNvSpPr/>
          <p:nvPr/>
        </p:nvSpPr>
        <p:spPr>
          <a:xfrm>
            <a:off x="822960" y="2194560"/>
            <a:ext cx="164592" cy="164592"/>
          </a:xfrm>
          <a:prstGeom prst="roundRect">
            <a:avLst>
              <a:gd name="adj" fmla="val 16667"/>
            </a:avLst>
          </a:prstGeom>
          <a:solidFill>
            <a:srgbClr val="F2A93B"/>
          </a:solidFill>
          <a:ln w="12700">
            <a:solidFill>
              <a:srgbClr val="F2A93B"/>
            </a:solidFill>
            <a:prstDash val="solid"/>
          </a:ln>
        </p:spPr>
      </p:sp>
      <p:sp>
        <p:nvSpPr>
          <p:cNvPr id="5" name="Text 3"/>
          <p:cNvSpPr/>
          <p:nvPr/>
        </p:nvSpPr>
        <p:spPr>
          <a:xfrm>
            <a:off x="1234440" y="2075688"/>
            <a:ext cx="9875520" cy="457200"/>
          </a:xfrm>
          <a:prstGeom prst="rect">
            <a:avLst/>
          </a:prstGeom>
          <a:noFill/>
          <a:ln/>
        </p:spPr>
        <p:txBody>
          <a:bodyPr wrap="square" rtlCol="0" anchor="ctr"/>
          <a:lstStyle/>
          <a:p>
            <a:pPr indent="0" marL="0">
              <a:buNone/>
            </a:pPr>
            <a:r>
              <a:rPr lang="en-US" sz="1500" dirty="0">
                <a:solidFill>
                  <a:srgbClr val="CADCFC"/>
                </a:solidFill>
              </a:rPr>
              <a:t>Team: NodePair, Harsha (classifier/data), Ghada (RAG/agent), Hüseyin (frontend/deployment)</a:t>
            </a:r>
            <a:endParaRPr lang="en-US" sz="1500" dirty="0"/>
          </a:p>
        </p:txBody>
      </p:sp>
      <p:sp>
        <p:nvSpPr>
          <p:cNvPr id="6" name="Shape 4"/>
          <p:cNvSpPr/>
          <p:nvPr/>
        </p:nvSpPr>
        <p:spPr>
          <a:xfrm>
            <a:off x="822960" y="2834640"/>
            <a:ext cx="164592" cy="164592"/>
          </a:xfrm>
          <a:prstGeom prst="roundRect">
            <a:avLst>
              <a:gd name="adj" fmla="val 16667"/>
            </a:avLst>
          </a:prstGeom>
          <a:solidFill>
            <a:srgbClr val="F2A93B"/>
          </a:solidFill>
          <a:ln w="12700">
            <a:solidFill>
              <a:srgbClr val="F2A93B"/>
            </a:solidFill>
            <a:prstDash val="solid"/>
          </a:ln>
        </p:spPr>
      </p:sp>
      <p:sp>
        <p:nvSpPr>
          <p:cNvPr id="7" name="Text 5"/>
          <p:cNvSpPr/>
          <p:nvPr/>
        </p:nvSpPr>
        <p:spPr>
          <a:xfrm>
            <a:off x="1234440" y="2715768"/>
            <a:ext cx="9875520" cy="457200"/>
          </a:xfrm>
          <a:prstGeom prst="rect">
            <a:avLst/>
          </a:prstGeom>
          <a:noFill/>
          <a:ln/>
        </p:spPr>
        <p:txBody>
          <a:bodyPr wrap="square" rtlCol="0" anchor="ctr"/>
          <a:lstStyle/>
          <a:p>
            <a:pPr indent="0" marL="0">
              <a:buNone/>
            </a:pPr>
            <a:r>
              <a:rPr lang="en-US" sz="1500" dirty="0">
                <a:solidFill>
                  <a:srgbClr val="CADCFC"/>
                </a:solidFill>
              </a:rPr>
              <a:t>Repo: github.com/harshavardhanratnala-hvr/agentic-ai-vehicle-fault-diagnosis-and-repair-copilot</a:t>
            </a:r>
            <a:endParaRPr lang="en-US" sz="1500" dirty="0"/>
          </a:p>
        </p:txBody>
      </p:sp>
      <p:sp>
        <p:nvSpPr>
          <p:cNvPr id="8" name="Shape 6"/>
          <p:cNvSpPr/>
          <p:nvPr/>
        </p:nvSpPr>
        <p:spPr>
          <a:xfrm>
            <a:off x="822960" y="3474720"/>
            <a:ext cx="164592" cy="164592"/>
          </a:xfrm>
          <a:prstGeom prst="roundRect">
            <a:avLst>
              <a:gd name="adj" fmla="val 16667"/>
            </a:avLst>
          </a:prstGeom>
          <a:solidFill>
            <a:srgbClr val="F2A93B"/>
          </a:solidFill>
          <a:ln w="12700">
            <a:solidFill>
              <a:srgbClr val="F2A93B"/>
            </a:solidFill>
            <a:prstDash val="solid"/>
          </a:ln>
        </p:spPr>
      </p:sp>
      <p:sp>
        <p:nvSpPr>
          <p:cNvPr id="9" name="Text 7"/>
          <p:cNvSpPr/>
          <p:nvPr/>
        </p:nvSpPr>
        <p:spPr>
          <a:xfrm>
            <a:off x="1234440" y="3355848"/>
            <a:ext cx="9875520" cy="457200"/>
          </a:xfrm>
          <a:prstGeom prst="rect">
            <a:avLst/>
          </a:prstGeom>
          <a:noFill/>
          <a:ln/>
        </p:spPr>
        <p:txBody>
          <a:bodyPr wrap="square" rtlCol="0" anchor="ctr"/>
          <a:lstStyle/>
          <a:p>
            <a:pPr indent="0" marL="0">
              <a:buNone/>
            </a:pPr>
            <a:r>
              <a:rPr lang="en-US" sz="1500" dirty="0">
                <a:solidFill>
                  <a:srgbClr val="CADCFC"/>
                </a:solidFill>
              </a:rPr>
              <a:t>Board: GitHub Projects, 4 milestones (one per week), ~28 issues</a:t>
            </a:r>
            <a:endParaRPr lang="en-US" sz="1500" dirty="0"/>
          </a:p>
        </p:txBody>
      </p:sp>
      <p:sp>
        <p:nvSpPr>
          <p:cNvPr id="10" name="Shape 8"/>
          <p:cNvSpPr/>
          <p:nvPr/>
        </p:nvSpPr>
        <p:spPr>
          <a:xfrm>
            <a:off x="822960" y="4114800"/>
            <a:ext cx="164592" cy="164592"/>
          </a:xfrm>
          <a:prstGeom prst="roundRect">
            <a:avLst>
              <a:gd name="adj" fmla="val 16667"/>
            </a:avLst>
          </a:prstGeom>
          <a:solidFill>
            <a:srgbClr val="F2A93B"/>
          </a:solidFill>
          <a:ln w="12700">
            <a:solidFill>
              <a:srgbClr val="F2A93B"/>
            </a:solidFill>
            <a:prstDash val="solid"/>
          </a:ln>
        </p:spPr>
      </p:sp>
      <p:sp>
        <p:nvSpPr>
          <p:cNvPr id="11" name="Text 9"/>
          <p:cNvSpPr/>
          <p:nvPr/>
        </p:nvSpPr>
        <p:spPr>
          <a:xfrm>
            <a:off x="1234440" y="3995928"/>
            <a:ext cx="9875520" cy="457200"/>
          </a:xfrm>
          <a:prstGeom prst="rect">
            <a:avLst/>
          </a:prstGeom>
          <a:noFill/>
          <a:ln/>
        </p:spPr>
        <p:txBody>
          <a:bodyPr wrap="square" rtlCol="0" anchor="ctr"/>
          <a:lstStyle/>
          <a:p>
            <a:pPr indent="0" marL="0">
              <a:buNone/>
            </a:pPr>
            <a:r>
              <a:rPr lang="en-US" sz="1500" dirty="0">
                <a:solidFill>
                  <a:srgbClr val="CADCFC"/>
                </a:solidFill>
              </a:rPr>
              <a:t>Docs: Capstone_Project_Plan.md (source of truth), Pitch_and_Explainer.md (full FAQ)</a:t>
            </a:r>
            <a:endParaRPr lang="en-US" sz="1500" dirty="0"/>
          </a:p>
        </p:txBody>
      </p:sp>
      <p:sp>
        <p:nvSpPr>
          <p:cNvPr id="12" name="Text 10"/>
          <p:cNvSpPr/>
          <p:nvPr/>
        </p:nvSpPr>
        <p:spPr>
          <a:xfrm>
            <a:off x="11475720" y="6446520"/>
            <a:ext cx="457200" cy="274320"/>
          </a:xfrm>
          <a:prstGeom prst="rect">
            <a:avLst/>
          </a:prstGeom>
          <a:noFill/>
          <a:ln/>
        </p:spPr>
        <p:txBody>
          <a:bodyPr wrap="square" rtlCol="0" anchor="ctr"/>
          <a:lstStyle/>
          <a:p>
            <a:pPr algn="r" indent="0" marL="0">
              <a:buNone/>
            </a:pPr>
            <a:r>
              <a:rPr lang="en-US" sz="1000" dirty="0">
                <a:solidFill>
                  <a:srgbClr val="5B6478"/>
                </a:solidFill>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Harsha, Ghada &amp; Hüseyin</dc:creator>
  <cp:lastModifiedBy>Harsha, Ghada &amp; Hüseyin</cp:lastModifiedBy>
  <cp:revision>1</cp:revision>
  <dcterms:created xsi:type="dcterms:W3CDTF">2026-07-28T13:35:39Z</dcterms:created>
  <dcterms:modified xsi:type="dcterms:W3CDTF">2026-07-28T13:35:39Z</dcterms:modified>
</cp:coreProperties>
</file>