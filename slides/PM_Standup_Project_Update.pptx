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3640" autoAdjust="0"/>
  </p:normalViewPr>
  <p:slideViewPr>
    <p:cSldViewPr snapToGrid="0" snapToObjects="1">
      <p:cViewPr varScale="1">
        <p:scale>
          <a:sx n="37" d="100"/>
          <a:sy n="37" d="100"/>
        </p:scale>
        <p:origin x="199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FFFFF"/>
                </a:solidFill>
                <a:latin typeface="Arial"/>
              </a:defRPr>
            </a:pPr>
            <a:r>
              <a:rPr lang="en-IN" sz="1300" b="0" i="0" u="none" strike="noStrike">
                <a:solidFill>
                  <a:srgbClr val="FFFFFF"/>
                </a:solidFill>
                <a:latin typeface="Arial"/>
              </a:rPr>
              <a:t>Macro F1, Random Forest</a:t>
            </a:r>
          </a:p>
        </c:rich>
      </c:tx>
      <c:overlay val="0"/>
    </c:title>
    <c:autoTitleDeleted val="0"/>
    <c:plotArea>
      <c:layout/>
      <c:barChart>
        <c:barDir val="col"/>
        <c:grouping val="clustered"/>
        <c:varyColors val="0"/>
        <c:ser>
          <c:idx val="0"/>
          <c:order val="0"/>
          <c:tx>
            <c:strRef>
              <c:f>Sheet1!$B$1</c:f>
              <c:strCache>
                <c:ptCount val="1"/>
                <c:pt idx="0">
                  <c:v>Macro F1</c:v>
                </c:pt>
              </c:strCache>
            </c:strRef>
          </c:tx>
          <c:spPr>
            <a:solidFill>
              <a:srgbClr val="CADCFC"/>
            </a:solidFill>
            <a:effectLst/>
          </c:spPr>
          <c:invertIfNegative val="0"/>
          <c:dPt>
            <c:idx val="0"/>
            <c:invertIfNegative val="0"/>
            <c:bubble3D val="0"/>
            <c:extLst>
              <c:ext xmlns:c16="http://schemas.microsoft.com/office/drawing/2014/chart" uri="{C3380CC4-5D6E-409C-BE32-E72D297353CC}">
                <c16:uniqueId val="{00000001-3FD9-4975-A787-B16FF252A6B0}"/>
              </c:ext>
            </c:extLst>
          </c:dPt>
          <c:dPt>
            <c:idx val="1"/>
            <c:invertIfNegative val="0"/>
            <c:bubble3D val="0"/>
            <c:spPr>
              <a:solidFill>
                <a:srgbClr val="F2A93B"/>
              </a:solidFill>
              <a:effectLst/>
            </c:spPr>
            <c:extLst>
              <c:ext xmlns:c16="http://schemas.microsoft.com/office/drawing/2014/chart" uri="{C3380CC4-5D6E-409C-BE32-E72D297353CC}">
                <c16:uniqueId val="{00000003-3FD9-4975-A787-B16FF252A6B0}"/>
              </c:ext>
            </c:extLst>
          </c:dPt>
          <c:dLbls>
            <c:numFmt formatCode="0.00" sourceLinked="0"/>
            <c:spPr>
              <a:noFill/>
              <a:ln>
                <a:noFill/>
              </a:ln>
              <a:effectLst/>
            </c:spPr>
            <c:txPr>
              <a:bodyPr/>
              <a:lstStyle/>
              <a:p>
                <a:pPr>
                  <a:defRPr sz="1200" b="0"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Instant
classification</c:v>
                </c:pt>
                <c:pt idx="1">
                  <c:v>Forecast
(6h ahead)</c:v>
                </c:pt>
              </c:strCache>
            </c:strRef>
          </c:cat>
          <c:val>
            <c:numRef>
              <c:f>Sheet1!$B$2:$B$3</c:f>
              <c:numCache>
                <c:formatCode>General</c:formatCode>
                <c:ptCount val="2"/>
                <c:pt idx="0">
                  <c:v>1</c:v>
                </c:pt>
                <c:pt idx="1">
                  <c:v>0.59899999999999998</c:v>
                </c:pt>
              </c:numCache>
            </c:numRef>
          </c:val>
          <c:extLst>
            <c:ext xmlns:c16="http://schemas.microsoft.com/office/drawing/2014/chart" uri="{C3380CC4-5D6E-409C-BE32-E72D297353CC}">
              <c16:uniqueId val="{00000004-3FD9-4975-A787-B16FF252A6B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ADCFC"/>
                </a:solidFill>
                <a:latin typeface="Arial"/>
              </a:defRPr>
            </a:pPr>
            <a:endParaRPr lang="en-US"/>
          </a:p>
        </c:txPr>
        <c:crossAx val="2094734552"/>
        <c:crosses val="autoZero"/>
        <c:auto val="1"/>
        <c:lblAlgn val="ctr"/>
        <c:lblOffset val="100"/>
        <c:noMultiLvlLbl val="1"/>
      </c:catAx>
      <c:valAx>
        <c:axId val="2094734552"/>
        <c:scaling>
          <c:orientation val="minMax"/>
          <c:max val="1.1499999999999999"/>
          <c:min val="0"/>
        </c:scaling>
        <c:delete val="0"/>
        <c:axPos val="l"/>
        <c:majorGridlines>
          <c:spPr>
            <a:ln w="12700" cap="flat">
              <a:solidFill>
                <a:srgbClr val="2A34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4"/>
        <c:crosses val="autoZero"/>
        <c:crossBetween val="between"/>
      </c:valAx>
      <c:spPr>
        <a:solidFill>
          <a:srgbClr val="161C4A"/>
        </a:solidFill>
        <a:ln>
          <a:noFill/>
        </a:ln>
        <a:effectLst/>
      </c:spPr>
    </c:plotArea>
    <c:plotVisOnly val="1"/>
    <c:dispBlanksAs val="span"/>
    <c:showDLblsOverMax val="1"/>
  </c:chart>
  <c:spPr>
    <a:solidFill>
      <a:srgbClr val="161C4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490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everyone, this is Vehicle Fault Diagnosis and Repair Copilot, our capstone project. We're team NodePair, and I'm acting as PM for this week. I'll walk through what we're building, where we actually stand, a methodology issue we caught and fixed, and what's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rundown of what we'll cover today. First, get everyone on the same page about what we're actually building. Second, give an honest status check, what's done, what's in progress, and what hasn't started yet. Third, walk through something we caught this week and fixed, not just show the polished result. Last, confirm the plan for what's left and get your sign off to keep going.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Cars throw off signals when something's wrong, a fault code, a strange sensor reading. Right now, making sense of that needs a person to manually check bulletins and recall records, that's slow. Separately, a lot of the warning signs actually show up in the sensor data well before any code fires, but nobody's watching closely enough to catch it early. So there are really two problems here, and both are slow and manual today. What we're building handles both sides: it watches telemetry to catch trouble early, and once a fault is known, it classifies it, pulls up real NHTSA records, and writes a repair recommendation.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ways a vehicle gets into this system. One is continuous telemetry, on the fleet manager side, that's how we forecast trouble before it happens. The other is a sensor or DTC trigger, on the service center side, meaning a fault has already fired. Either way, it goes to the same agent. That agent decides for itself which of three tools to use: classify the fault, retrieve relevant NHTSA records, or generate the final ticket. The dashboard shows both that reasoning trace and the final ticket, not just a one line answer. That decision making is what makes it agentic instead of a fixed pipeline.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people use this, at two different moments. The fleet manager watches telemetry across their whole fleet, and their question is simple: are these readings trending toward a fault, should I bring it in now, or is it fine? That's a proactive scheduling call, not a repair. The dealer engineer comes in later, once the vehicle is already at the shop and a fault has already fired. Their question is different: what's the root cause, has this happened before, what's the fix? That's reactive, root cause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where we actually stand, one list, so nothing's hidden. Subsystem is locked to Battery and EV. The classifier dataset is done, cleaned, labeled, and explored. The NHTSA corpus is done too, recalls and complaints filtered down. The baseline classifier is marked reworked, that's the methodology catch we'll get into next. Everything else, RAG retrieval, the agent loop, the dashboard, deployment, hasn't started yet, that's what's ahead of us. Quick reminder, we're still officially in week one on the program calendar, we just did some of this ahead of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classifier came back with a perfect 1.000 score, and that's exactly the kind of number that should make you suspicious instead of happy. What we caught: we had four vehicles logged hour by hour, and we were treating every single hour as its own separate case, when really it's four ongoing time series. Even the dataset's own documentation said it was meant for forecasting, not this kind of one by one classification. So we rebuilt it properly, added features that look at the recent trend, and changed the target to predicting a fault ahead of time instead of recognizing one that already happened. The score dropped to a real 0.60, and that drop is a good thing, it means the number is finally honest. Same dataset, same team, we didn't lose any time doing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about how we've been working. First, every dataset has to earn its place, our original one disappeared from Kaggle mid way, so every replacement got tested for real signal before we trusted it, and one candidate actually failed that test and got dropped. Second, we check for leakage instead of assuming there isn't any, that means splitting by time and by vehicle, and checking that no feature was secretly related to the label. Third, when we have a hunch about our own results, we test it instead of just stating it, we had a case where we thought a feature might be a fake signal, tested it directly, found out we were wrong, and said 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it from us, team split, repo, board, and docs are all up there if you want to dig deeper.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1920240"/>
            <a:ext cx="10515600" cy="457200"/>
          </a:xfrm>
          <a:prstGeom prst="rect">
            <a:avLst/>
          </a:prstGeom>
          <a:noFill/>
          <a:ln/>
        </p:spPr>
        <p:txBody>
          <a:bodyPr wrap="square" rtlCol="0" anchor="ctr"/>
          <a:lstStyle/>
          <a:p>
            <a:pPr marL="0" indent="0">
              <a:buNone/>
            </a:pPr>
            <a:r>
              <a:rPr lang="en-US" sz="1500" b="1" kern="0" spc="200" dirty="0">
                <a:solidFill>
                  <a:srgbClr val="F2A93B"/>
                </a:solidFill>
              </a:rPr>
              <a:t>PM STANDUP  ·  PROJECT UPDATE</a:t>
            </a:r>
            <a:endParaRPr lang="en-US" sz="1500" dirty="0"/>
          </a:p>
        </p:txBody>
      </p:sp>
      <p:sp>
        <p:nvSpPr>
          <p:cNvPr id="3" name="Text 1"/>
          <p:cNvSpPr/>
          <p:nvPr/>
        </p:nvSpPr>
        <p:spPr>
          <a:xfrm>
            <a:off x="822960" y="2651760"/>
            <a:ext cx="105156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Agentic AI Vehicle Fault Diagnosis &amp; Repair Copilot</a:t>
            </a:r>
            <a:endParaRPr lang="en-US" sz="3400" dirty="0"/>
          </a:p>
        </p:txBody>
      </p:sp>
      <p:sp>
        <p:nvSpPr>
          <p:cNvPr id="4" name="Text 2"/>
          <p:cNvSpPr/>
          <p:nvPr/>
        </p:nvSpPr>
        <p:spPr>
          <a:xfrm>
            <a:off x="822960" y="4297680"/>
            <a:ext cx="10515600" cy="365760"/>
          </a:xfrm>
          <a:prstGeom prst="rect">
            <a:avLst/>
          </a:prstGeom>
          <a:noFill/>
          <a:ln/>
        </p:spPr>
        <p:txBody>
          <a:bodyPr wrap="square" rtlCol="0" anchor="ctr"/>
          <a:lstStyle/>
          <a:p>
            <a:pPr marL="0" indent="0">
              <a:buNone/>
            </a:pPr>
            <a:r>
              <a:rPr lang="en-US" sz="1400" dirty="0">
                <a:solidFill>
                  <a:srgbClr val="CADCFC"/>
                </a:solidFill>
              </a:rPr>
              <a:t>Team NodePair: Harsha, Ghada &amp; Hüseyin  ·  neue fische Data Science &amp; AI Bootcamp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OBJECTIVES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What this update covers</a:t>
            </a:r>
            <a:endParaRPr lang="en-US" sz="3000" dirty="0"/>
          </a:p>
        </p:txBody>
      </p:sp>
      <p:sp>
        <p:nvSpPr>
          <p:cNvPr id="4" name="Shape 2"/>
          <p:cNvSpPr/>
          <p:nvPr/>
        </p:nvSpPr>
        <p:spPr>
          <a:xfrm>
            <a:off x="822960" y="1920240"/>
            <a:ext cx="164592" cy="164592"/>
          </a:xfrm>
          <a:prstGeom prst="roundRect">
            <a:avLst>
              <a:gd name="adj" fmla="val 16667"/>
            </a:avLst>
          </a:prstGeom>
          <a:solidFill>
            <a:srgbClr val="F2A93B"/>
          </a:solidFill>
          <a:ln w="12700">
            <a:solidFill>
              <a:srgbClr val="F2A93B"/>
            </a:solidFill>
            <a:prstDash val="solid"/>
          </a:ln>
        </p:spPr>
      </p:sp>
      <p:sp>
        <p:nvSpPr>
          <p:cNvPr id="5" name="Text 3"/>
          <p:cNvSpPr/>
          <p:nvPr/>
        </p:nvSpPr>
        <p:spPr>
          <a:xfrm>
            <a:off x="1234440" y="1773936"/>
            <a:ext cx="9875520" cy="502920"/>
          </a:xfrm>
          <a:prstGeom prst="rect">
            <a:avLst/>
          </a:prstGeom>
          <a:noFill/>
          <a:ln/>
        </p:spPr>
        <p:txBody>
          <a:bodyPr wrap="square" rtlCol="0" anchor="ctr"/>
          <a:lstStyle/>
          <a:p>
            <a:pPr marL="0" indent="0">
              <a:buNone/>
            </a:pPr>
            <a:r>
              <a:rPr lang="en-US" sz="1600" dirty="0">
                <a:solidFill>
                  <a:srgbClr val="5B6478"/>
                </a:solidFill>
              </a:rPr>
              <a:t>Get everyone aligned on what we're actually building and why</a:t>
            </a:r>
            <a:endParaRPr lang="en-US" sz="1600" dirty="0"/>
          </a:p>
        </p:txBody>
      </p:sp>
      <p:sp>
        <p:nvSpPr>
          <p:cNvPr id="6" name="Shape 4"/>
          <p:cNvSpPr/>
          <p:nvPr/>
        </p:nvSpPr>
        <p:spPr>
          <a:xfrm>
            <a:off x="822960" y="2651760"/>
            <a:ext cx="164592" cy="164592"/>
          </a:xfrm>
          <a:prstGeom prst="roundRect">
            <a:avLst>
              <a:gd name="adj" fmla="val 16667"/>
            </a:avLst>
          </a:prstGeom>
          <a:solidFill>
            <a:srgbClr val="F2A93B"/>
          </a:solidFill>
          <a:ln w="12700">
            <a:solidFill>
              <a:srgbClr val="F2A93B"/>
            </a:solidFill>
            <a:prstDash val="solid"/>
          </a:ln>
        </p:spPr>
      </p:sp>
      <p:sp>
        <p:nvSpPr>
          <p:cNvPr id="7" name="Text 5"/>
          <p:cNvSpPr/>
          <p:nvPr/>
        </p:nvSpPr>
        <p:spPr>
          <a:xfrm>
            <a:off x="1234440" y="2505456"/>
            <a:ext cx="9875520" cy="502920"/>
          </a:xfrm>
          <a:prstGeom prst="rect">
            <a:avLst/>
          </a:prstGeom>
          <a:noFill/>
          <a:ln/>
        </p:spPr>
        <p:txBody>
          <a:bodyPr wrap="square" rtlCol="0" anchor="ctr"/>
          <a:lstStyle/>
          <a:p>
            <a:pPr marL="0" indent="0">
              <a:buNone/>
            </a:pPr>
            <a:r>
              <a:rPr lang="en-US" sz="1600" dirty="0">
                <a:solidFill>
                  <a:srgbClr val="5B6478"/>
                </a:solidFill>
              </a:rPr>
              <a:t>Give a checklist-level status: what's done, what's in progress, what's not started yet</a:t>
            </a:r>
            <a:endParaRPr lang="en-US" sz="1600" dirty="0"/>
          </a:p>
        </p:txBody>
      </p:sp>
      <p:sp>
        <p:nvSpPr>
          <p:cNvPr id="8" name="Shape 6"/>
          <p:cNvSpPr/>
          <p:nvPr/>
        </p:nvSpPr>
        <p:spPr>
          <a:xfrm>
            <a:off x="822960" y="3383280"/>
            <a:ext cx="164592" cy="164592"/>
          </a:xfrm>
          <a:prstGeom prst="roundRect">
            <a:avLst>
              <a:gd name="adj" fmla="val 16667"/>
            </a:avLst>
          </a:prstGeom>
          <a:solidFill>
            <a:srgbClr val="F2A93B"/>
          </a:solidFill>
          <a:ln w="12700">
            <a:solidFill>
              <a:srgbClr val="F2A93B"/>
            </a:solidFill>
            <a:prstDash val="solid"/>
          </a:ln>
        </p:spPr>
      </p:sp>
      <p:sp>
        <p:nvSpPr>
          <p:cNvPr id="9" name="Text 7"/>
          <p:cNvSpPr/>
          <p:nvPr/>
        </p:nvSpPr>
        <p:spPr>
          <a:xfrm>
            <a:off x="1234440" y="3236976"/>
            <a:ext cx="9875520" cy="502920"/>
          </a:xfrm>
          <a:prstGeom prst="rect">
            <a:avLst/>
          </a:prstGeom>
          <a:noFill/>
          <a:ln/>
        </p:spPr>
        <p:txBody>
          <a:bodyPr wrap="square" rtlCol="0" anchor="ctr"/>
          <a:lstStyle/>
          <a:p>
            <a:pPr marL="0" indent="0">
              <a:buNone/>
            </a:pPr>
            <a:r>
              <a:rPr lang="en-US" sz="1600" dirty="0">
                <a:solidFill>
                  <a:srgbClr val="5B6478"/>
                </a:solidFill>
              </a:rPr>
              <a:t>Walk through a methodology issue we caught this week and how we fixed it, not just the polished result</a:t>
            </a:r>
            <a:endParaRPr lang="en-US" sz="1600" dirty="0"/>
          </a:p>
        </p:txBody>
      </p:sp>
      <p:sp>
        <p:nvSpPr>
          <p:cNvPr id="10" name="Shape 8"/>
          <p:cNvSpPr/>
          <p:nvPr/>
        </p:nvSpPr>
        <p:spPr>
          <a:xfrm>
            <a:off x="822960" y="4114800"/>
            <a:ext cx="164592" cy="164592"/>
          </a:xfrm>
          <a:prstGeom prst="roundRect">
            <a:avLst>
              <a:gd name="adj" fmla="val 16667"/>
            </a:avLst>
          </a:prstGeom>
          <a:solidFill>
            <a:srgbClr val="F2A93B"/>
          </a:solidFill>
          <a:ln w="12700">
            <a:solidFill>
              <a:srgbClr val="F2A93B"/>
            </a:solidFill>
            <a:prstDash val="solid"/>
          </a:ln>
        </p:spPr>
      </p:sp>
      <p:sp>
        <p:nvSpPr>
          <p:cNvPr id="11" name="Text 9"/>
          <p:cNvSpPr/>
          <p:nvPr/>
        </p:nvSpPr>
        <p:spPr>
          <a:xfrm>
            <a:off x="1234440" y="3968496"/>
            <a:ext cx="9875520" cy="502920"/>
          </a:xfrm>
          <a:prstGeom prst="rect">
            <a:avLst/>
          </a:prstGeom>
          <a:noFill/>
          <a:ln/>
        </p:spPr>
        <p:txBody>
          <a:bodyPr wrap="square" rtlCol="0" anchor="ctr"/>
          <a:lstStyle/>
          <a:p>
            <a:pPr marL="0" indent="0">
              <a:buNone/>
            </a:pPr>
            <a:r>
              <a:rPr lang="en-US" sz="1600" dirty="0">
                <a:solidFill>
                  <a:srgbClr val="5B6478"/>
                </a:solidFill>
              </a:rPr>
              <a:t>Confirm the plan for the remaining weeks</a:t>
            </a:r>
            <a:endParaRPr lang="en-US" sz="1600" dirty="0"/>
          </a:p>
        </p:txBody>
      </p:sp>
      <p:sp>
        <p:nvSpPr>
          <p:cNvPr id="12" name="Text 10"/>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THE PROBLEM</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Why this project exists</a:t>
            </a:r>
            <a:endParaRPr lang="en-US" sz="3000" dirty="0"/>
          </a:p>
        </p:txBody>
      </p:sp>
      <p:sp>
        <p:nvSpPr>
          <p:cNvPr id="4" name="Text 2"/>
          <p:cNvSpPr/>
          <p:nvPr/>
        </p:nvSpPr>
        <p:spPr>
          <a:xfrm>
            <a:off x="548640" y="1737360"/>
            <a:ext cx="10789920" cy="1645920"/>
          </a:xfrm>
          <a:prstGeom prst="rect">
            <a:avLst/>
          </a:prstGeom>
          <a:noFill/>
          <a:ln/>
        </p:spPr>
        <p:txBody>
          <a:bodyPr wrap="square" rtlCol="0" anchor="ctr"/>
          <a:lstStyle/>
          <a:p>
            <a:pPr marL="342900" indent="-342900">
              <a:spcAft>
                <a:spcPts val="1000"/>
              </a:spcAft>
              <a:buSzPct val="100000"/>
              <a:buChar char="•"/>
            </a:pPr>
            <a:r>
              <a:rPr lang="en-US" sz="1600" dirty="0">
                <a:solidFill>
                  <a:srgbClr val="5B6478"/>
                </a:solidFill>
              </a:rPr>
              <a:t>A fault code fires, and interpreting it today requires a human manually cross-referencing bulletins and recall databases</a:t>
            </a:r>
            <a:endParaRPr lang="en-US" sz="1600" dirty="0"/>
          </a:p>
          <a:p>
            <a:pPr marL="342900" indent="-342900">
              <a:spcAft>
                <a:spcPts val="1000"/>
              </a:spcAft>
              <a:buSzPct val="100000"/>
              <a:buChar char="•"/>
            </a:pPr>
            <a:r>
              <a:rPr lang="en-US" sz="1600" dirty="0">
                <a:solidFill>
                  <a:srgbClr val="5B6478"/>
                </a:solidFill>
              </a:rPr>
              <a:t>Separately, warning signs often show up in the sensor trend well before any code fires, but nobody is watching closely enough to catch it early</a:t>
            </a:r>
            <a:endParaRPr lang="en-US" sz="1600" dirty="0"/>
          </a:p>
          <a:p>
            <a:pPr marL="342900" indent="-342900">
              <a:spcAft>
                <a:spcPts val="1000"/>
              </a:spcAft>
              <a:buSzPct val="100000"/>
              <a:buChar char="•"/>
            </a:pPr>
            <a:r>
              <a:rPr lang="en-US" sz="1600" dirty="0">
                <a:solidFill>
                  <a:srgbClr val="5B6478"/>
                </a:solidFill>
              </a:rPr>
              <a:t>Both situations are slow, manual, and inconsistent today</a:t>
            </a:r>
            <a:endParaRPr lang="en-US" sz="1600" dirty="0"/>
          </a:p>
        </p:txBody>
      </p:sp>
      <p:sp>
        <p:nvSpPr>
          <p:cNvPr id="5" name="Shape 3"/>
          <p:cNvSpPr/>
          <p:nvPr/>
        </p:nvSpPr>
        <p:spPr>
          <a:xfrm>
            <a:off x="548640" y="3566160"/>
            <a:ext cx="10789920" cy="1371600"/>
          </a:xfrm>
          <a:prstGeom prst="roundRect">
            <a:avLst>
              <a:gd name="adj" fmla="val 5333"/>
            </a:avLst>
          </a:prstGeom>
          <a:solidFill>
            <a:srgbClr val="1E2761"/>
          </a:solidFill>
          <a:ln w="12700">
            <a:solidFill>
              <a:srgbClr val="1E2761"/>
            </a:solidFill>
            <a:prstDash val="solid"/>
          </a:ln>
        </p:spPr>
      </p:sp>
      <p:sp>
        <p:nvSpPr>
          <p:cNvPr id="6" name="Text 4"/>
          <p:cNvSpPr/>
          <p:nvPr/>
        </p:nvSpPr>
        <p:spPr>
          <a:xfrm>
            <a:off x="914400" y="3749040"/>
            <a:ext cx="10058400" cy="1005840"/>
          </a:xfrm>
          <a:prstGeom prst="rect">
            <a:avLst/>
          </a:prstGeom>
          <a:noFill/>
          <a:ln/>
        </p:spPr>
        <p:txBody>
          <a:bodyPr wrap="square" rtlCol="0" anchor="ctr"/>
          <a:lstStyle/>
          <a:p>
            <a:pPr marL="342900" indent="-342900">
              <a:spcAft>
                <a:spcPts val="600"/>
              </a:spcAft>
              <a:buSzPct val="100000"/>
              <a:buChar char="•"/>
            </a:pPr>
            <a:r>
              <a:rPr lang="en-US" sz="1450" dirty="0">
                <a:solidFill>
                  <a:srgbClr val="CADCFC"/>
                </a:solidFill>
              </a:rPr>
              <a:t>Catch trouble early from continuous telemetry, before it becomes a breakdown</a:t>
            </a:r>
            <a:endParaRPr lang="en-US" sz="1450" dirty="0"/>
          </a:p>
          <a:p>
            <a:pPr marL="342900" indent="-342900">
              <a:spcAft>
                <a:spcPts val="600"/>
              </a:spcAft>
              <a:buSzPct val="100000"/>
              <a:buChar char="•"/>
            </a:pPr>
            <a:r>
              <a:rPr lang="en-US" sz="1450" dirty="0">
                <a:solidFill>
                  <a:srgbClr val="CADCFC"/>
                </a:solidFill>
              </a:rPr>
              <a:t>Once a fault is known, classify it, cite real NHTSA records, and write a repair recommendation</a:t>
            </a:r>
            <a:endParaRPr lang="en-US" sz="1450" dirty="0"/>
          </a:p>
        </p:txBody>
      </p:sp>
      <p:sp>
        <p:nvSpPr>
          <p:cNvPr id="7" name="Text 5"/>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THE SYSTEM</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What we're building</a:t>
            </a:r>
            <a:endParaRPr lang="en-US" sz="3000" dirty="0"/>
          </a:p>
        </p:txBody>
      </p:sp>
      <p:sp>
        <p:nvSpPr>
          <p:cNvPr id="4" name="Shape 2"/>
          <p:cNvSpPr/>
          <p:nvPr/>
        </p:nvSpPr>
        <p:spPr>
          <a:xfrm>
            <a:off x="548640" y="1691640"/>
            <a:ext cx="2606040" cy="868680"/>
          </a:xfrm>
          <a:prstGeom prst="roundRect">
            <a:avLst>
              <a:gd name="adj" fmla="val 8421"/>
            </a:avLst>
          </a:prstGeom>
          <a:solidFill>
            <a:srgbClr val="FFFFFF"/>
          </a:solidFill>
          <a:ln w="12700">
            <a:solidFill>
              <a:srgbClr val="E4E8F0"/>
            </a:solidFill>
            <a:prstDash val="solid"/>
          </a:ln>
        </p:spPr>
      </p:sp>
      <p:sp>
        <p:nvSpPr>
          <p:cNvPr id="5" name="Text 3"/>
          <p:cNvSpPr/>
          <p:nvPr/>
        </p:nvSpPr>
        <p:spPr>
          <a:xfrm>
            <a:off x="713232" y="1810512"/>
            <a:ext cx="2286000" cy="320040"/>
          </a:xfrm>
          <a:prstGeom prst="rect">
            <a:avLst/>
          </a:prstGeom>
          <a:noFill/>
          <a:ln/>
        </p:spPr>
        <p:txBody>
          <a:bodyPr wrap="square" rtlCol="0" anchor="ctr"/>
          <a:lstStyle/>
          <a:p>
            <a:pPr marL="0" indent="0">
              <a:buNone/>
            </a:pPr>
            <a:r>
              <a:rPr lang="en-US" sz="1250" b="1" dirty="0">
                <a:solidFill>
                  <a:srgbClr val="161C4A"/>
                </a:solidFill>
              </a:rPr>
              <a:t>Continuous telemetry</a:t>
            </a:r>
            <a:endParaRPr lang="en-US" sz="1250" dirty="0"/>
          </a:p>
        </p:txBody>
      </p:sp>
      <p:sp>
        <p:nvSpPr>
          <p:cNvPr id="6" name="Text 4"/>
          <p:cNvSpPr/>
          <p:nvPr/>
        </p:nvSpPr>
        <p:spPr>
          <a:xfrm>
            <a:off x="713232" y="2121408"/>
            <a:ext cx="2286000" cy="411480"/>
          </a:xfrm>
          <a:prstGeom prst="rect">
            <a:avLst/>
          </a:prstGeom>
          <a:noFill/>
          <a:ln/>
        </p:spPr>
        <p:txBody>
          <a:bodyPr wrap="square" rtlCol="0" anchor="ctr"/>
          <a:lstStyle/>
          <a:p>
            <a:pPr marL="0" indent="0">
              <a:buNone/>
            </a:pPr>
            <a:r>
              <a:rPr lang="en-US" sz="1000" dirty="0">
                <a:solidFill>
                  <a:srgbClr val="5B6478"/>
                </a:solidFill>
              </a:rPr>
              <a:t>Fleet manager side, forecasts trouble before it happens</a:t>
            </a:r>
            <a:endParaRPr lang="en-US" sz="1000" dirty="0"/>
          </a:p>
        </p:txBody>
      </p:sp>
      <p:sp>
        <p:nvSpPr>
          <p:cNvPr id="7" name="Shape 5"/>
          <p:cNvSpPr/>
          <p:nvPr/>
        </p:nvSpPr>
        <p:spPr>
          <a:xfrm>
            <a:off x="548640" y="2743200"/>
            <a:ext cx="2606040" cy="868680"/>
          </a:xfrm>
          <a:prstGeom prst="roundRect">
            <a:avLst>
              <a:gd name="adj" fmla="val 8421"/>
            </a:avLst>
          </a:prstGeom>
          <a:solidFill>
            <a:srgbClr val="FFFFFF"/>
          </a:solidFill>
          <a:ln w="12700">
            <a:solidFill>
              <a:srgbClr val="E4E8F0"/>
            </a:solidFill>
            <a:prstDash val="solid"/>
          </a:ln>
        </p:spPr>
      </p:sp>
      <p:sp>
        <p:nvSpPr>
          <p:cNvPr id="8" name="Text 6"/>
          <p:cNvSpPr/>
          <p:nvPr/>
        </p:nvSpPr>
        <p:spPr>
          <a:xfrm>
            <a:off x="713232" y="2862072"/>
            <a:ext cx="2286000" cy="320040"/>
          </a:xfrm>
          <a:prstGeom prst="rect">
            <a:avLst/>
          </a:prstGeom>
          <a:noFill/>
          <a:ln/>
        </p:spPr>
        <p:txBody>
          <a:bodyPr wrap="square" rtlCol="0" anchor="ctr"/>
          <a:lstStyle/>
          <a:p>
            <a:pPr marL="0" indent="0">
              <a:buNone/>
            </a:pPr>
            <a:r>
              <a:rPr lang="en-US" sz="1250" b="1" dirty="0">
                <a:solidFill>
                  <a:srgbClr val="161C4A"/>
                </a:solidFill>
              </a:rPr>
              <a:t>Sensor / DTC trigger</a:t>
            </a:r>
            <a:endParaRPr lang="en-US" sz="1250" dirty="0"/>
          </a:p>
        </p:txBody>
      </p:sp>
      <p:sp>
        <p:nvSpPr>
          <p:cNvPr id="9" name="Text 7"/>
          <p:cNvSpPr/>
          <p:nvPr/>
        </p:nvSpPr>
        <p:spPr>
          <a:xfrm>
            <a:off x="713232" y="3172968"/>
            <a:ext cx="2286000" cy="411480"/>
          </a:xfrm>
          <a:prstGeom prst="rect">
            <a:avLst/>
          </a:prstGeom>
          <a:noFill/>
          <a:ln/>
        </p:spPr>
        <p:txBody>
          <a:bodyPr wrap="square" rtlCol="0" anchor="ctr"/>
          <a:lstStyle/>
          <a:p>
            <a:pPr marL="0" indent="0">
              <a:buNone/>
            </a:pPr>
            <a:r>
              <a:rPr lang="en-US" sz="1000" dirty="0">
                <a:solidFill>
                  <a:srgbClr val="5B6478"/>
                </a:solidFill>
              </a:rPr>
              <a:t>Service center side, a code has already fired</a:t>
            </a:r>
            <a:endParaRPr lang="en-US" sz="1000" dirty="0"/>
          </a:p>
        </p:txBody>
      </p:sp>
      <p:sp>
        <p:nvSpPr>
          <p:cNvPr id="10" name="Text 8"/>
          <p:cNvSpPr/>
          <p:nvPr/>
        </p:nvSpPr>
        <p:spPr>
          <a:xfrm>
            <a:off x="3246120" y="2148840"/>
            <a:ext cx="457200" cy="1280160"/>
          </a:xfrm>
          <a:prstGeom prst="rect">
            <a:avLst/>
          </a:prstGeom>
          <a:noFill/>
          <a:ln/>
        </p:spPr>
        <p:txBody>
          <a:bodyPr wrap="square" rtlCol="0" anchor="ctr"/>
          <a:lstStyle/>
          <a:p>
            <a:pPr marL="0" indent="0" algn="ctr">
              <a:buNone/>
            </a:pPr>
            <a:r>
              <a:rPr lang="en-US" sz="2000" b="1" dirty="0">
                <a:solidFill>
                  <a:srgbClr val="F2A93B"/>
                </a:solidFill>
              </a:rPr>
              <a:t>&gt;</a:t>
            </a:r>
            <a:endParaRPr lang="en-US" sz="2000" dirty="0"/>
          </a:p>
        </p:txBody>
      </p:sp>
      <p:sp>
        <p:nvSpPr>
          <p:cNvPr id="11" name="Shape 9"/>
          <p:cNvSpPr/>
          <p:nvPr/>
        </p:nvSpPr>
        <p:spPr>
          <a:xfrm>
            <a:off x="3794760" y="2148840"/>
            <a:ext cx="2331720" cy="1280160"/>
          </a:xfrm>
          <a:prstGeom prst="roundRect">
            <a:avLst>
              <a:gd name="adj" fmla="val 5714"/>
            </a:avLst>
          </a:prstGeom>
          <a:solidFill>
            <a:srgbClr val="1E2761"/>
          </a:solidFill>
          <a:ln w="12700">
            <a:solidFill>
              <a:srgbClr val="1E2761"/>
            </a:solidFill>
            <a:prstDash val="solid"/>
          </a:ln>
        </p:spPr>
      </p:sp>
      <p:sp>
        <p:nvSpPr>
          <p:cNvPr id="12" name="Text 10"/>
          <p:cNvSpPr/>
          <p:nvPr/>
        </p:nvSpPr>
        <p:spPr>
          <a:xfrm>
            <a:off x="3959352" y="2286000"/>
            <a:ext cx="2002536" cy="548640"/>
          </a:xfrm>
          <a:prstGeom prst="rect">
            <a:avLst/>
          </a:prstGeom>
          <a:noFill/>
          <a:ln/>
        </p:spPr>
        <p:txBody>
          <a:bodyPr wrap="square" rtlCol="0" anchor="ctr"/>
          <a:lstStyle/>
          <a:p>
            <a:pPr marL="0" indent="0">
              <a:buNone/>
            </a:pPr>
            <a:r>
              <a:rPr lang="en-US" sz="1300" b="1" dirty="0">
                <a:solidFill>
                  <a:srgbClr val="FFFFFF"/>
                </a:solidFill>
              </a:rPr>
              <a:t>Agent Orchestrator (LLM)</a:t>
            </a:r>
            <a:endParaRPr lang="en-US" sz="1300" dirty="0"/>
          </a:p>
        </p:txBody>
      </p:sp>
      <p:sp>
        <p:nvSpPr>
          <p:cNvPr id="13" name="Text 11"/>
          <p:cNvSpPr/>
          <p:nvPr/>
        </p:nvSpPr>
        <p:spPr>
          <a:xfrm>
            <a:off x="3959352" y="2834640"/>
            <a:ext cx="2002536" cy="502920"/>
          </a:xfrm>
          <a:prstGeom prst="rect">
            <a:avLst/>
          </a:prstGeom>
          <a:noFill/>
          <a:ln/>
        </p:spPr>
        <p:txBody>
          <a:bodyPr wrap="square" rtlCol="0" anchor="ctr"/>
          <a:lstStyle/>
          <a:p>
            <a:pPr marL="0" indent="0">
              <a:buNone/>
            </a:pPr>
            <a:r>
              <a:rPr lang="en-US" sz="1050" dirty="0">
                <a:solidFill>
                  <a:srgbClr val="CADCFC"/>
                </a:solidFill>
              </a:rPr>
              <a:t>Decides which tool to call next, not a fixed script</a:t>
            </a:r>
            <a:endParaRPr lang="en-US" sz="1050" dirty="0"/>
          </a:p>
        </p:txBody>
      </p:sp>
      <p:sp>
        <p:nvSpPr>
          <p:cNvPr id="14" name="Text 12"/>
          <p:cNvSpPr/>
          <p:nvPr/>
        </p:nvSpPr>
        <p:spPr>
          <a:xfrm>
            <a:off x="6144768" y="2560320"/>
            <a:ext cx="228600" cy="457200"/>
          </a:xfrm>
          <a:prstGeom prst="rect">
            <a:avLst/>
          </a:prstGeom>
          <a:noFill/>
          <a:ln/>
        </p:spPr>
        <p:txBody>
          <a:bodyPr wrap="square" rtlCol="0" anchor="ctr"/>
          <a:lstStyle/>
          <a:p>
            <a:pPr marL="0" indent="0" algn="ctr">
              <a:buNone/>
            </a:pPr>
            <a:r>
              <a:rPr lang="en-US" sz="2000" b="1" dirty="0">
                <a:solidFill>
                  <a:srgbClr val="F2A93B"/>
                </a:solidFill>
              </a:rPr>
              <a:t>&gt;</a:t>
            </a:r>
            <a:endParaRPr lang="en-US" sz="2000" dirty="0"/>
          </a:p>
        </p:txBody>
      </p:sp>
      <p:sp>
        <p:nvSpPr>
          <p:cNvPr id="15" name="Shape 13"/>
          <p:cNvSpPr/>
          <p:nvPr/>
        </p:nvSpPr>
        <p:spPr>
          <a:xfrm>
            <a:off x="6492240" y="2148840"/>
            <a:ext cx="2331720" cy="1280160"/>
          </a:xfrm>
          <a:prstGeom prst="roundRect">
            <a:avLst>
              <a:gd name="adj" fmla="val 5714"/>
            </a:avLst>
          </a:prstGeom>
          <a:solidFill>
            <a:srgbClr val="1E2761"/>
          </a:solidFill>
          <a:ln w="12700">
            <a:solidFill>
              <a:srgbClr val="1E2761"/>
            </a:solidFill>
            <a:prstDash val="solid"/>
          </a:ln>
        </p:spPr>
      </p:sp>
      <p:sp>
        <p:nvSpPr>
          <p:cNvPr id="16" name="Text 14"/>
          <p:cNvSpPr/>
          <p:nvPr/>
        </p:nvSpPr>
        <p:spPr>
          <a:xfrm>
            <a:off x="6656832" y="2286000"/>
            <a:ext cx="2002536" cy="548640"/>
          </a:xfrm>
          <a:prstGeom prst="rect">
            <a:avLst/>
          </a:prstGeom>
          <a:noFill/>
          <a:ln/>
        </p:spPr>
        <p:txBody>
          <a:bodyPr wrap="square" rtlCol="0" anchor="ctr"/>
          <a:lstStyle/>
          <a:p>
            <a:pPr marL="0" indent="0">
              <a:buNone/>
            </a:pPr>
            <a:r>
              <a:rPr lang="en-US" sz="1300" b="1" dirty="0">
                <a:solidFill>
                  <a:srgbClr val="FFFFFF"/>
                </a:solidFill>
              </a:rPr>
              <a:t>3 tools: Classify, Retrieve, Generate</a:t>
            </a:r>
            <a:endParaRPr lang="en-US" sz="1300" dirty="0"/>
          </a:p>
        </p:txBody>
      </p:sp>
      <p:sp>
        <p:nvSpPr>
          <p:cNvPr id="17" name="Text 15"/>
          <p:cNvSpPr/>
          <p:nvPr/>
        </p:nvSpPr>
        <p:spPr>
          <a:xfrm>
            <a:off x="6656832" y="2834640"/>
            <a:ext cx="2002536" cy="502920"/>
          </a:xfrm>
          <a:prstGeom prst="rect">
            <a:avLst/>
          </a:prstGeom>
          <a:noFill/>
          <a:ln/>
        </p:spPr>
        <p:txBody>
          <a:bodyPr wrap="square" rtlCol="0" anchor="ctr"/>
          <a:lstStyle/>
          <a:p>
            <a:pPr marL="0" indent="0">
              <a:buNone/>
            </a:pPr>
            <a:r>
              <a:rPr lang="en-US" sz="1050" dirty="0">
                <a:solidFill>
                  <a:srgbClr val="CADCFC"/>
                </a:solidFill>
              </a:rPr>
              <a:t>Fault classifier, NHTSA search, cited ticket</a:t>
            </a:r>
            <a:endParaRPr lang="en-US" sz="1050" dirty="0"/>
          </a:p>
        </p:txBody>
      </p:sp>
      <p:sp>
        <p:nvSpPr>
          <p:cNvPr id="18" name="Text 16"/>
          <p:cNvSpPr/>
          <p:nvPr/>
        </p:nvSpPr>
        <p:spPr>
          <a:xfrm>
            <a:off x="8842248" y="2560320"/>
            <a:ext cx="228600" cy="457200"/>
          </a:xfrm>
          <a:prstGeom prst="rect">
            <a:avLst/>
          </a:prstGeom>
          <a:noFill/>
          <a:ln/>
        </p:spPr>
        <p:txBody>
          <a:bodyPr wrap="square" rtlCol="0" anchor="ctr"/>
          <a:lstStyle/>
          <a:p>
            <a:pPr marL="0" indent="0" algn="ctr">
              <a:buNone/>
            </a:pPr>
            <a:r>
              <a:rPr lang="en-US" sz="2000" b="1" dirty="0">
                <a:solidFill>
                  <a:srgbClr val="F2A93B"/>
                </a:solidFill>
              </a:rPr>
              <a:t>&gt;</a:t>
            </a:r>
            <a:endParaRPr lang="en-US" sz="2000" dirty="0"/>
          </a:p>
        </p:txBody>
      </p:sp>
      <p:sp>
        <p:nvSpPr>
          <p:cNvPr id="19" name="Shape 17"/>
          <p:cNvSpPr/>
          <p:nvPr/>
        </p:nvSpPr>
        <p:spPr>
          <a:xfrm>
            <a:off x="9189720" y="2148840"/>
            <a:ext cx="2331720" cy="1280160"/>
          </a:xfrm>
          <a:prstGeom prst="roundRect">
            <a:avLst>
              <a:gd name="adj" fmla="val 5714"/>
            </a:avLst>
          </a:prstGeom>
          <a:solidFill>
            <a:srgbClr val="FFFFFF"/>
          </a:solidFill>
          <a:ln w="12700">
            <a:solidFill>
              <a:srgbClr val="E4E8F0"/>
            </a:solidFill>
            <a:prstDash val="solid"/>
          </a:ln>
        </p:spPr>
      </p:sp>
      <p:sp>
        <p:nvSpPr>
          <p:cNvPr id="20" name="Text 18"/>
          <p:cNvSpPr/>
          <p:nvPr/>
        </p:nvSpPr>
        <p:spPr>
          <a:xfrm>
            <a:off x="9354312" y="2286000"/>
            <a:ext cx="2002536" cy="548640"/>
          </a:xfrm>
          <a:prstGeom prst="rect">
            <a:avLst/>
          </a:prstGeom>
          <a:noFill/>
          <a:ln/>
        </p:spPr>
        <p:txBody>
          <a:bodyPr wrap="square" rtlCol="0" anchor="ctr"/>
          <a:lstStyle/>
          <a:p>
            <a:pPr marL="0" indent="0">
              <a:buNone/>
            </a:pPr>
            <a:r>
              <a:rPr lang="en-US" sz="1300" b="1" dirty="0">
                <a:solidFill>
                  <a:srgbClr val="161C4A"/>
                </a:solidFill>
              </a:rPr>
              <a:t>Dashboard</a:t>
            </a:r>
            <a:endParaRPr lang="en-US" sz="1300" dirty="0"/>
          </a:p>
        </p:txBody>
      </p:sp>
      <p:sp>
        <p:nvSpPr>
          <p:cNvPr id="21" name="Text 19"/>
          <p:cNvSpPr/>
          <p:nvPr/>
        </p:nvSpPr>
        <p:spPr>
          <a:xfrm>
            <a:off x="9354312" y="2834640"/>
            <a:ext cx="2002536" cy="502920"/>
          </a:xfrm>
          <a:prstGeom prst="rect">
            <a:avLst/>
          </a:prstGeom>
          <a:noFill/>
          <a:ln/>
        </p:spPr>
        <p:txBody>
          <a:bodyPr wrap="square" rtlCol="0" anchor="ctr"/>
          <a:lstStyle/>
          <a:p>
            <a:pPr marL="0" indent="0">
              <a:buNone/>
            </a:pPr>
            <a:r>
              <a:rPr lang="en-US" sz="1050" dirty="0">
                <a:solidFill>
                  <a:srgbClr val="5B6478"/>
                </a:solidFill>
              </a:rPr>
              <a:t>Shows reasoning trace + final ticket, not just an answer</a:t>
            </a:r>
            <a:endParaRPr lang="en-US" sz="1050" dirty="0"/>
          </a:p>
        </p:txBody>
      </p:sp>
      <p:sp>
        <p:nvSpPr>
          <p:cNvPr id="22" name="Text 20"/>
          <p:cNvSpPr/>
          <p:nvPr/>
        </p:nvSpPr>
        <p:spPr>
          <a:xfrm>
            <a:off x="548640" y="3840480"/>
            <a:ext cx="10789920" cy="914400"/>
          </a:xfrm>
          <a:prstGeom prst="rect">
            <a:avLst/>
          </a:prstGeom>
          <a:noFill/>
          <a:ln/>
        </p:spPr>
        <p:txBody>
          <a:bodyPr wrap="square" rtlCol="0" anchor="ctr"/>
          <a:lstStyle/>
          <a:p>
            <a:pPr marL="342900" indent="-342900">
              <a:spcAft>
                <a:spcPts val="600"/>
              </a:spcAft>
              <a:buSzPct val="100000"/>
              <a:buChar char="•"/>
            </a:pPr>
            <a:r>
              <a:rPr lang="en-US" sz="1400" dirty="0">
                <a:solidFill>
                  <a:srgbClr val="5B6478"/>
                </a:solidFill>
              </a:rPr>
              <a:t>Two ways in, one agent: forecasting for the fleet manager, a DTC trigger for the service center</a:t>
            </a:r>
            <a:endParaRPr lang="en-US" sz="1400" dirty="0"/>
          </a:p>
          <a:p>
            <a:pPr marL="342900" indent="-342900">
              <a:spcAft>
                <a:spcPts val="600"/>
              </a:spcAft>
              <a:buSzPct val="100000"/>
              <a:buChar char="•"/>
            </a:pPr>
            <a:r>
              <a:rPr lang="en-US" sz="1400" dirty="0">
                <a:solidFill>
                  <a:srgbClr val="5B6478"/>
                </a:solidFill>
              </a:rPr>
              <a:t>“Agentic” means the LLM decides what to do next, not a fixed pipeline</a:t>
            </a:r>
            <a:endParaRPr lang="en-US" sz="1400" dirty="0"/>
          </a:p>
        </p:txBody>
      </p:sp>
      <p:sp>
        <p:nvSpPr>
          <p:cNvPr id="23" name="Text 21"/>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TARGET USER</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Who this is for, and why</a:t>
            </a:r>
            <a:endParaRPr lang="en-US" sz="3000" dirty="0"/>
          </a:p>
        </p:txBody>
      </p:sp>
      <p:sp>
        <p:nvSpPr>
          <p:cNvPr id="4" name="Shape 2"/>
          <p:cNvSpPr/>
          <p:nvPr/>
        </p:nvSpPr>
        <p:spPr>
          <a:xfrm>
            <a:off x="548640" y="1737360"/>
            <a:ext cx="5212080" cy="3566160"/>
          </a:xfrm>
          <a:prstGeom prst="roundRect">
            <a:avLst>
              <a:gd name="adj" fmla="val 2051"/>
            </a:avLst>
          </a:prstGeom>
          <a:solidFill>
            <a:srgbClr val="1E2761"/>
          </a:solidFill>
          <a:ln w="12700">
            <a:solidFill>
              <a:srgbClr val="1E2761"/>
            </a:solidFill>
            <a:prstDash val="solid"/>
          </a:ln>
        </p:spPr>
        <p:txBody>
          <a:bodyPr/>
          <a:lstStyle/>
          <a:p>
            <a:endParaRPr lang="en-DE" dirty="0"/>
          </a:p>
        </p:txBody>
      </p:sp>
      <p:sp>
        <p:nvSpPr>
          <p:cNvPr id="5" name="Text 3"/>
          <p:cNvSpPr/>
          <p:nvPr/>
        </p:nvSpPr>
        <p:spPr>
          <a:xfrm>
            <a:off x="868680" y="1965960"/>
            <a:ext cx="4572000" cy="457200"/>
          </a:xfrm>
          <a:prstGeom prst="rect">
            <a:avLst/>
          </a:prstGeom>
          <a:noFill/>
          <a:ln/>
        </p:spPr>
        <p:txBody>
          <a:bodyPr wrap="square" rtlCol="0" anchor="ctr"/>
          <a:lstStyle/>
          <a:p>
            <a:pPr marL="0" indent="0">
              <a:buNone/>
            </a:pPr>
            <a:r>
              <a:rPr lang="en-US" sz="1700" b="1" dirty="0">
                <a:solidFill>
                  <a:srgbClr val="FFFFFF"/>
                </a:solidFill>
              </a:rPr>
              <a:t>Fleet maintenance manager</a:t>
            </a:r>
            <a:endParaRPr lang="en-US" sz="1700" dirty="0"/>
          </a:p>
        </p:txBody>
      </p:sp>
      <p:sp>
        <p:nvSpPr>
          <p:cNvPr id="6" name="Text 4"/>
          <p:cNvSpPr/>
          <p:nvPr/>
        </p:nvSpPr>
        <p:spPr>
          <a:xfrm>
            <a:off x="868680" y="2395728"/>
            <a:ext cx="4572000" cy="274320"/>
          </a:xfrm>
          <a:prstGeom prst="rect">
            <a:avLst/>
          </a:prstGeom>
          <a:noFill/>
          <a:ln/>
        </p:spPr>
        <p:txBody>
          <a:bodyPr wrap="square" rtlCol="0" anchor="ctr"/>
          <a:lstStyle/>
          <a:p>
            <a:pPr marL="0" indent="0">
              <a:buNone/>
            </a:pPr>
            <a:r>
              <a:rPr lang="en-US" sz="1100" b="1" kern="0" spc="100" dirty="0">
                <a:solidFill>
                  <a:srgbClr val="F2A93B"/>
                </a:solidFill>
              </a:rPr>
              <a:t>PRIMARY</a:t>
            </a:r>
            <a:endParaRPr lang="en-US" sz="1100" dirty="0"/>
          </a:p>
        </p:txBody>
      </p:sp>
      <p:sp>
        <p:nvSpPr>
          <p:cNvPr id="7" name="Text 5"/>
          <p:cNvSpPr/>
          <p:nvPr/>
        </p:nvSpPr>
        <p:spPr>
          <a:xfrm>
            <a:off x="868680" y="2788920"/>
            <a:ext cx="4572000" cy="2286000"/>
          </a:xfrm>
          <a:prstGeom prst="rect">
            <a:avLst/>
          </a:prstGeom>
          <a:noFill/>
          <a:ln/>
        </p:spPr>
        <p:txBody>
          <a:bodyPr wrap="square" rtlCol="0" anchor="ctr"/>
          <a:lstStyle/>
          <a:p>
            <a:pPr marL="342900" indent="-342900">
              <a:spcAft>
                <a:spcPts val="800"/>
              </a:spcAft>
              <a:buSzPct val="100000"/>
              <a:buChar char="•"/>
            </a:pPr>
            <a:r>
              <a:rPr lang="en-US" sz="1350" dirty="0">
                <a:solidFill>
                  <a:srgbClr val="CADCFC"/>
                </a:solidFill>
              </a:rPr>
              <a:t>Watches continuous telemetry across the whole fleet</a:t>
            </a:r>
            <a:endParaRPr lang="en-US" sz="1350" dirty="0"/>
          </a:p>
          <a:p>
            <a:pPr marL="342900" indent="-342900">
              <a:spcAft>
                <a:spcPts val="800"/>
              </a:spcAft>
              <a:buSzPct val="100000"/>
              <a:buChar char="•"/>
            </a:pPr>
            <a:r>
              <a:rPr lang="en-US" sz="1350" dirty="0">
                <a:solidFill>
                  <a:srgbClr val="CADCFC"/>
                </a:solidFill>
              </a:rPr>
              <a:t>Question: readings are trending toward a fault, bring it in proactively, or is it fine?</a:t>
            </a:r>
            <a:endParaRPr lang="en-US" sz="1350" dirty="0"/>
          </a:p>
          <a:p>
            <a:pPr marL="342900" indent="-342900">
              <a:spcAft>
                <a:spcPts val="800"/>
              </a:spcAft>
              <a:buSzPct val="100000"/>
              <a:buChar char="•"/>
            </a:pPr>
            <a:r>
              <a:rPr lang="en-US" sz="1350" dirty="0">
                <a:solidFill>
                  <a:srgbClr val="CADCFC"/>
                </a:solidFill>
              </a:rPr>
              <a:t>A proactive scheduling decision, not a repair job</a:t>
            </a:r>
            <a:endParaRPr lang="en-US" sz="1350" dirty="0"/>
          </a:p>
        </p:txBody>
      </p:sp>
      <p:sp>
        <p:nvSpPr>
          <p:cNvPr id="8" name="Shape 6"/>
          <p:cNvSpPr/>
          <p:nvPr/>
        </p:nvSpPr>
        <p:spPr>
          <a:xfrm>
            <a:off x="6126480" y="1737360"/>
            <a:ext cx="5212080" cy="3566160"/>
          </a:xfrm>
          <a:prstGeom prst="roundRect">
            <a:avLst>
              <a:gd name="adj" fmla="val 2051"/>
            </a:avLst>
          </a:prstGeom>
          <a:solidFill>
            <a:srgbClr val="FFFFFF"/>
          </a:solidFill>
          <a:ln w="12700">
            <a:solidFill>
              <a:srgbClr val="E4E8F0"/>
            </a:solidFill>
            <a:prstDash val="solid"/>
          </a:ln>
        </p:spPr>
      </p:sp>
      <p:sp>
        <p:nvSpPr>
          <p:cNvPr id="9" name="Text 7"/>
          <p:cNvSpPr/>
          <p:nvPr/>
        </p:nvSpPr>
        <p:spPr>
          <a:xfrm>
            <a:off x="6446520" y="1965960"/>
            <a:ext cx="4572000" cy="457200"/>
          </a:xfrm>
          <a:prstGeom prst="rect">
            <a:avLst/>
          </a:prstGeom>
          <a:noFill/>
          <a:ln/>
        </p:spPr>
        <p:txBody>
          <a:bodyPr wrap="square" rtlCol="0" anchor="ctr"/>
          <a:lstStyle/>
          <a:p>
            <a:pPr marL="0" indent="0">
              <a:buNone/>
            </a:pPr>
            <a:r>
              <a:rPr lang="en-US" sz="1700" b="1" dirty="0">
                <a:solidFill>
                  <a:srgbClr val="161C4A"/>
                </a:solidFill>
              </a:rPr>
              <a:t>OEM / dealer diagnostic engineer</a:t>
            </a:r>
            <a:endParaRPr lang="en-US" sz="1700" dirty="0"/>
          </a:p>
        </p:txBody>
      </p:sp>
      <p:sp>
        <p:nvSpPr>
          <p:cNvPr id="10" name="Text 8"/>
          <p:cNvSpPr/>
          <p:nvPr/>
        </p:nvSpPr>
        <p:spPr>
          <a:xfrm>
            <a:off x="6446520" y="2395728"/>
            <a:ext cx="4572000" cy="274320"/>
          </a:xfrm>
          <a:prstGeom prst="rect">
            <a:avLst/>
          </a:prstGeom>
          <a:noFill/>
          <a:ln/>
        </p:spPr>
        <p:txBody>
          <a:bodyPr wrap="square" rtlCol="0" anchor="ctr"/>
          <a:lstStyle/>
          <a:p>
            <a:pPr marL="0" indent="0">
              <a:buNone/>
            </a:pPr>
            <a:r>
              <a:rPr lang="en-US" sz="1100" b="1" kern="0" spc="100" dirty="0">
                <a:solidFill>
                  <a:srgbClr val="F2A93B"/>
                </a:solidFill>
              </a:rPr>
              <a:t>SECONDARY</a:t>
            </a:r>
            <a:endParaRPr lang="en-US" sz="1100" dirty="0"/>
          </a:p>
        </p:txBody>
      </p:sp>
      <p:sp>
        <p:nvSpPr>
          <p:cNvPr id="11" name="Text 9"/>
          <p:cNvSpPr/>
          <p:nvPr/>
        </p:nvSpPr>
        <p:spPr>
          <a:xfrm>
            <a:off x="6446520" y="2788920"/>
            <a:ext cx="4572000" cy="2286000"/>
          </a:xfrm>
          <a:prstGeom prst="rect">
            <a:avLst/>
          </a:prstGeom>
          <a:noFill/>
          <a:ln/>
        </p:spPr>
        <p:txBody>
          <a:bodyPr wrap="square" rtlCol="0" anchor="ctr"/>
          <a:lstStyle/>
          <a:p>
            <a:pPr marL="342900" indent="-342900">
              <a:spcAft>
                <a:spcPts val="800"/>
              </a:spcAft>
              <a:buSzPct val="100000"/>
              <a:buChar char="•"/>
            </a:pPr>
            <a:r>
              <a:rPr lang="en-US" sz="1350" dirty="0">
                <a:solidFill>
                  <a:srgbClr val="5B6478"/>
                </a:solidFill>
              </a:rPr>
              <a:t>Vehicle is already at the shop, a fault has already fired</a:t>
            </a:r>
            <a:endParaRPr lang="en-US" sz="1350" dirty="0"/>
          </a:p>
          <a:p>
            <a:pPr marL="342900" indent="-342900">
              <a:spcAft>
                <a:spcPts val="800"/>
              </a:spcAft>
              <a:buSzPct val="100000"/>
              <a:buChar char="•"/>
            </a:pPr>
            <a:r>
              <a:rPr lang="en-US" sz="1350" dirty="0">
                <a:solidFill>
                  <a:srgbClr val="5B6478"/>
                </a:solidFill>
              </a:rPr>
              <a:t>Question: what's the root cause, has this been seen before, what's the fix?</a:t>
            </a:r>
            <a:endParaRPr lang="en-US" sz="1350" dirty="0"/>
          </a:p>
          <a:p>
            <a:pPr marL="342900" indent="-342900">
              <a:spcAft>
                <a:spcPts val="800"/>
              </a:spcAft>
              <a:buSzPct val="100000"/>
              <a:buChar char="•"/>
            </a:pPr>
            <a:r>
              <a:rPr lang="en-US" sz="1350" dirty="0">
                <a:solidFill>
                  <a:srgbClr val="5B6478"/>
                </a:solidFill>
              </a:rPr>
              <a:t>A reactive root-cause and repair question</a:t>
            </a:r>
            <a:endParaRPr lang="en-US" sz="1350" dirty="0"/>
          </a:p>
        </p:txBody>
      </p:sp>
      <p:sp>
        <p:nvSpPr>
          <p:cNvPr id="12" name="Text 10"/>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STATUS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What's done, what's next</a:t>
            </a:r>
            <a:endParaRPr lang="en-US" sz="3000" dirty="0"/>
          </a:p>
        </p:txBody>
      </p:sp>
      <p:sp>
        <p:nvSpPr>
          <p:cNvPr id="4" name="Text 2"/>
          <p:cNvSpPr/>
          <p:nvPr/>
        </p:nvSpPr>
        <p:spPr>
          <a:xfrm>
            <a:off x="548640" y="1417320"/>
            <a:ext cx="10789920" cy="365760"/>
          </a:xfrm>
          <a:prstGeom prst="rect">
            <a:avLst/>
          </a:prstGeom>
          <a:noFill/>
          <a:ln/>
        </p:spPr>
        <p:txBody>
          <a:bodyPr wrap="square" rtlCol="0" anchor="ctr"/>
          <a:lstStyle/>
          <a:p>
            <a:pPr marL="0" indent="0">
              <a:buNone/>
            </a:pPr>
            <a:r>
              <a:rPr lang="en-US" sz="1250" i="1" dirty="0">
                <a:solidFill>
                  <a:srgbClr val="F2A93B"/>
                </a:solidFill>
              </a:rPr>
              <a:t>Officially still Week 1 on the program calendar, prep work ahead of kickoff put us ahead on a few items below.</a:t>
            </a:r>
            <a:endParaRPr lang="en-US" sz="1250" dirty="0"/>
          </a:p>
        </p:txBody>
      </p:sp>
      <p:sp>
        <p:nvSpPr>
          <p:cNvPr id="5" name="Text 3"/>
          <p:cNvSpPr/>
          <p:nvPr/>
        </p:nvSpPr>
        <p:spPr>
          <a:xfrm>
            <a:off x="548640" y="1965960"/>
            <a:ext cx="3291840" cy="320040"/>
          </a:xfrm>
          <a:prstGeom prst="rect">
            <a:avLst/>
          </a:prstGeom>
          <a:noFill/>
          <a:ln/>
        </p:spPr>
        <p:txBody>
          <a:bodyPr wrap="square" rtlCol="0" anchor="ctr"/>
          <a:lstStyle/>
          <a:p>
            <a:pPr marL="0" indent="0">
              <a:buNone/>
            </a:pPr>
            <a:r>
              <a:rPr lang="en-US" sz="1200" b="1" dirty="0">
                <a:solidFill>
                  <a:srgbClr val="161C4A"/>
                </a:solidFill>
              </a:rPr>
              <a:t>Workstream</a:t>
            </a:r>
            <a:endParaRPr lang="en-US" sz="1200" dirty="0"/>
          </a:p>
        </p:txBody>
      </p:sp>
      <p:sp>
        <p:nvSpPr>
          <p:cNvPr id="6" name="Text 4"/>
          <p:cNvSpPr/>
          <p:nvPr/>
        </p:nvSpPr>
        <p:spPr>
          <a:xfrm>
            <a:off x="3931920" y="1965960"/>
            <a:ext cx="1554480" cy="320040"/>
          </a:xfrm>
          <a:prstGeom prst="rect">
            <a:avLst/>
          </a:prstGeom>
          <a:noFill/>
          <a:ln/>
        </p:spPr>
        <p:txBody>
          <a:bodyPr wrap="square" rtlCol="0" anchor="ctr"/>
          <a:lstStyle/>
          <a:p>
            <a:pPr marL="0" indent="0">
              <a:buNone/>
            </a:pPr>
            <a:r>
              <a:rPr lang="en-US" sz="1200" b="1" dirty="0">
                <a:solidFill>
                  <a:srgbClr val="161C4A"/>
                </a:solidFill>
              </a:rPr>
              <a:t>Status</a:t>
            </a:r>
            <a:endParaRPr lang="en-US" sz="1200" dirty="0"/>
          </a:p>
        </p:txBody>
      </p:sp>
      <p:sp>
        <p:nvSpPr>
          <p:cNvPr id="7" name="Text 5"/>
          <p:cNvSpPr/>
          <p:nvPr/>
        </p:nvSpPr>
        <p:spPr>
          <a:xfrm>
            <a:off x="5577840" y="1965960"/>
            <a:ext cx="5577840" cy="320040"/>
          </a:xfrm>
          <a:prstGeom prst="rect">
            <a:avLst/>
          </a:prstGeom>
          <a:noFill/>
          <a:ln/>
        </p:spPr>
        <p:txBody>
          <a:bodyPr wrap="square" rtlCol="0" anchor="ctr"/>
          <a:lstStyle/>
          <a:p>
            <a:pPr marL="0" indent="0">
              <a:buNone/>
            </a:pPr>
            <a:r>
              <a:rPr lang="en-US" sz="1200" b="1" dirty="0">
                <a:solidFill>
                  <a:srgbClr val="161C4A"/>
                </a:solidFill>
              </a:rPr>
              <a:t>Note</a:t>
            </a:r>
            <a:endParaRPr lang="en-US" sz="1200" dirty="0"/>
          </a:p>
        </p:txBody>
      </p:sp>
      <p:sp>
        <p:nvSpPr>
          <p:cNvPr id="8" name="Shape 6"/>
          <p:cNvSpPr/>
          <p:nvPr/>
        </p:nvSpPr>
        <p:spPr>
          <a:xfrm>
            <a:off x="548640" y="2313432"/>
            <a:ext cx="10607040" cy="0"/>
          </a:xfrm>
          <a:prstGeom prst="line">
            <a:avLst/>
          </a:prstGeom>
          <a:noFill/>
          <a:ln w="12700">
            <a:solidFill>
              <a:srgbClr val="D9DEE7"/>
            </a:solidFill>
            <a:prstDash val="solid"/>
          </a:ln>
        </p:spPr>
      </p:sp>
      <p:sp>
        <p:nvSpPr>
          <p:cNvPr id="9" name="Shape 7"/>
          <p:cNvSpPr/>
          <p:nvPr/>
        </p:nvSpPr>
        <p:spPr>
          <a:xfrm>
            <a:off x="548640" y="2514600"/>
            <a:ext cx="128016" cy="128016"/>
          </a:xfrm>
          <a:prstGeom prst="ellipse">
            <a:avLst/>
          </a:prstGeom>
          <a:solidFill>
            <a:srgbClr val="3F7D5C"/>
          </a:solidFill>
          <a:ln w="12700">
            <a:solidFill>
              <a:srgbClr val="3F7D5C"/>
            </a:solidFill>
            <a:prstDash val="solid"/>
          </a:ln>
        </p:spPr>
      </p:sp>
      <p:sp>
        <p:nvSpPr>
          <p:cNvPr id="10" name="Text 8"/>
          <p:cNvSpPr/>
          <p:nvPr/>
        </p:nvSpPr>
        <p:spPr>
          <a:xfrm>
            <a:off x="777240" y="2423160"/>
            <a:ext cx="3063240" cy="365760"/>
          </a:xfrm>
          <a:prstGeom prst="rect">
            <a:avLst/>
          </a:prstGeom>
          <a:noFill/>
          <a:ln/>
        </p:spPr>
        <p:txBody>
          <a:bodyPr wrap="square" rtlCol="0" anchor="ctr"/>
          <a:lstStyle/>
          <a:p>
            <a:pPr marL="0" indent="0">
              <a:buNone/>
            </a:pPr>
            <a:r>
              <a:rPr lang="en-US" sz="1250" b="1" dirty="0">
                <a:solidFill>
                  <a:srgbClr val="161C4A"/>
                </a:solidFill>
              </a:rPr>
              <a:t>Subsystem locked</a:t>
            </a:r>
            <a:endParaRPr lang="en-US" sz="1250" dirty="0"/>
          </a:p>
        </p:txBody>
      </p:sp>
      <p:sp>
        <p:nvSpPr>
          <p:cNvPr id="11" name="Text 9"/>
          <p:cNvSpPr/>
          <p:nvPr/>
        </p:nvSpPr>
        <p:spPr>
          <a:xfrm>
            <a:off x="3931920" y="2423160"/>
            <a:ext cx="1554480" cy="365760"/>
          </a:xfrm>
          <a:prstGeom prst="rect">
            <a:avLst/>
          </a:prstGeom>
          <a:noFill/>
          <a:ln/>
        </p:spPr>
        <p:txBody>
          <a:bodyPr wrap="square" rtlCol="0" anchor="ctr"/>
          <a:lstStyle/>
          <a:p>
            <a:pPr marL="0" indent="0">
              <a:buNone/>
            </a:pPr>
            <a:r>
              <a:rPr lang="en-US" sz="1200" dirty="0">
                <a:solidFill>
                  <a:srgbClr val="5B6478"/>
                </a:solidFill>
              </a:rPr>
              <a:t>Done</a:t>
            </a:r>
            <a:endParaRPr lang="en-US" sz="1200" dirty="0"/>
          </a:p>
        </p:txBody>
      </p:sp>
      <p:sp>
        <p:nvSpPr>
          <p:cNvPr id="12" name="Text 10"/>
          <p:cNvSpPr/>
          <p:nvPr/>
        </p:nvSpPr>
        <p:spPr>
          <a:xfrm>
            <a:off x="5577840" y="2423160"/>
            <a:ext cx="5577840" cy="365760"/>
          </a:xfrm>
          <a:prstGeom prst="rect">
            <a:avLst/>
          </a:prstGeom>
          <a:noFill/>
          <a:ln/>
        </p:spPr>
        <p:txBody>
          <a:bodyPr wrap="square" rtlCol="0" anchor="ctr"/>
          <a:lstStyle/>
          <a:p>
            <a:pPr marL="0" indent="0">
              <a:buNone/>
            </a:pPr>
            <a:r>
              <a:rPr lang="en-US" sz="1150" dirty="0">
                <a:solidFill>
                  <a:srgbClr val="5B6478"/>
                </a:solidFill>
              </a:rPr>
              <a:t>Battery / EV</a:t>
            </a:r>
            <a:endParaRPr lang="en-US" sz="1150" dirty="0"/>
          </a:p>
        </p:txBody>
      </p:sp>
      <p:sp>
        <p:nvSpPr>
          <p:cNvPr id="13" name="Shape 11"/>
          <p:cNvSpPr/>
          <p:nvPr/>
        </p:nvSpPr>
        <p:spPr>
          <a:xfrm>
            <a:off x="548640" y="2990088"/>
            <a:ext cx="128016" cy="128016"/>
          </a:xfrm>
          <a:prstGeom prst="ellipse">
            <a:avLst/>
          </a:prstGeom>
          <a:solidFill>
            <a:srgbClr val="3F7D5C"/>
          </a:solidFill>
          <a:ln w="12700">
            <a:solidFill>
              <a:srgbClr val="3F7D5C"/>
            </a:solidFill>
            <a:prstDash val="solid"/>
          </a:ln>
        </p:spPr>
      </p:sp>
      <p:sp>
        <p:nvSpPr>
          <p:cNvPr id="14" name="Text 12"/>
          <p:cNvSpPr/>
          <p:nvPr/>
        </p:nvSpPr>
        <p:spPr>
          <a:xfrm>
            <a:off x="777240" y="2898648"/>
            <a:ext cx="3063240" cy="365760"/>
          </a:xfrm>
          <a:prstGeom prst="rect">
            <a:avLst/>
          </a:prstGeom>
          <a:noFill/>
          <a:ln/>
        </p:spPr>
        <p:txBody>
          <a:bodyPr wrap="square" rtlCol="0" anchor="ctr"/>
          <a:lstStyle/>
          <a:p>
            <a:pPr marL="0" indent="0">
              <a:buNone/>
            </a:pPr>
            <a:r>
              <a:rPr lang="en-US" sz="1250" b="1" dirty="0">
                <a:solidFill>
                  <a:srgbClr val="161C4A"/>
                </a:solidFill>
              </a:rPr>
              <a:t>Classifier dataset</a:t>
            </a:r>
            <a:endParaRPr lang="en-US" sz="1250" dirty="0"/>
          </a:p>
        </p:txBody>
      </p:sp>
      <p:sp>
        <p:nvSpPr>
          <p:cNvPr id="15" name="Text 13"/>
          <p:cNvSpPr/>
          <p:nvPr/>
        </p:nvSpPr>
        <p:spPr>
          <a:xfrm>
            <a:off x="3931920" y="2898648"/>
            <a:ext cx="1554480" cy="365760"/>
          </a:xfrm>
          <a:prstGeom prst="rect">
            <a:avLst/>
          </a:prstGeom>
          <a:noFill/>
          <a:ln/>
        </p:spPr>
        <p:txBody>
          <a:bodyPr wrap="square" rtlCol="0" anchor="ctr"/>
          <a:lstStyle/>
          <a:p>
            <a:pPr marL="0" indent="0">
              <a:buNone/>
            </a:pPr>
            <a:r>
              <a:rPr lang="en-US" sz="1200" dirty="0">
                <a:solidFill>
                  <a:srgbClr val="5B6478"/>
                </a:solidFill>
              </a:rPr>
              <a:t>Done</a:t>
            </a:r>
            <a:endParaRPr lang="en-US" sz="1200" dirty="0"/>
          </a:p>
        </p:txBody>
      </p:sp>
      <p:sp>
        <p:nvSpPr>
          <p:cNvPr id="16" name="Text 14"/>
          <p:cNvSpPr/>
          <p:nvPr/>
        </p:nvSpPr>
        <p:spPr>
          <a:xfrm>
            <a:off x="5577840" y="2898648"/>
            <a:ext cx="5577840" cy="365760"/>
          </a:xfrm>
          <a:prstGeom prst="rect">
            <a:avLst/>
          </a:prstGeom>
          <a:noFill/>
          <a:ln/>
        </p:spPr>
        <p:txBody>
          <a:bodyPr wrap="square" rtlCol="0" anchor="ctr"/>
          <a:lstStyle/>
          <a:p>
            <a:pPr marL="0" indent="0">
              <a:buNone/>
            </a:pPr>
            <a:r>
              <a:rPr lang="en-US" sz="1150" dirty="0">
                <a:solidFill>
                  <a:srgbClr val="5B6478"/>
                </a:solidFill>
              </a:rPr>
              <a:t>175,200 rows, cleaned, labeled, EDA'd</a:t>
            </a:r>
            <a:endParaRPr lang="en-US" sz="1150" dirty="0"/>
          </a:p>
        </p:txBody>
      </p:sp>
      <p:sp>
        <p:nvSpPr>
          <p:cNvPr id="17" name="Shape 15"/>
          <p:cNvSpPr/>
          <p:nvPr/>
        </p:nvSpPr>
        <p:spPr>
          <a:xfrm>
            <a:off x="548640" y="3465576"/>
            <a:ext cx="128016" cy="128016"/>
          </a:xfrm>
          <a:prstGeom prst="ellipse">
            <a:avLst/>
          </a:prstGeom>
          <a:solidFill>
            <a:srgbClr val="3F7D5C"/>
          </a:solidFill>
          <a:ln w="12700">
            <a:solidFill>
              <a:srgbClr val="3F7D5C"/>
            </a:solidFill>
            <a:prstDash val="solid"/>
          </a:ln>
        </p:spPr>
      </p:sp>
      <p:sp>
        <p:nvSpPr>
          <p:cNvPr id="18" name="Text 16"/>
          <p:cNvSpPr/>
          <p:nvPr/>
        </p:nvSpPr>
        <p:spPr>
          <a:xfrm>
            <a:off x="777240" y="3374136"/>
            <a:ext cx="3063240" cy="365760"/>
          </a:xfrm>
          <a:prstGeom prst="rect">
            <a:avLst/>
          </a:prstGeom>
          <a:noFill/>
          <a:ln/>
        </p:spPr>
        <p:txBody>
          <a:bodyPr wrap="square" rtlCol="0" anchor="ctr"/>
          <a:lstStyle/>
          <a:p>
            <a:pPr marL="0" indent="0">
              <a:buNone/>
            </a:pPr>
            <a:r>
              <a:rPr lang="en-US" sz="1250" b="1" dirty="0">
                <a:solidFill>
                  <a:srgbClr val="161C4A"/>
                </a:solidFill>
              </a:rPr>
              <a:t>NHTSA RAG corpus</a:t>
            </a:r>
            <a:endParaRPr lang="en-US" sz="1250" dirty="0"/>
          </a:p>
        </p:txBody>
      </p:sp>
      <p:sp>
        <p:nvSpPr>
          <p:cNvPr id="19" name="Text 17"/>
          <p:cNvSpPr/>
          <p:nvPr/>
        </p:nvSpPr>
        <p:spPr>
          <a:xfrm>
            <a:off x="3931920" y="3374136"/>
            <a:ext cx="1554480" cy="365760"/>
          </a:xfrm>
          <a:prstGeom prst="rect">
            <a:avLst/>
          </a:prstGeom>
          <a:noFill/>
          <a:ln/>
        </p:spPr>
        <p:txBody>
          <a:bodyPr wrap="square" rtlCol="0" anchor="ctr"/>
          <a:lstStyle/>
          <a:p>
            <a:pPr marL="0" indent="0">
              <a:buNone/>
            </a:pPr>
            <a:r>
              <a:rPr lang="en-US" sz="1200" dirty="0">
                <a:solidFill>
                  <a:srgbClr val="5B6478"/>
                </a:solidFill>
              </a:rPr>
              <a:t>Done</a:t>
            </a:r>
            <a:endParaRPr lang="en-US" sz="1200" dirty="0"/>
          </a:p>
        </p:txBody>
      </p:sp>
      <p:sp>
        <p:nvSpPr>
          <p:cNvPr id="20" name="Text 18"/>
          <p:cNvSpPr/>
          <p:nvPr/>
        </p:nvSpPr>
        <p:spPr>
          <a:xfrm>
            <a:off x="5577840" y="3374136"/>
            <a:ext cx="5577840" cy="365760"/>
          </a:xfrm>
          <a:prstGeom prst="rect">
            <a:avLst/>
          </a:prstGeom>
          <a:noFill/>
          <a:ln/>
        </p:spPr>
        <p:txBody>
          <a:bodyPr wrap="square" rtlCol="0" anchor="ctr"/>
          <a:lstStyle/>
          <a:p>
            <a:pPr marL="0" indent="0">
              <a:buNone/>
            </a:pPr>
            <a:r>
              <a:rPr lang="en-US" sz="1150" dirty="0">
                <a:solidFill>
                  <a:srgbClr val="5B6478"/>
                </a:solidFill>
              </a:rPr>
              <a:t>202 recalls + 3,329 complaints, filtered</a:t>
            </a:r>
            <a:endParaRPr lang="en-US" sz="1150" dirty="0"/>
          </a:p>
        </p:txBody>
      </p:sp>
      <p:sp>
        <p:nvSpPr>
          <p:cNvPr id="21" name="Shape 19"/>
          <p:cNvSpPr/>
          <p:nvPr/>
        </p:nvSpPr>
        <p:spPr>
          <a:xfrm>
            <a:off x="548640" y="3941064"/>
            <a:ext cx="128016" cy="128016"/>
          </a:xfrm>
          <a:prstGeom prst="ellipse">
            <a:avLst/>
          </a:prstGeom>
          <a:solidFill>
            <a:srgbClr val="F2A93B"/>
          </a:solidFill>
          <a:ln w="12700">
            <a:solidFill>
              <a:srgbClr val="F2A93B"/>
            </a:solidFill>
            <a:prstDash val="solid"/>
          </a:ln>
        </p:spPr>
      </p:sp>
      <p:sp>
        <p:nvSpPr>
          <p:cNvPr id="22" name="Text 20"/>
          <p:cNvSpPr/>
          <p:nvPr/>
        </p:nvSpPr>
        <p:spPr>
          <a:xfrm>
            <a:off x="777240" y="3849624"/>
            <a:ext cx="3063240" cy="365760"/>
          </a:xfrm>
          <a:prstGeom prst="rect">
            <a:avLst/>
          </a:prstGeom>
          <a:noFill/>
          <a:ln/>
        </p:spPr>
        <p:txBody>
          <a:bodyPr wrap="square" rtlCol="0" anchor="ctr"/>
          <a:lstStyle/>
          <a:p>
            <a:pPr marL="0" indent="0">
              <a:buNone/>
            </a:pPr>
            <a:r>
              <a:rPr lang="en-US" sz="1250" b="1" dirty="0">
                <a:solidFill>
                  <a:srgbClr val="161C4A"/>
                </a:solidFill>
              </a:rPr>
              <a:t>Baseline classifier</a:t>
            </a:r>
            <a:endParaRPr lang="en-US" sz="1250" dirty="0"/>
          </a:p>
        </p:txBody>
      </p:sp>
      <p:sp>
        <p:nvSpPr>
          <p:cNvPr id="23" name="Text 21"/>
          <p:cNvSpPr/>
          <p:nvPr/>
        </p:nvSpPr>
        <p:spPr>
          <a:xfrm>
            <a:off x="3931920" y="3849624"/>
            <a:ext cx="1554480" cy="365760"/>
          </a:xfrm>
          <a:prstGeom prst="rect">
            <a:avLst/>
          </a:prstGeom>
          <a:noFill/>
          <a:ln/>
        </p:spPr>
        <p:txBody>
          <a:bodyPr wrap="square" rtlCol="0" anchor="ctr"/>
          <a:lstStyle/>
          <a:p>
            <a:pPr marL="0" indent="0">
              <a:buNone/>
            </a:pPr>
            <a:r>
              <a:rPr lang="en-US" sz="1200" dirty="0">
                <a:solidFill>
                  <a:srgbClr val="5B6478"/>
                </a:solidFill>
              </a:rPr>
              <a:t>Reworked</a:t>
            </a:r>
            <a:endParaRPr lang="en-US" sz="1200" dirty="0"/>
          </a:p>
        </p:txBody>
      </p:sp>
      <p:sp>
        <p:nvSpPr>
          <p:cNvPr id="24" name="Text 22"/>
          <p:cNvSpPr/>
          <p:nvPr/>
        </p:nvSpPr>
        <p:spPr>
          <a:xfrm>
            <a:off x="5577840" y="3849624"/>
            <a:ext cx="5577840" cy="365760"/>
          </a:xfrm>
          <a:prstGeom prst="rect">
            <a:avLst/>
          </a:prstGeom>
          <a:noFill/>
          <a:ln/>
        </p:spPr>
        <p:txBody>
          <a:bodyPr wrap="square" rtlCol="0" anchor="ctr"/>
          <a:lstStyle/>
          <a:p>
            <a:pPr marL="0" indent="0">
              <a:buNone/>
            </a:pPr>
            <a:r>
              <a:rPr lang="en-US" sz="1150" dirty="0">
                <a:solidFill>
                  <a:srgbClr val="5B6478"/>
                </a:solidFill>
              </a:rPr>
              <a:t>Reframed to forecasting after a methodology catch, real ~0.60 macro F1</a:t>
            </a:r>
            <a:endParaRPr lang="en-US" sz="1150" dirty="0"/>
          </a:p>
        </p:txBody>
      </p:sp>
      <p:sp>
        <p:nvSpPr>
          <p:cNvPr id="25" name="Shape 23"/>
          <p:cNvSpPr/>
          <p:nvPr/>
        </p:nvSpPr>
        <p:spPr>
          <a:xfrm>
            <a:off x="548640" y="4416552"/>
            <a:ext cx="128016" cy="128016"/>
          </a:xfrm>
          <a:prstGeom prst="ellipse">
            <a:avLst/>
          </a:prstGeom>
          <a:solidFill>
            <a:srgbClr val="5B6478"/>
          </a:solidFill>
          <a:ln w="12700">
            <a:solidFill>
              <a:srgbClr val="5B6478"/>
            </a:solidFill>
            <a:prstDash val="solid"/>
          </a:ln>
        </p:spPr>
      </p:sp>
      <p:sp>
        <p:nvSpPr>
          <p:cNvPr id="26" name="Text 24"/>
          <p:cNvSpPr/>
          <p:nvPr/>
        </p:nvSpPr>
        <p:spPr>
          <a:xfrm>
            <a:off x="777240" y="4325112"/>
            <a:ext cx="3063240" cy="365760"/>
          </a:xfrm>
          <a:prstGeom prst="rect">
            <a:avLst/>
          </a:prstGeom>
          <a:noFill/>
          <a:ln/>
        </p:spPr>
        <p:txBody>
          <a:bodyPr wrap="square" rtlCol="0" anchor="ctr"/>
          <a:lstStyle/>
          <a:p>
            <a:pPr marL="0" indent="0">
              <a:buNone/>
            </a:pPr>
            <a:r>
              <a:rPr lang="en-US" sz="1250" b="1" dirty="0">
                <a:solidFill>
                  <a:srgbClr val="161C4A"/>
                </a:solidFill>
              </a:rPr>
              <a:t>RAG embeddings + retrieval</a:t>
            </a:r>
            <a:endParaRPr lang="en-US" sz="1250" dirty="0"/>
          </a:p>
        </p:txBody>
      </p:sp>
      <p:sp>
        <p:nvSpPr>
          <p:cNvPr id="27" name="Text 25"/>
          <p:cNvSpPr/>
          <p:nvPr/>
        </p:nvSpPr>
        <p:spPr>
          <a:xfrm>
            <a:off x="3931920" y="4325112"/>
            <a:ext cx="1554480" cy="365760"/>
          </a:xfrm>
          <a:prstGeom prst="rect">
            <a:avLst/>
          </a:prstGeom>
          <a:noFill/>
          <a:ln/>
        </p:spPr>
        <p:txBody>
          <a:bodyPr wrap="square" rtlCol="0" anchor="ctr"/>
          <a:lstStyle/>
          <a:p>
            <a:pPr marL="0" indent="0">
              <a:buNone/>
            </a:pPr>
            <a:r>
              <a:rPr lang="en-US" sz="1200" dirty="0">
                <a:solidFill>
                  <a:srgbClr val="5B6478"/>
                </a:solidFill>
              </a:rPr>
              <a:t>Not started</a:t>
            </a:r>
            <a:endParaRPr lang="en-US" sz="1200" dirty="0"/>
          </a:p>
        </p:txBody>
      </p:sp>
      <p:sp>
        <p:nvSpPr>
          <p:cNvPr id="28" name="Text 26"/>
          <p:cNvSpPr/>
          <p:nvPr/>
        </p:nvSpPr>
        <p:spPr>
          <a:xfrm>
            <a:off x="5577840" y="4325112"/>
            <a:ext cx="5577840" cy="365760"/>
          </a:xfrm>
          <a:prstGeom prst="rect">
            <a:avLst/>
          </a:prstGeom>
          <a:noFill/>
          <a:ln/>
        </p:spPr>
        <p:txBody>
          <a:bodyPr wrap="square" rtlCol="0" anchor="ctr"/>
          <a:lstStyle/>
          <a:p>
            <a:pPr marL="0" indent="0">
              <a:buNone/>
            </a:pPr>
            <a:r>
              <a:rPr lang="en-US" sz="1150" dirty="0">
                <a:solidFill>
                  <a:srgbClr val="5B6478"/>
                </a:solidFill>
              </a:rPr>
              <a:t>Next up</a:t>
            </a:r>
            <a:endParaRPr lang="en-US" sz="1150" dirty="0"/>
          </a:p>
        </p:txBody>
      </p:sp>
      <p:sp>
        <p:nvSpPr>
          <p:cNvPr id="29" name="Shape 27"/>
          <p:cNvSpPr/>
          <p:nvPr/>
        </p:nvSpPr>
        <p:spPr>
          <a:xfrm>
            <a:off x="548640" y="4892040"/>
            <a:ext cx="128016" cy="128016"/>
          </a:xfrm>
          <a:prstGeom prst="ellipse">
            <a:avLst/>
          </a:prstGeom>
          <a:solidFill>
            <a:srgbClr val="5B6478"/>
          </a:solidFill>
          <a:ln w="12700">
            <a:solidFill>
              <a:srgbClr val="5B6478"/>
            </a:solidFill>
            <a:prstDash val="solid"/>
          </a:ln>
        </p:spPr>
      </p:sp>
      <p:sp>
        <p:nvSpPr>
          <p:cNvPr id="30" name="Text 28"/>
          <p:cNvSpPr/>
          <p:nvPr/>
        </p:nvSpPr>
        <p:spPr>
          <a:xfrm>
            <a:off x="777240" y="4800600"/>
            <a:ext cx="3063240" cy="365760"/>
          </a:xfrm>
          <a:prstGeom prst="rect">
            <a:avLst/>
          </a:prstGeom>
          <a:noFill/>
          <a:ln/>
        </p:spPr>
        <p:txBody>
          <a:bodyPr wrap="square" rtlCol="0" anchor="ctr"/>
          <a:lstStyle/>
          <a:p>
            <a:pPr marL="0" indent="0">
              <a:buNone/>
            </a:pPr>
            <a:r>
              <a:rPr lang="en-US" sz="1250" b="1" dirty="0">
                <a:solidFill>
                  <a:srgbClr val="161C4A"/>
                </a:solidFill>
              </a:rPr>
              <a:t>Agent tool-calling loop</a:t>
            </a:r>
            <a:endParaRPr lang="en-US" sz="1250" dirty="0"/>
          </a:p>
        </p:txBody>
      </p:sp>
      <p:sp>
        <p:nvSpPr>
          <p:cNvPr id="31" name="Text 29"/>
          <p:cNvSpPr/>
          <p:nvPr/>
        </p:nvSpPr>
        <p:spPr>
          <a:xfrm>
            <a:off x="3931920" y="4800600"/>
            <a:ext cx="1554480" cy="365760"/>
          </a:xfrm>
          <a:prstGeom prst="rect">
            <a:avLst/>
          </a:prstGeom>
          <a:noFill/>
          <a:ln/>
        </p:spPr>
        <p:txBody>
          <a:bodyPr wrap="square" rtlCol="0" anchor="ctr"/>
          <a:lstStyle/>
          <a:p>
            <a:pPr marL="0" indent="0">
              <a:buNone/>
            </a:pPr>
            <a:r>
              <a:rPr lang="en-US" sz="1200" dirty="0">
                <a:solidFill>
                  <a:srgbClr val="5B6478"/>
                </a:solidFill>
              </a:rPr>
              <a:t>Not started</a:t>
            </a:r>
            <a:endParaRPr lang="en-US" sz="1200" dirty="0"/>
          </a:p>
        </p:txBody>
      </p:sp>
      <p:sp>
        <p:nvSpPr>
          <p:cNvPr id="32" name="Text 30"/>
          <p:cNvSpPr/>
          <p:nvPr/>
        </p:nvSpPr>
        <p:spPr>
          <a:xfrm>
            <a:off x="5577840" y="4800600"/>
            <a:ext cx="5577840" cy="365760"/>
          </a:xfrm>
          <a:prstGeom prst="rect">
            <a:avLst/>
          </a:prstGeom>
          <a:noFill/>
          <a:ln/>
        </p:spPr>
        <p:txBody>
          <a:bodyPr wrap="square" rtlCol="0" anchor="ctr"/>
          <a:lstStyle/>
          <a:p>
            <a:pPr marL="0" indent="0">
              <a:buNone/>
            </a:pPr>
            <a:r>
              <a:rPr lang="en-US" sz="1150" dirty="0">
                <a:solidFill>
                  <a:srgbClr val="5B6478"/>
                </a:solidFill>
              </a:rPr>
              <a:t>Next up</a:t>
            </a:r>
            <a:endParaRPr lang="en-US" sz="1150" dirty="0"/>
          </a:p>
        </p:txBody>
      </p:sp>
      <p:sp>
        <p:nvSpPr>
          <p:cNvPr id="33" name="Shape 31"/>
          <p:cNvSpPr/>
          <p:nvPr/>
        </p:nvSpPr>
        <p:spPr>
          <a:xfrm>
            <a:off x="548640" y="5367528"/>
            <a:ext cx="128016" cy="128016"/>
          </a:xfrm>
          <a:prstGeom prst="ellipse">
            <a:avLst/>
          </a:prstGeom>
          <a:solidFill>
            <a:srgbClr val="5B6478"/>
          </a:solidFill>
          <a:ln w="12700">
            <a:solidFill>
              <a:srgbClr val="5B6478"/>
            </a:solidFill>
            <a:prstDash val="solid"/>
          </a:ln>
        </p:spPr>
      </p:sp>
      <p:sp>
        <p:nvSpPr>
          <p:cNvPr id="34" name="Text 32"/>
          <p:cNvSpPr/>
          <p:nvPr/>
        </p:nvSpPr>
        <p:spPr>
          <a:xfrm>
            <a:off x="777240" y="5276088"/>
            <a:ext cx="3063240" cy="365760"/>
          </a:xfrm>
          <a:prstGeom prst="rect">
            <a:avLst/>
          </a:prstGeom>
          <a:noFill/>
          <a:ln/>
        </p:spPr>
        <p:txBody>
          <a:bodyPr wrap="square" rtlCol="0" anchor="ctr"/>
          <a:lstStyle/>
          <a:p>
            <a:pPr marL="0" indent="0">
              <a:buNone/>
            </a:pPr>
            <a:r>
              <a:rPr lang="en-US" sz="1250" b="1" dirty="0">
                <a:solidFill>
                  <a:srgbClr val="161C4A"/>
                </a:solidFill>
              </a:rPr>
              <a:t>Streamlit dashboard</a:t>
            </a:r>
            <a:endParaRPr lang="en-US" sz="1250" dirty="0"/>
          </a:p>
        </p:txBody>
      </p:sp>
      <p:sp>
        <p:nvSpPr>
          <p:cNvPr id="35" name="Text 33"/>
          <p:cNvSpPr/>
          <p:nvPr/>
        </p:nvSpPr>
        <p:spPr>
          <a:xfrm>
            <a:off x="3931920" y="5276088"/>
            <a:ext cx="1554480" cy="365760"/>
          </a:xfrm>
          <a:prstGeom prst="rect">
            <a:avLst/>
          </a:prstGeom>
          <a:noFill/>
          <a:ln/>
        </p:spPr>
        <p:txBody>
          <a:bodyPr wrap="square" rtlCol="0" anchor="ctr"/>
          <a:lstStyle/>
          <a:p>
            <a:pPr marL="0" indent="0">
              <a:buNone/>
            </a:pPr>
            <a:r>
              <a:rPr lang="en-US" sz="1200" dirty="0">
                <a:solidFill>
                  <a:srgbClr val="5B6478"/>
                </a:solidFill>
              </a:rPr>
              <a:t>Not started</a:t>
            </a:r>
            <a:endParaRPr lang="en-US" sz="1200" dirty="0"/>
          </a:p>
        </p:txBody>
      </p:sp>
      <p:sp>
        <p:nvSpPr>
          <p:cNvPr id="36" name="Text 34"/>
          <p:cNvSpPr/>
          <p:nvPr/>
        </p:nvSpPr>
        <p:spPr>
          <a:xfrm>
            <a:off x="5577840" y="5276088"/>
            <a:ext cx="5577840" cy="365760"/>
          </a:xfrm>
          <a:prstGeom prst="rect">
            <a:avLst/>
          </a:prstGeom>
          <a:noFill/>
          <a:ln/>
        </p:spPr>
        <p:txBody>
          <a:bodyPr wrap="square" rtlCol="0" anchor="ctr"/>
          <a:lstStyle/>
          <a:p>
            <a:pPr marL="0" indent="0">
              <a:buNone/>
            </a:pPr>
            <a:r>
              <a:rPr lang="en-US" sz="1150" dirty="0">
                <a:solidFill>
                  <a:srgbClr val="5B6478"/>
                </a:solidFill>
              </a:rPr>
              <a:t>Later</a:t>
            </a:r>
            <a:endParaRPr lang="en-US" sz="1150" dirty="0"/>
          </a:p>
        </p:txBody>
      </p:sp>
      <p:sp>
        <p:nvSpPr>
          <p:cNvPr id="37" name="Shape 35"/>
          <p:cNvSpPr/>
          <p:nvPr/>
        </p:nvSpPr>
        <p:spPr>
          <a:xfrm>
            <a:off x="548640" y="5843016"/>
            <a:ext cx="128016" cy="128016"/>
          </a:xfrm>
          <a:prstGeom prst="ellipse">
            <a:avLst/>
          </a:prstGeom>
          <a:solidFill>
            <a:srgbClr val="5B6478"/>
          </a:solidFill>
          <a:ln w="12700">
            <a:solidFill>
              <a:srgbClr val="5B6478"/>
            </a:solidFill>
            <a:prstDash val="solid"/>
          </a:ln>
        </p:spPr>
      </p:sp>
      <p:sp>
        <p:nvSpPr>
          <p:cNvPr id="38" name="Text 36"/>
          <p:cNvSpPr/>
          <p:nvPr/>
        </p:nvSpPr>
        <p:spPr>
          <a:xfrm>
            <a:off x="777240" y="5751576"/>
            <a:ext cx="3063240" cy="365760"/>
          </a:xfrm>
          <a:prstGeom prst="rect">
            <a:avLst/>
          </a:prstGeom>
          <a:noFill/>
          <a:ln/>
        </p:spPr>
        <p:txBody>
          <a:bodyPr wrap="square" rtlCol="0" anchor="ctr"/>
          <a:lstStyle/>
          <a:p>
            <a:pPr marL="0" indent="0">
              <a:buNone/>
            </a:pPr>
            <a:r>
              <a:rPr lang="en-US" sz="1250" b="1" dirty="0">
                <a:solidFill>
                  <a:srgbClr val="161C4A"/>
                </a:solidFill>
              </a:rPr>
              <a:t>Deployment + evaluation</a:t>
            </a:r>
            <a:endParaRPr lang="en-US" sz="1250" dirty="0"/>
          </a:p>
        </p:txBody>
      </p:sp>
      <p:sp>
        <p:nvSpPr>
          <p:cNvPr id="39" name="Text 37"/>
          <p:cNvSpPr/>
          <p:nvPr/>
        </p:nvSpPr>
        <p:spPr>
          <a:xfrm>
            <a:off x="3931920" y="5751576"/>
            <a:ext cx="1554480" cy="365760"/>
          </a:xfrm>
          <a:prstGeom prst="rect">
            <a:avLst/>
          </a:prstGeom>
          <a:noFill/>
          <a:ln/>
        </p:spPr>
        <p:txBody>
          <a:bodyPr wrap="square" rtlCol="0" anchor="ctr"/>
          <a:lstStyle/>
          <a:p>
            <a:pPr marL="0" indent="0">
              <a:buNone/>
            </a:pPr>
            <a:r>
              <a:rPr lang="en-US" sz="1200" dirty="0">
                <a:solidFill>
                  <a:srgbClr val="5B6478"/>
                </a:solidFill>
              </a:rPr>
              <a:t>Not started</a:t>
            </a:r>
            <a:endParaRPr lang="en-US" sz="1200" dirty="0"/>
          </a:p>
        </p:txBody>
      </p:sp>
      <p:sp>
        <p:nvSpPr>
          <p:cNvPr id="40" name="Text 38"/>
          <p:cNvSpPr/>
          <p:nvPr/>
        </p:nvSpPr>
        <p:spPr>
          <a:xfrm>
            <a:off x="5577840" y="5751576"/>
            <a:ext cx="5577840" cy="365760"/>
          </a:xfrm>
          <a:prstGeom prst="rect">
            <a:avLst/>
          </a:prstGeom>
          <a:noFill/>
          <a:ln/>
        </p:spPr>
        <p:txBody>
          <a:bodyPr wrap="square" rtlCol="0" anchor="ctr"/>
          <a:lstStyle/>
          <a:p>
            <a:pPr marL="0" indent="0">
              <a:buNone/>
            </a:pPr>
            <a:r>
              <a:rPr lang="en-US" sz="1150" dirty="0">
                <a:solidFill>
                  <a:srgbClr val="5B6478"/>
                </a:solidFill>
              </a:rPr>
              <a:t>Later</a:t>
            </a:r>
            <a:endParaRPr lang="en-US" sz="1150" dirty="0"/>
          </a:p>
        </p:txBody>
      </p:sp>
      <p:sp>
        <p:nvSpPr>
          <p:cNvPr id="41" name="Text 39"/>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C4A"/>
        </a:solidFill>
        <a:effectLst/>
      </p:bgPr>
    </p:bg>
    <p:spTree>
      <p:nvGrpSpPr>
        <p:cNvPr id="1" name=""/>
        <p:cNvGrpSpPr/>
        <p:nvPr/>
      </p:nvGrpSpPr>
      <p:grpSpPr>
        <a:xfrm>
          <a:off x="0" y="0"/>
          <a:ext cx="0" cy="0"/>
          <a:chOff x="0" y="0"/>
          <a:chExt cx="0" cy="0"/>
        </a:xfrm>
      </p:grpSpPr>
      <p:sp>
        <p:nvSpPr>
          <p:cNvPr id="2" name="Text 0"/>
          <p:cNvSpPr/>
          <p:nvPr/>
        </p:nvSpPr>
        <p:spPr>
          <a:xfrm>
            <a:off x="822960" y="502920"/>
            <a:ext cx="10058400" cy="365760"/>
          </a:xfrm>
          <a:prstGeom prst="rect">
            <a:avLst/>
          </a:prstGeom>
          <a:noFill/>
          <a:ln/>
        </p:spPr>
        <p:txBody>
          <a:bodyPr wrap="square" rtlCol="0" anchor="ctr"/>
          <a:lstStyle/>
          <a:p>
            <a:pPr marL="0" indent="0">
              <a:buNone/>
            </a:pPr>
            <a:r>
              <a:rPr lang="en-US" sz="1300" b="1" kern="0" spc="200" dirty="0">
                <a:solidFill>
                  <a:srgbClr val="F2A93B"/>
                </a:solidFill>
              </a:rPr>
              <a:t>A METHODOLOGY CATCH THIS WEEK</a:t>
            </a:r>
            <a:endParaRPr lang="en-US" sz="1300" dirty="0"/>
          </a:p>
        </p:txBody>
      </p:sp>
      <p:sp>
        <p:nvSpPr>
          <p:cNvPr id="3" name="Text 1"/>
          <p:cNvSpPr/>
          <p:nvPr/>
        </p:nvSpPr>
        <p:spPr>
          <a:xfrm>
            <a:off x="822960" y="868680"/>
            <a:ext cx="10515600" cy="7315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 perfect score that wasn't measuring anything hard</a:t>
            </a:r>
            <a:endParaRPr lang="en-US" sz="2600" dirty="0"/>
          </a:p>
        </p:txBody>
      </p:sp>
      <p:sp>
        <p:nvSpPr>
          <p:cNvPr id="4" name="Text 2"/>
          <p:cNvSpPr/>
          <p:nvPr/>
        </p:nvSpPr>
        <p:spPr>
          <a:xfrm>
            <a:off x="822960" y="1783080"/>
            <a:ext cx="10515600" cy="1280160"/>
          </a:xfrm>
          <a:prstGeom prst="rect">
            <a:avLst/>
          </a:prstGeom>
          <a:noFill/>
          <a:ln/>
        </p:spPr>
        <p:txBody>
          <a:bodyPr wrap="square" rtlCol="0" anchor="ctr"/>
          <a:lstStyle/>
          <a:p>
            <a:pPr marL="342900" indent="-342900">
              <a:spcAft>
                <a:spcPts val="800"/>
              </a:spcAft>
              <a:buSzPct val="100000"/>
              <a:buChar char="•"/>
            </a:pPr>
            <a:r>
              <a:rPr lang="en-US" sz="1500" dirty="0">
                <a:solidFill>
                  <a:srgbClr val="CADCFC"/>
                </a:solidFill>
              </a:rPr>
              <a:t>First classifier scored a suspicious 1.000 macro F1 by treating each hourly reading as independent</a:t>
            </a:r>
            <a:endParaRPr lang="en-US" sz="1500" dirty="0"/>
          </a:p>
          <a:p>
            <a:pPr marL="342900" indent="-342900">
              <a:spcAft>
                <a:spcPts val="800"/>
              </a:spcAft>
              <a:buSzPct val="100000"/>
              <a:buChar char="•"/>
            </a:pPr>
            <a:r>
              <a:rPr lang="en-US" sz="1500" dirty="0">
                <a:solidFill>
                  <a:srgbClr val="CADCFC"/>
                </a:solidFill>
              </a:rPr>
              <a:t>Caught the real issue: 4 vehicles logged hourly is 4 continuous time series, not unrelated rows</a:t>
            </a:r>
            <a:endParaRPr lang="en-US" sz="1500" dirty="0"/>
          </a:p>
          <a:p>
            <a:pPr marL="342900" indent="-342900">
              <a:spcAft>
                <a:spcPts val="800"/>
              </a:spcAft>
              <a:buSzPct val="100000"/>
              <a:buChar char="•"/>
            </a:pPr>
            <a:r>
              <a:rPr lang="en-US" sz="1500" dirty="0">
                <a:solidFill>
                  <a:srgbClr val="CADCFC"/>
                </a:solidFill>
              </a:rPr>
              <a:t>The dataset's own documentation confirms it was built for forecasting, not instant classification</a:t>
            </a:r>
            <a:endParaRPr lang="en-US" sz="1500" dirty="0"/>
          </a:p>
        </p:txBody>
      </p:sp>
      <p:graphicFrame>
        <p:nvGraphicFramePr>
          <p:cNvPr id="5" name="Chart 0"/>
          <p:cNvGraphicFramePr/>
          <p:nvPr/>
        </p:nvGraphicFramePr>
        <p:xfrm>
          <a:off x="822960" y="3200400"/>
          <a:ext cx="49377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3200400"/>
            <a:ext cx="5212080" cy="2743200"/>
          </a:xfrm>
          <a:prstGeom prst="roundRect">
            <a:avLst>
              <a:gd name="adj" fmla="val 2667"/>
            </a:avLst>
          </a:prstGeom>
          <a:solidFill>
            <a:srgbClr val="1E2761"/>
          </a:solidFill>
          <a:ln w="12700">
            <a:solidFill>
              <a:srgbClr val="1E2761"/>
            </a:solidFill>
            <a:prstDash val="solid"/>
          </a:ln>
        </p:spPr>
      </p:sp>
      <p:sp>
        <p:nvSpPr>
          <p:cNvPr id="7" name="Text 4"/>
          <p:cNvSpPr/>
          <p:nvPr/>
        </p:nvSpPr>
        <p:spPr>
          <a:xfrm>
            <a:off x="6446520" y="3383280"/>
            <a:ext cx="4572000" cy="457200"/>
          </a:xfrm>
          <a:prstGeom prst="rect">
            <a:avLst/>
          </a:prstGeom>
          <a:noFill/>
          <a:ln/>
        </p:spPr>
        <p:txBody>
          <a:bodyPr wrap="square" rtlCol="0" anchor="ctr"/>
          <a:lstStyle/>
          <a:p>
            <a:pPr marL="0" indent="0">
              <a:buNone/>
            </a:pPr>
            <a:r>
              <a:rPr lang="en-US" sz="1500" b="1" dirty="0">
                <a:solidFill>
                  <a:srgbClr val="FFFFFF"/>
                </a:solidFill>
              </a:rPr>
              <a:t>Fixed it properly, not around it</a:t>
            </a:r>
            <a:endParaRPr lang="en-US" sz="1500" dirty="0"/>
          </a:p>
        </p:txBody>
      </p:sp>
      <p:sp>
        <p:nvSpPr>
          <p:cNvPr id="8" name="Text 5"/>
          <p:cNvSpPr/>
          <p:nvPr/>
        </p:nvSpPr>
        <p:spPr>
          <a:xfrm>
            <a:off x="6446520" y="3840480"/>
            <a:ext cx="4572000" cy="1920240"/>
          </a:xfrm>
          <a:prstGeom prst="rect">
            <a:avLst/>
          </a:prstGeom>
          <a:noFill/>
          <a:ln/>
        </p:spPr>
        <p:txBody>
          <a:bodyPr wrap="square" rtlCol="0" anchor="ctr"/>
          <a:lstStyle/>
          <a:p>
            <a:pPr marL="342900" indent="-342900">
              <a:spcAft>
                <a:spcPts val="800"/>
              </a:spcAft>
              <a:buSzPct val="100000"/>
              <a:buChar char="•"/>
            </a:pPr>
            <a:r>
              <a:rPr lang="en-US" sz="1250" dirty="0">
                <a:solidFill>
                  <a:srgbClr val="CADCFC"/>
                </a:solidFill>
              </a:rPr>
              <a:t>Rebuilt with rolling/lag features + a forward-looking target</a:t>
            </a:r>
            <a:endParaRPr lang="en-US" sz="1250" dirty="0"/>
          </a:p>
          <a:p>
            <a:pPr marL="342900" indent="-342900">
              <a:spcAft>
                <a:spcPts val="800"/>
              </a:spcAft>
              <a:buSzPct val="100000"/>
              <a:buChar char="•"/>
            </a:pPr>
            <a:r>
              <a:rPr lang="en-US" sz="1250" dirty="0">
                <a:solidFill>
                  <a:srgbClr val="CADCFC"/>
                </a:solidFill>
              </a:rPr>
              <a:t>Score dropped to a real, honest ~0.60, expected for a genuinely hard forecasting task</a:t>
            </a:r>
            <a:endParaRPr lang="en-US" sz="1250" dirty="0"/>
          </a:p>
          <a:p>
            <a:pPr marL="342900" indent="-342900">
              <a:spcAft>
                <a:spcPts val="800"/>
              </a:spcAft>
              <a:buSzPct val="100000"/>
              <a:buChar char="•"/>
            </a:pPr>
            <a:r>
              <a:rPr lang="en-US" sz="1250" dirty="0">
                <a:solidFill>
                  <a:srgbClr val="CADCFC"/>
                </a:solidFill>
              </a:rPr>
              <a:t>Same dataset, same team, no timeline lost</a:t>
            </a:r>
            <a:endParaRPr lang="en-US" sz="1250" dirty="0"/>
          </a:p>
        </p:txBody>
      </p:sp>
      <p:sp>
        <p:nvSpPr>
          <p:cNvPr id="9" name="Text 6"/>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marL="0" indent="0">
              <a:buNone/>
            </a:pPr>
            <a:r>
              <a:rPr lang="en-US" sz="1200" b="1" kern="0" spc="100" dirty="0">
                <a:solidFill>
                  <a:srgbClr val="F2A93B"/>
                </a:solidFill>
              </a:rPr>
              <a:t>PROCESS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000" b="1" dirty="0">
                <a:solidFill>
                  <a:srgbClr val="161C4A"/>
                </a:solidFill>
                <a:latin typeface="Cambria" pitchFamily="34" charset="0"/>
                <a:ea typeface="Cambria" pitchFamily="34" charset="-122"/>
                <a:cs typeface="Cambria" pitchFamily="34" charset="-120"/>
              </a:rPr>
              <a:t>How we've been working</a:t>
            </a:r>
            <a:endParaRPr lang="en-US" sz="3000" dirty="0"/>
          </a:p>
        </p:txBody>
      </p:sp>
      <p:sp>
        <p:nvSpPr>
          <p:cNvPr id="4" name="Shape 2"/>
          <p:cNvSpPr/>
          <p:nvPr/>
        </p:nvSpPr>
        <p:spPr>
          <a:xfrm>
            <a:off x="548640" y="1828800"/>
            <a:ext cx="3520440" cy="3566160"/>
          </a:xfrm>
          <a:prstGeom prst="roundRect">
            <a:avLst>
              <a:gd name="adj" fmla="val 2078"/>
            </a:avLst>
          </a:prstGeom>
          <a:solidFill>
            <a:srgbClr val="FFFFFF"/>
          </a:solidFill>
          <a:ln w="12700">
            <a:solidFill>
              <a:srgbClr val="E4E8F0"/>
            </a:solidFill>
            <a:prstDash val="solid"/>
          </a:ln>
        </p:spPr>
      </p:sp>
      <p:sp>
        <p:nvSpPr>
          <p:cNvPr id="5" name="Text 3"/>
          <p:cNvSpPr/>
          <p:nvPr/>
        </p:nvSpPr>
        <p:spPr>
          <a:xfrm>
            <a:off x="822960" y="2103120"/>
            <a:ext cx="2971800" cy="822960"/>
          </a:xfrm>
          <a:prstGeom prst="rect">
            <a:avLst/>
          </a:prstGeom>
          <a:noFill/>
          <a:ln/>
        </p:spPr>
        <p:txBody>
          <a:bodyPr wrap="square" rtlCol="0" anchor="ctr"/>
          <a:lstStyle/>
          <a:p>
            <a:pPr marL="0" indent="0">
              <a:buNone/>
            </a:pPr>
            <a:r>
              <a:rPr lang="en-US" sz="1550" b="1" dirty="0">
                <a:solidFill>
                  <a:srgbClr val="161C4A"/>
                </a:solidFill>
              </a:rPr>
              <a:t>Every dataset earns its spot</a:t>
            </a:r>
            <a:endParaRPr lang="en-US" sz="1550" dirty="0"/>
          </a:p>
        </p:txBody>
      </p:sp>
      <p:sp>
        <p:nvSpPr>
          <p:cNvPr id="6" name="Text 4"/>
          <p:cNvSpPr/>
          <p:nvPr/>
        </p:nvSpPr>
        <p:spPr>
          <a:xfrm>
            <a:off x="822960" y="2926080"/>
            <a:ext cx="297180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5B6478"/>
                </a:solidFill>
              </a:rPr>
              <a:t>Original dataset vanished from Kaggle mid prep</a:t>
            </a:r>
            <a:endParaRPr lang="en-US" sz="1250" dirty="0"/>
          </a:p>
          <a:p>
            <a:pPr marL="342900" indent="-342900">
              <a:spcAft>
                <a:spcPts val="800"/>
              </a:spcAft>
              <a:buSzPct val="100000"/>
              <a:buChar char="•"/>
            </a:pPr>
            <a:r>
              <a:rPr lang="en-US" sz="1250" dirty="0">
                <a:solidFill>
                  <a:srgbClr val="5B6478"/>
                </a:solidFill>
              </a:rPr>
              <a:t>Every replacement candidate gets signal tested before we commit</a:t>
            </a:r>
            <a:endParaRPr lang="en-US" sz="1250" dirty="0"/>
          </a:p>
          <a:p>
            <a:pPr marL="342900" indent="-342900">
              <a:spcAft>
                <a:spcPts val="800"/>
              </a:spcAft>
              <a:buSzPct val="100000"/>
              <a:buChar char="•"/>
            </a:pPr>
            <a:r>
              <a:rPr lang="en-US" sz="1250" dirty="0">
                <a:solidFill>
                  <a:srgbClr val="5B6478"/>
                </a:solidFill>
              </a:rPr>
              <a:t>One lookalike candidate failed this test and was rejected</a:t>
            </a:r>
            <a:endParaRPr lang="en-US" sz="1250" dirty="0"/>
          </a:p>
        </p:txBody>
      </p:sp>
      <p:sp>
        <p:nvSpPr>
          <p:cNvPr id="7" name="Shape 5"/>
          <p:cNvSpPr/>
          <p:nvPr/>
        </p:nvSpPr>
        <p:spPr>
          <a:xfrm>
            <a:off x="4251960" y="1828800"/>
            <a:ext cx="3520440" cy="3566160"/>
          </a:xfrm>
          <a:prstGeom prst="roundRect">
            <a:avLst>
              <a:gd name="adj" fmla="val 2078"/>
            </a:avLst>
          </a:prstGeom>
          <a:solidFill>
            <a:srgbClr val="FFFFFF"/>
          </a:solidFill>
          <a:ln w="12700">
            <a:solidFill>
              <a:srgbClr val="E4E8F0"/>
            </a:solidFill>
            <a:prstDash val="solid"/>
          </a:ln>
        </p:spPr>
      </p:sp>
      <p:sp>
        <p:nvSpPr>
          <p:cNvPr id="8" name="Text 6"/>
          <p:cNvSpPr/>
          <p:nvPr/>
        </p:nvSpPr>
        <p:spPr>
          <a:xfrm>
            <a:off x="4526280" y="2103120"/>
            <a:ext cx="2971800" cy="822960"/>
          </a:xfrm>
          <a:prstGeom prst="rect">
            <a:avLst/>
          </a:prstGeom>
          <a:noFill/>
          <a:ln/>
        </p:spPr>
        <p:txBody>
          <a:bodyPr wrap="square" rtlCol="0" anchor="ctr"/>
          <a:lstStyle/>
          <a:p>
            <a:pPr marL="0" indent="0">
              <a:buNone/>
            </a:pPr>
            <a:r>
              <a:rPr lang="en-US" sz="1550" b="1" dirty="0">
                <a:solidFill>
                  <a:srgbClr val="161C4A"/>
                </a:solidFill>
              </a:rPr>
              <a:t>Leakage checked, not assumed</a:t>
            </a:r>
            <a:endParaRPr lang="en-US" sz="1550" dirty="0"/>
          </a:p>
        </p:txBody>
      </p:sp>
      <p:sp>
        <p:nvSpPr>
          <p:cNvPr id="9" name="Text 7"/>
          <p:cNvSpPr/>
          <p:nvPr/>
        </p:nvSpPr>
        <p:spPr>
          <a:xfrm>
            <a:off x="4526280" y="2926080"/>
            <a:ext cx="297180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5B6478"/>
                </a:solidFill>
              </a:rPr>
              <a:t>Chronological per vehicle splits</a:t>
            </a:r>
            <a:endParaRPr lang="en-US" sz="1250" dirty="0"/>
          </a:p>
          <a:p>
            <a:pPr marL="342900" indent="-342900">
              <a:spcAft>
                <a:spcPts val="800"/>
              </a:spcAft>
              <a:buSzPct val="100000"/>
              <a:buChar char="•"/>
            </a:pPr>
            <a:r>
              <a:rPr lang="en-US" sz="1250" dirty="0">
                <a:solidFill>
                  <a:srgbClr val="5B6478"/>
                </a:solidFill>
              </a:rPr>
              <a:t>Feature derivation checks</a:t>
            </a:r>
            <a:endParaRPr lang="en-US" sz="1250" dirty="0"/>
          </a:p>
          <a:p>
            <a:pPr marL="342900" indent="-342900">
              <a:spcAft>
                <a:spcPts val="800"/>
              </a:spcAft>
              <a:buSzPct val="100000"/>
              <a:buChar char="•"/>
            </a:pPr>
            <a:r>
              <a:rPr lang="en-US" sz="1250" dirty="0">
                <a:solidFill>
                  <a:srgbClr val="5B6478"/>
                </a:solidFill>
              </a:rPr>
              <a:t>No resampling before splitting</a:t>
            </a:r>
            <a:endParaRPr lang="en-US" sz="1250" dirty="0"/>
          </a:p>
        </p:txBody>
      </p:sp>
      <p:sp>
        <p:nvSpPr>
          <p:cNvPr id="10" name="Shape 8"/>
          <p:cNvSpPr/>
          <p:nvPr/>
        </p:nvSpPr>
        <p:spPr>
          <a:xfrm>
            <a:off x="7955280" y="1828800"/>
            <a:ext cx="3520440" cy="3566160"/>
          </a:xfrm>
          <a:prstGeom prst="roundRect">
            <a:avLst>
              <a:gd name="adj" fmla="val 2078"/>
            </a:avLst>
          </a:prstGeom>
          <a:solidFill>
            <a:srgbClr val="FFFFFF"/>
          </a:solidFill>
          <a:ln w="12700">
            <a:solidFill>
              <a:srgbClr val="E4E8F0"/>
            </a:solidFill>
            <a:prstDash val="solid"/>
          </a:ln>
        </p:spPr>
      </p:sp>
      <p:sp>
        <p:nvSpPr>
          <p:cNvPr id="11" name="Text 9"/>
          <p:cNvSpPr/>
          <p:nvPr/>
        </p:nvSpPr>
        <p:spPr>
          <a:xfrm>
            <a:off x="8229600" y="2103120"/>
            <a:ext cx="2971800" cy="822960"/>
          </a:xfrm>
          <a:prstGeom prst="rect">
            <a:avLst/>
          </a:prstGeom>
          <a:noFill/>
          <a:ln/>
        </p:spPr>
        <p:txBody>
          <a:bodyPr wrap="square" rtlCol="0" anchor="ctr"/>
          <a:lstStyle/>
          <a:p>
            <a:pPr marL="0" indent="0">
              <a:buNone/>
            </a:pPr>
            <a:r>
              <a:rPr lang="en-US" sz="1550" b="1" dirty="0">
                <a:solidFill>
                  <a:srgbClr val="161C4A"/>
                </a:solidFill>
              </a:rPr>
              <a:t>Hypotheses get tested, not just stated</a:t>
            </a:r>
            <a:endParaRPr lang="en-US" sz="1550" dirty="0"/>
          </a:p>
        </p:txBody>
      </p:sp>
      <p:sp>
        <p:nvSpPr>
          <p:cNvPr id="12" name="Text 10"/>
          <p:cNvSpPr/>
          <p:nvPr/>
        </p:nvSpPr>
        <p:spPr>
          <a:xfrm>
            <a:off x="8229600" y="2926080"/>
            <a:ext cx="297180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5B6478"/>
                </a:solidFill>
              </a:rPr>
              <a:t>Suspected two features were a fake vehicle-identity signal</a:t>
            </a:r>
            <a:endParaRPr lang="en-US" sz="1250" dirty="0"/>
          </a:p>
          <a:p>
            <a:pPr marL="342900" indent="-342900">
              <a:spcAft>
                <a:spcPts val="800"/>
              </a:spcAft>
              <a:buSzPct val="100000"/>
              <a:buChar char="•"/>
            </a:pPr>
            <a:r>
              <a:rPr lang="en-US" sz="1250" dirty="0">
                <a:solidFill>
                  <a:srgbClr val="5B6478"/>
                </a:solidFill>
              </a:rPr>
              <a:t>Tested directly with permutation importance</a:t>
            </a:r>
            <a:endParaRPr lang="en-US" sz="1250" dirty="0"/>
          </a:p>
          <a:p>
            <a:pPr marL="342900" indent="-342900">
              <a:spcAft>
                <a:spcPts val="800"/>
              </a:spcAft>
              <a:buSzPct val="100000"/>
              <a:buChar char="•"/>
            </a:pPr>
            <a:r>
              <a:rPr lang="en-US" sz="1250" dirty="0">
                <a:solidFill>
                  <a:srgbClr val="5B6478"/>
                </a:solidFill>
              </a:rPr>
              <a:t>Found we were wrong, and said so</a:t>
            </a:r>
            <a:endParaRPr lang="en-US" sz="1250" dirty="0"/>
          </a:p>
        </p:txBody>
      </p:sp>
      <p:sp>
        <p:nvSpPr>
          <p:cNvPr id="13" name="Text 11"/>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365760"/>
          </a:xfrm>
          <a:prstGeom prst="rect">
            <a:avLst/>
          </a:prstGeom>
          <a:noFill/>
          <a:ln/>
        </p:spPr>
        <p:txBody>
          <a:bodyPr wrap="square" rtlCol="0" anchor="ctr"/>
          <a:lstStyle/>
          <a:p>
            <a:pPr marL="0" indent="0">
              <a:buNone/>
            </a:pPr>
            <a:r>
              <a:rPr lang="en-US" sz="1300" b="1" kern="0" spc="200" dirty="0">
                <a:solidFill>
                  <a:srgbClr val="F2A93B"/>
                </a:solidFill>
              </a:rPr>
              <a:t>TEAM &amp; RESOURCES</a:t>
            </a:r>
            <a:endParaRPr lang="en-US" sz="1300" dirty="0"/>
          </a:p>
        </p:txBody>
      </p:sp>
      <p:sp>
        <p:nvSpPr>
          <p:cNvPr id="3" name="Text 1"/>
          <p:cNvSpPr/>
          <p:nvPr/>
        </p:nvSpPr>
        <p:spPr>
          <a:xfrm>
            <a:off x="822960" y="1051560"/>
            <a:ext cx="10515600" cy="7315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Thanks, happy to take questions</a:t>
            </a:r>
            <a:endParaRPr lang="en-US" sz="2600" dirty="0"/>
          </a:p>
        </p:txBody>
      </p:sp>
      <p:sp>
        <p:nvSpPr>
          <p:cNvPr id="4" name="Shape 2"/>
          <p:cNvSpPr/>
          <p:nvPr/>
        </p:nvSpPr>
        <p:spPr>
          <a:xfrm>
            <a:off x="822960" y="2194560"/>
            <a:ext cx="164592" cy="164592"/>
          </a:xfrm>
          <a:prstGeom prst="roundRect">
            <a:avLst>
              <a:gd name="adj" fmla="val 16667"/>
            </a:avLst>
          </a:prstGeom>
          <a:solidFill>
            <a:srgbClr val="F2A93B"/>
          </a:solidFill>
          <a:ln w="12700">
            <a:solidFill>
              <a:srgbClr val="F2A93B"/>
            </a:solidFill>
            <a:prstDash val="solid"/>
          </a:ln>
        </p:spPr>
      </p:sp>
      <p:sp>
        <p:nvSpPr>
          <p:cNvPr id="5" name="Text 3"/>
          <p:cNvSpPr/>
          <p:nvPr/>
        </p:nvSpPr>
        <p:spPr>
          <a:xfrm>
            <a:off x="1234440" y="2075688"/>
            <a:ext cx="9875520" cy="457200"/>
          </a:xfrm>
          <a:prstGeom prst="rect">
            <a:avLst/>
          </a:prstGeom>
          <a:noFill/>
          <a:ln/>
        </p:spPr>
        <p:txBody>
          <a:bodyPr wrap="square" rtlCol="0" anchor="ctr"/>
          <a:lstStyle/>
          <a:p>
            <a:pPr marL="0" indent="0">
              <a:buNone/>
            </a:pPr>
            <a:r>
              <a:rPr lang="en-US" sz="1500" dirty="0">
                <a:solidFill>
                  <a:srgbClr val="CADCFC"/>
                </a:solidFill>
              </a:rPr>
              <a:t>Team: NodePair, Harsha (classifier/data), Ghada (RAG/agent), Hüseyin (frontend/deployment)</a:t>
            </a:r>
            <a:endParaRPr lang="en-US" sz="1500" dirty="0"/>
          </a:p>
        </p:txBody>
      </p:sp>
      <p:sp>
        <p:nvSpPr>
          <p:cNvPr id="6" name="Shape 4"/>
          <p:cNvSpPr/>
          <p:nvPr/>
        </p:nvSpPr>
        <p:spPr>
          <a:xfrm>
            <a:off x="822960" y="2834640"/>
            <a:ext cx="164592" cy="164592"/>
          </a:xfrm>
          <a:prstGeom prst="roundRect">
            <a:avLst>
              <a:gd name="adj" fmla="val 16667"/>
            </a:avLst>
          </a:prstGeom>
          <a:solidFill>
            <a:srgbClr val="F2A93B"/>
          </a:solidFill>
          <a:ln w="12700">
            <a:solidFill>
              <a:srgbClr val="F2A93B"/>
            </a:solidFill>
            <a:prstDash val="solid"/>
          </a:ln>
        </p:spPr>
      </p:sp>
      <p:sp>
        <p:nvSpPr>
          <p:cNvPr id="7" name="Text 5"/>
          <p:cNvSpPr/>
          <p:nvPr/>
        </p:nvSpPr>
        <p:spPr>
          <a:xfrm>
            <a:off x="1234440" y="2715768"/>
            <a:ext cx="9875520" cy="457200"/>
          </a:xfrm>
          <a:prstGeom prst="rect">
            <a:avLst/>
          </a:prstGeom>
          <a:noFill/>
          <a:ln/>
        </p:spPr>
        <p:txBody>
          <a:bodyPr wrap="square" rtlCol="0" anchor="ctr"/>
          <a:lstStyle/>
          <a:p>
            <a:pPr marL="0" indent="0">
              <a:buNone/>
            </a:pPr>
            <a:r>
              <a:rPr lang="en-US" sz="1500" dirty="0">
                <a:solidFill>
                  <a:srgbClr val="CADCFC"/>
                </a:solidFill>
              </a:rPr>
              <a:t>Repo: github.com/harshavardhanratnala-hvr/agentic-ai-vehicle-fault-diagnosis-and-repair-copilot</a:t>
            </a:r>
            <a:endParaRPr lang="en-US" sz="1500" dirty="0"/>
          </a:p>
        </p:txBody>
      </p:sp>
      <p:sp>
        <p:nvSpPr>
          <p:cNvPr id="8" name="Shape 6"/>
          <p:cNvSpPr/>
          <p:nvPr/>
        </p:nvSpPr>
        <p:spPr>
          <a:xfrm>
            <a:off x="822960" y="3474720"/>
            <a:ext cx="164592" cy="164592"/>
          </a:xfrm>
          <a:prstGeom prst="roundRect">
            <a:avLst>
              <a:gd name="adj" fmla="val 16667"/>
            </a:avLst>
          </a:prstGeom>
          <a:solidFill>
            <a:srgbClr val="F2A93B"/>
          </a:solidFill>
          <a:ln w="12700">
            <a:solidFill>
              <a:srgbClr val="F2A93B"/>
            </a:solidFill>
            <a:prstDash val="solid"/>
          </a:ln>
        </p:spPr>
      </p:sp>
      <p:sp>
        <p:nvSpPr>
          <p:cNvPr id="9" name="Text 7"/>
          <p:cNvSpPr/>
          <p:nvPr/>
        </p:nvSpPr>
        <p:spPr>
          <a:xfrm>
            <a:off x="1234440" y="3355848"/>
            <a:ext cx="9875520" cy="457200"/>
          </a:xfrm>
          <a:prstGeom prst="rect">
            <a:avLst/>
          </a:prstGeom>
          <a:noFill/>
          <a:ln/>
        </p:spPr>
        <p:txBody>
          <a:bodyPr wrap="square" rtlCol="0" anchor="ctr"/>
          <a:lstStyle/>
          <a:p>
            <a:pPr marL="0" indent="0">
              <a:buNone/>
            </a:pPr>
            <a:r>
              <a:rPr lang="en-US" sz="1500" dirty="0">
                <a:solidFill>
                  <a:srgbClr val="CADCFC"/>
                </a:solidFill>
              </a:rPr>
              <a:t>Board: GitHub Projects, 4 milestones (one per week), ~28 issues</a:t>
            </a:r>
            <a:endParaRPr lang="en-US" sz="1500" dirty="0"/>
          </a:p>
        </p:txBody>
      </p:sp>
      <p:sp>
        <p:nvSpPr>
          <p:cNvPr id="10" name="Shape 8"/>
          <p:cNvSpPr/>
          <p:nvPr/>
        </p:nvSpPr>
        <p:spPr>
          <a:xfrm>
            <a:off x="822960" y="4114800"/>
            <a:ext cx="164592" cy="164592"/>
          </a:xfrm>
          <a:prstGeom prst="roundRect">
            <a:avLst>
              <a:gd name="adj" fmla="val 16667"/>
            </a:avLst>
          </a:prstGeom>
          <a:solidFill>
            <a:srgbClr val="F2A93B"/>
          </a:solidFill>
          <a:ln w="12700">
            <a:solidFill>
              <a:srgbClr val="F2A93B"/>
            </a:solidFill>
            <a:prstDash val="solid"/>
          </a:ln>
        </p:spPr>
      </p:sp>
      <p:sp>
        <p:nvSpPr>
          <p:cNvPr id="11" name="Text 9"/>
          <p:cNvSpPr/>
          <p:nvPr/>
        </p:nvSpPr>
        <p:spPr>
          <a:xfrm>
            <a:off x="1234440" y="3995928"/>
            <a:ext cx="9875520" cy="457200"/>
          </a:xfrm>
          <a:prstGeom prst="rect">
            <a:avLst/>
          </a:prstGeom>
          <a:noFill/>
          <a:ln/>
        </p:spPr>
        <p:txBody>
          <a:bodyPr wrap="square" rtlCol="0" anchor="ctr"/>
          <a:lstStyle/>
          <a:p>
            <a:pPr marL="0" indent="0">
              <a:buNone/>
            </a:pPr>
            <a:r>
              <a:rPr lang="en-US" sz="1500" dirty="0">
                <a:solidFill>
                  <a:srgbClr val="CADCFC"/>
                </a:solidFill>
              </a:rPr>
              <a:t>Docs: Capstone_Project_Plan.md (source of truth), Pitch_and_Explainer.md (full FAQ)</a:t>
            </a:r>
            <a:endParaRPr lang="en-US" sz="1500" dirty="0"/>
          </a:p>
        </p:txBody>
      </p:sp>
      <p:sp>
        <p:nvSpPr>
          <p:cNvPr id="12" name="Text 10"/>
          <p:cNvSpPr/>
          <p:nvPr/>
        </p:nvSpPr>
        <p:spPr>
          <a:xfrm>
            <a:off x="11475720" y="6446520"/>
            <a:ext cx="457200" cy="274320"/>
          </a:xfrm>
          <a:prstGeom prst="rect">
            <a:avLst/>
          </a:prstGeom>
          <a:noFill/>
          <a:ln/>
        </p:spPr>
        <p:txBody>
          <a:bodyPr wrap="square" rtlCol="0" anchor="ctr"/>
          <a:lstStyle/>
          <a:p>
            <a:pPr marL="0" indent="0" algn="r">
              <a:buNone/>
            </a:pPr>
            <a:r>
              <a:rPr lang="en-US" sz="1000" dirty="0">
                <a:solidFill>
                  <a:srgbClr val="5B6478"/>
                </a:solidFill>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1452</Words>
  <Application>Microsoft Office PowerPoint</Application>
  <PresentationFormat>Widescreen</PresentationFormat>
  <Paragraphs>131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Harsha, Ghada &amp; Hüseyin</dc:creator>
  <cp:lastModifiedBy>Harsha Vardhan</cp:lastModifiedBy>
  <cp:revision>2</cp:revision>
  <dcterms:created xsi:type="dcterms:W3CDTF">2026-07-28T14:54:12Z</dcterms:created>
  <dcterms:modified xsi:type="dcterms:W3CDTF">2026-07-29T11:58:40Z</dcterms:modified>
</cp:coreProperties>
</file>